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5"/>
  </p:notesMasterIdLst>
  <p:handoutMasterIdLst>
    <p:handoutMasterId r:id="rId36"/>
  </p:handoutMasterIdLst>
  <p:sldIdLst>
    <p:sldId id="312" r:id="rId5"/>
    <p:sldId id="304" r:id="rId6"/>
    <p:sldId id="307" r:id="rId7"/>
    <p:sldId id="281" r:id="rId8"/>
    <p:sldId id="282" r:id="rId9"/>
    <p:sldId id="314" r:id="rId10"/>
    <p:sldId id="315" r:id="rId11"/>
    <p:sldId id="317" r:id="rId12"/>
    <p:sldId id="318" r:id="rId13"/>
    <p:sldId id="319" r:id="rId14"/>
    <p:sldId id="321" r:id="rId15"/>
    <p:sldId id="322" r:id="rId16"/>
    <p:sldId id="323" r:id="rId17"/>
    <p:sldId id="324" r:id="rId18"/>
    <p:sldId id="325" r:id="rId19"/>
    <p:sldId id="326" r:id="rId20"/>
    <p:sldId id="327" r:id="rId21"/>
    <p:sldId id="328" r:id="rId22"/>
    <p:sldId id="330" r:id="rId23"/>
    <p:sldId id="329" r:id="rId24"/>
    <p:sldId id="331" r:id="rId25"/>
    <p:sldId id="332" r:id="rId26"/>
    <p:sldId id="333" r:id="rId27"/>
    <p:sldId id="334" r:id="rId28"/>
    <p:sldId id="335" r:id="rId29"/>
    <p:sldId id="336" r:id="rId30"/>
    <p:sldId id="337" r:id="rId31"/>
    <p:sldId id="339" r:id="rId32"/>
    <p:sldId id="338" r:id="rId33"/>
    <p:sldId id="297" r:id="rId3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105" d="100"/>
          <a:sy n="105" d="100"/>
        </p:scale>
        <p:origin x="834" y="150"/>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9" y="100585"/>
            <a:ext cx="6392421" cy="4983480"/>
          </a:xfrm>
        </p:spPr>
        <p:txBody>
          <a:bodyPr anchor="ctr"/>
          <a:lstStyle/>
          <a:p>
            <a:r>
              <a:rPr lang="el-GR" sz="2000" dirty="0">
                <a:solidFill>
                  <a:schemeClr val="tx1">
                    <a:lumMod val="75000"/>
                    <a:lumOff val="25000"/>
                  </a:schemeClr>
                </a:solidFill>
              </a:rPr>
              <a:t>ΚαθοδηγοΥμενη απο ΤεκμΗρια ΕπΕκταση ΕρωτημΑτων για ΜεΙωση ΠαραισθΗσεων σε ΣυστΗματα ΕρωταπαντΗσεων με ΜεγΑλα ΓλωσσικΑ ΜοντΕλα</a:t>
            </a:r>
            <a:br>
              <a:rPr lang="el-GR" sz="2000" dirty="0">
                <a:solidFill>
                  <a:schemeClr val="tx1">
                    <a:lumMod val="75000"/>
                    <a:lumOff val="25000"/>
                  </a:schemeClr>
                </a:solidFill>
              </a:rPr>
            </a:br>
            <a:br>
              <a:rPr lang="el-GR" sz="2000" dirty="0">
                <a:solidFill>
                  <a:schemeClr val="tx1">
                    <a:lumMod val="75000"/>
                    <a:lumOff val="25000"/>
                  </a:schemeClr>
                </a:solidFill>
              </a:rPr>
            </a:br>
            <a:br>
              <a:rPr lang="el-GR" sz="2000" dirty="0">
                <a:solidFill>
                  <a:schemeClr val="tx1">
                    <a:lumMod val="75000"/>
                    <a:lumOff val="25000"/>
                  </a:schemeClr>
                </a:solidFill>
              </a:rPr>
            </a:br>
            <a:br>
              <a:rPr lang="el-GR" sz="2000" dirty="0">
                <a:solidFill>
                  <a:schemeClr val="tx1">
                    <a:lumMod val="75000"/>
                    <a:lumOff val="25000"/>
                  </a:schemeClr>
                </a:solidFill>
              </a:rPr>
            </a:br>
            <a:r>
              <a:rPr lang="el-GR" sz="2000" dirty="0">
                <a:solidFill>
                  <a:schemeClr val="tx1">
                    <a:lumMod val="75000"/>
                    <a:lumOff val="25000"/>
                  </a:schemeClr>
                </a:solidFill>
              </a:rPr>
              <a:t>ΒΑΜΒΑΚΑΣ ΔΗΜΗΤΡΙΟΣ </a:t>
            </a:r>
            <a:br>
              <a:rPr lang="el-GR" sz="2000" dirty="0">
                <a:solidFill>
                  <a:schemeClr val="tx1">
                    <a:lumMod val="75000"/>
                    <a:lumOff val="25000"/>
                  </a:schemeClr>
                </a:solidFill>
              </a:rPr>
            </a:br>
            <a:r>
              <a:rPr lang="el-GR" sz="2000" dirty="0">
                <a:solidFill>
                  <a:schemeClr val="tx1">
                    <a:lumMod val="75000"/>
                    <a:lumOff val="25000"/>
                  </a:schemeClr>
                </a:solidFill>
              </a:rPr>
              <a:t>Αριθμοσ μητρωου: 1084635</a:t>
            </a:r>
            <a:br>
              <a:rPr lang="el-GR" sz="2000" dirty="0">
                <a:solidFill>
                  <a:schemeClr val="tx1">
                    <a:lumMod val="75000"/>
                    <a:lumOff val="25000"/>
                  </a:schemeClr>
                </a:solidFill>
              </a:rPr>
            </a:br>
            <a:r>
              <a:rPr lang="el-GR" sz="2000" dirty="0">
                <a:solidFill>
                  <a:schemeClr val="tx1">
                    <a:lumMod val="75000"/>
                    <a:lumOff val="25000"/>
                  </a:schemeClr>
                </a:solidFill>
              </a:rPr>
              <a:t>ΕΠΙΒΛΕΠΩΝ ΚΑΘΗΓΗΤΗΣ: Χ. ΜΑΚΡΗΣ</a:t>
            </a:r>
            <a:br>
              <a:rPr lang="el-GR" sz="2000" dirty="0">
                <a:solidFill>
                  <a:schemeClr val="tx1">
                    <a:lumMod val="75000"/>
                    <a:lumOff val="25000"/>
                  </a:schemeClr>
                </a:solidFill>
              </a:rPr>
            </a:br>
            <a:r>
              <a:rPr lang="el-GR" sz="2000" dirty="0">
                <a:solidFill>
                  <a:schemeClr val="tx1">
                    <a:lumMod val="75000"/>
                    <a:lumOff val="25000"/>
                  </a:schemeClr>
                </a:solidFill>
              </a:rPr>
              <a:t>νοεμβριοσ 2025</a:t>
            </a:r>
            <a:br>
              <a:rPr lang="el-GR" sz="2000" dirty="0"/>
            </a:br>
            <a:endParaRPr lang="en-US" sz="2000" dirty="0"/>
          </a:p>
        </p:txBody>
      </p:sp>
      <p:pic>
        <p:nvPicPr>
          <p:cNvPr id="3" name="Picture 2">
            <a:extLst>
              <a:ext uri="{FF2B5EF4-FFF2-40B4-BE49-F238E27FC236}">
                <a16:creationId xmlns:a16="http://schemas.microsoft.com/office/drawing/2014/main" id="{83384036-2495-7006-299D-3E82DC6CF753}"/>
              </a:ext>
            </a:extLst>
          </p:cNvPr>
          <p:cNvPicPr>
            <a:picLocks noChangeAspect="1"/>
          </p:cNvPicPr>
          <p:nvPr/>
        </p:nvPicPr>
        <p:blipFill>
          <a:blip r:embed="rId3"/>
          <a:stretch>
            <a:fillRect/>
          </a:stretch>
        </p:blipFill>
        <p:spPr>
          <a:xfrm>
            <a:off x="2602992" y="4434840"/>
            <a:ext cx="2249424" cy="2249424"/>
          </a:xfrm>
          <a:prstGeom prst="rect">
            <a:avLst/>
          </a:prstGeom>
        </p:spPr>
      </p:pic>
      <p:pic>
        <p:nvPicPr>
          <p:cNvPr id="4" name="Picture 3">
            <a:extLst>
              <a:ext uri="{FF2B5EF4-FFF2-40B4-BE49-F238E27FC236}">
                <a16:creationId xmlns:a16="http://schemas.microsoft.com/office/drawing/2014/main" id="{00FDFEA5-5A9D-D6FF-D343-D1791AFBC107}"/>
              </a:ext>
            </a:extLst>
          </p:cNvPr>
          <p:cNvPicPr>
            <a:picLocks noChangeAspect="1"/>
          </p:cNvPicPr>
          <p:nvPr/>
        </p:nvPicPr>
        <p:blipFill>
          <a:blip r:embed="rId4"/>
          <a:stretch>
            <a:fillRect/>
          </a:stretch>
        </p:blipFill>
        <p:spPr>
          <a:xfrm>
            <a:off x="7483698" y="5160344"/>
            <a:ext cx="2727102" cy="963008"/>
          </a:xfrm>
          <a:prstGeom prst="rect">
            <a:avLst/>
          </a:prstGeom>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pPr marL="342900" indent="-342900">
              <a:buFont typeface="Wingdings" panose="05000000000000000000" pitchFamily="2" charset="2"/>
              <a:buChar char="ü"/>
            </a:pPr>
            <a:r>
              <a:rPr lang="el-GR" dirty="0">
                <a:solidFill>
                  <a:schemeClr val="tx1">
                    <a:lumMod val="75000"/>
                    <a:lumOff val="25000"/>
                  </a:schemeClr>
                </a:solidFill>
              </a:rPr>
              <a:t>Εισαγωγή</a:t>
            </a:r>
            <a:endParaRPr lang="en-US" dirty="0">
              <a:solidFill>
                <a:schemeClr val="tx1">
                  <a:lumMod val="75000"/>
                  <a:lumOff val="25000"/>
                </a:schemeClr>
              </a:solidFill>
            </a:endParaRPr>
          </a:p>
          <a:p>
            <a:pPr marL="342900" indent="-342900">
              <a:buFont typeface="Wingdings" panose="05000000000000000000" pitchFamily="2" charset="2"/>
              <a:buChar char="ü"/>
            </a:pPr>
            <a:r>
              <a:rPr lang="el-GR" dirty="0">
                <a:solidFill>
                  <a:schemeClr val="tx1">
                    <a:lumMod val="75000"/>
                    <a:lumOff val="25000"/>
                  </a:schemeClr>
                </a:solidFill>
              </a:rPr>
              <a:t>Θεωρητικό υπόβαθρο</a:t>
            </a:r>
            <a:endParaRPr lang="en-US" dirty="0">
              <a:solidFill>
                <a:schemeClr val="tx1">
                  <a:lumMod val="75000"/>
                  <a:lumOff val="25000"/>
                </a:schemeClr>
              </a:solidFill>
            </a:endParaRPr>
          </a:p>
          <a:p>
            <a:pPr marL="342900" indent="-342900">
              <a:buFont typeface="Wingdings" panose="05000000000000000000" pitchFamily="2" charset="2"/>
              <a:buChar char="ü"/>
            </a:pPr>
            <a:r>
              <a:rPr lang="el-GR" dirty="0">
                <a:solidFill>
                  <a:schemeClr val="tx1">
                    <a:lumMod val="75000"/>
                    <a:lumOff val="25000"/>
                  </a:schemeClr>
                </a:solidFill>
              </a:rPr>
              <a:t>Στάδια Υλοποίησης</a:t>
            </a:r>
            <a:endParaRPr lang="en-US" dirty="0">
              <a:solidFill>
                <a:schemeClr val="tx1">
                  <a:lumMod val="75000"/>
                  <a:lumOff val="25000"/>
                </a:schemeClr>
              </a:solidFill>
            </a:endParaRPr>
          </a:p>
          <a:p>
            <a:pPr marL="342900" indent="-342900">
              <a:buFont typeface="Wingdings" panose="05000000000000000000" pitchFamily="2" charset="2"/>
              <a:buChar char="ü"/>
            </a:pPr>
            <a:r>
              <a:rPr lang="el-GR" dirty="0">
                <a:solidFill>
                  <a:schemeClr val="tx1">
                    <a:lumMod val="75000"/>
                    <a:lumOff val="25000"/>
                  </a:schemeClr>
                </a:solidFill>
              </a:rPr>
              <a:t>Αξιολόγηση</a:t>
            </a:r>
            <a:endParaRPr lang="en-US" dirty="0">
              <a:solidFill>
                <a:schemeClr val="tx1">
                  <a:lumMod val="75000"/>
                  <a:lumOff val="25000"/>
                </a:schemeClr>
              </a:solidFill>
            </a:endParaRPr>
          </a:p>
          <a:p>
            <a:pPr marL="342900" indent="-342900">
              <a:buFont typeface="Wingdings" panose="05000000000000000000" pitchFamily="2" charset="2"/>
              <a:buChar char="ü"/>
            </a:pPr>
            <a:r>
              <a:rPr lang="el-GR" dirty="0">
                <a:solidFill>
                  <a:schemeClr val="tx1">
                    <a:lumMod val="75000"/>
                    <a:lumOff val="25000"/>
                  </a:schemeClr>
                </a:solidFill>
              </a:rPr>
              <a:t>Συμπεράσματα &amp; Επίλογος</a:t>
            </a:r>
            <a:endParaRPr lang="en-US" dirty="0">
              <a:solidFill>
                <a:schemeClr val="tx1">
                  <a:lumMod val="75000"/>
                  <a:lumOff val="25000"/>
                </a:schemeClr>
              </a:solidFill>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81276"/>
            <a:ext cx="4242816" cy="1531357"/>
          </a:xfrm>
        </p:spPr>
        <p:txBody>
          <a:bodyPr/>
          <a:lstStyle/>
          <a:p>
            <a:pPr algn="ctr"/>
            <a:r>
              <a:rPr lang="el-GR" dirty="0">
                <a:solidFill>
                  <a:schemeClr val="tx1">
                    <a:lumMod val="75000"/>
                    <a:lumOff val="25000"/>
                  </a:schemeClr>
                </a:solidFill>
              </a:rPr>
              <a:t>ενοτητεσ παρουσιασησ</a:t>
            </a:r>
            <a:endParaRPr lang="en-US" dirty="0">
              <a:solidFill>
                <a:schemeClr val="tx1">
                  <a:lumMod val="75000"/>
                  <a:lumOff val="25000"/>
                </a:schemeClr>
              </a:solidFill>
            </a:endParaRPr>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362515" y="146304"/>
            <a:ext cx="4028371" cy="640080"/>
          </a:xfrm>
        </p:spPr>
        <p:txBody>
          <a:bodyPr/>
          <a:lstStyle/>
          <a:p>
            <a:r>
              <a:rPr lang="el-GR" dirty="0">
                <a:solidFill>
                  <a:schemeClr val="tx1">
                    <a:lumMod val="85000"/>
                    <a:lumOff val="15000"/>
                  </a:schemeClr>
                </a:solidFill>
              </a:rPr>
              <a:t>ΤΟ ΠΡΟΒΛΗΜΑ</a:t>
            </a:r>
            <a:endParaRPr lang="en-US" dirty="0">
              <a:solidFill>
                <a:schemeClr val="tx1">
                  <a:lumMod val="85000"/>
                  <a:lumOff val="15000"/>
                </a:schemeClr>
              </a:solidFill>
            </a:endParaRPr>
          </a:p>
        </p:txBody>
      </p:sp>
      <p:sp>
        <p:nvSpPr>
          <p:cNvPr id="5" name="Content Placeholder 4">
            <a:extLst>
              <a:ext uri="{FF2B5EF4-FFF2-40B4-BE49-F238E27FC236}">
                <a16:creationId xmlns:a16="http://schemas.microsoft.com/office/drawing/2014/main" id="{13068C70-3E04-A881-483B-87FE45155B24}"/>
              </a:ext>
            </a:extLst>
          </p:cNvPr>
          <p:cNvSpPr>
            <a:spLocks noGrp="1"/>
          </p:cNvSpPr>
          <p:nvPr>
            <p:ph sz="half" idx="2"/>
          </p:nvPr>
        </p:nvSpPr>
        <p:spPr>
          <a:xfrm>
            <a:off x="2646748" y="841248"/>
            <a:ext cx="9459907" cy="5907024"/>
          </a:xfrm>
        </p:spPr>
        <p:txBody>
          <a:bodyPr>
            <a:normAutofit/>
          </a:bodyPr>
          <a:lstStyle/>
          <a:p>
            <a:r>
              <a:rPr lang="el-GR" sz="1400" dirty="0">
                <a:solidFill>
                  <a:schemeClr val="tx1">
                    <a:lumMod val="85000"/>
                    <a:lumOff val="15000"/>
                  </a:schemeClr>
                </a:solidFill>
              </a:rPr>
              <a:t>Τα Μεγάλα Γλωσσικά Μοντέλα, παρότι έχουν εντυπωσιακές δυνατότητές και χρησιμοποιούνται ευρέως στις μέρες μας, συχνά «φαντάζονται» πληροφορίες είτε συμπληρώνοντας κενά είτε παράγοντας ανακρίβειες. Το φαινόμενο των παραισθήσεων είναι απο τις βασικότερες προκλήσεις στον χώρο των LLMs. Οι παραισθήσεις αυτές μπορούν να λάβουν πολλές μορφές: απλές ανακρίβειες ή παρερμηνείες, είτε παραπληροφόρηση, είτε επινοημένα γεγονότα.</a:t>
            </a:r>
          </a:p>
          <a:p>
            <a:r>
              <a:rPr lang="el-GR" sz="1400" dirty="0">
                <a:solidFill>
                  <a:schemeClr val="tx1">
                    <a:lumMod val="85000"/>
                    <a:lumOff val="15000"/>
                  </a:schemeClr>
                </a:solidFill>
              </a:rPr>
              <a:t> Τα hallucinations μπορούν να προκληθούν για αρκετούς λόγους</a:t>
            </a:r>
            <a:r>
              <a:rPr lang="en-US" sz="1400" dirty="0">
                <a:solidFill>
                  <a:schemeClr val="tx1">
                    <a:lumMod val="85000"/>
                    <a:lumOff val="15000"/>
                  </a:schemeClr>
                </a:solidFill>
              </a:rPr>
              <a:t>:</a:t>
            </a:r>
            <a:endParaRPr lang="el-GR" sz="1400" dirty="0">
              <a:solidFill>
                <a:schemeClr val="tx1">
                  <a:lumMod val="85000"/>
                  <a:lumOff val="15000"/>
                </a:schemeClr>
              </a:solidFill>
            </a:endParaRPr>
          </a:p>
          <a:p>
            <a:pPr marL="681228" lvl="1" indent="-342900">
              <a:buFont typeface="+mj-lt"/>
              <a:buAutoNum type="arabicPeriod"/>
            </a:pPr>
            <a:r>
              <a:rPr lang="el-GR" sz="1400" b="1" dirty="0">
                <a:solidFill>
                  <a:schemeClr val="tx1">
                    <a:lumMod val="85000"/>
                    <a:lumOff val="15000"/>
                  </a:schemeClr>
                </a:solidFill>
              </a:rPr>
              <a:t>Στατιστική Φύση </a:t>
            </a:r>
            <a:r>
              <a:rPr lang="en-US" sz="1400" b="1" dirty="0">
                <a:solidFill>
                  <a:schemeClr val="tx1">
                    <a:lumMod val="85000"/>
                    <a:lumOff val="15000"/>
                  </a:schemeClr>
                </a:solidFill>
              </a:rPr>
              <a:t>LLMs:</a:t>
            </a:r>
            <a:r>
              <a:rPr lang="en-US" sz="1400" dirty="0">
                <a:solidFill>
                  <a:schemeClr val="tx1">
                    <a:lumMod val="85000"/>
                    <a:lumOff val="15000"/>
                  </a:schemeClr>
                </a:solidFill>
              </a:rPr>
              <a:t> </a:t>
            </a:r>
            <a:r>
              <a:rPr lang="el-GR" sz="1400" dirty="0">
                <a:solidFill>
                  <a:schemeClr val="tx1">
                    <a:lumMod val="85000"/>
                    <a:lumOff val="15000"/>
                  </a:schemeClr>
                </a:solidFill>
              </a:rPr>
              <a:t>Τα </a:t>
            </a:r>
            <a:r>
              <a:rPr lang="en-US" sz="1400" dirty="0">
                <a:solidFill>
                  <a:schemeClr val="tx1">
                    <a:lumMod val="85000"/>
                    <a:lumOff val="15000"/>
                  </a:schemeClr>
                </a:solidFill>
              </a:rPr>
              <a:t>LLMs </a:t>
            </a:r>
            <a:r>
              <a:rPr lang="el-GR" sz="1400" dirty="0">
                <a:solidFill>
                  <a:schemeClr val="tx1">
                    <a:lumMod val="85000"/>
                    <a:lumOff val="15000"/>
                  </a:schemeClr>
                </a:solidFill>
              </a:rPr>
              <a:t>δεν «γνωρίζουν» πράγματα, όπως ο άνθρωπος. Απλά προβλέπουν γεγονότα, κάτι που τα οδηγεί στο να μην αναγνωρίζουν την άγνοια ως συνέπεια και να επινοούν απαντήσεις.</a:t>
            </a:r>
            <a:endParaRPr lang="en-US" sz="1400" dirty="0">
              <a:solidFill>
                <a:schemeClr val="tx1">
                  <a:lumMod val="85000"/>
                  <a:lumOff val="15000"/>
                </a:schemeClr>
              </a:solidFill>
            </a:endParaRPr>
          </a:p>
          <a:p>
            <a:pPr marL="681228" lvl="1" indent="-342900">
              <a:buFont typeface="+mj-lt"/>
              <a:buAutoNum type="arabicPeriod"/>
            </a:pPr>
            <a:r>
              <a:rPr lang="el-GR" sz="1400" b="1" dirty="0">
                <a:solidFill>
                  <a:schemeClr val="tx1">
                    <a:lumMod val="85000"/>
                    <a:lumOff val="15000"/>
                  </a:schemeClr>
                </a:solidFill>
              </a:rPr>
              <a:t>Κακή Ποιότητα Δεδομένων Εκπαίδευσης</a:t>
            </a:r>
            <a:r>
              <a:rPr lang="en-US" sz="1400" b="1" dirty="0">
                <a:solidFill>
                  <a:schemeClr val="tx1">
                    <a:lumMod val="85000"/>
                    <a:lumOff val="15000"/>
                  </a:schemeClr>
                </a:solidFill>
              </a:rPr>
              <a:t>:</a:t>
            </a:r>
            <a:r>
              <a:rPr lang="el-GR" sz="1400" dirty="0">
                <a:solidFill>
                  <a:schemeClr val="tx1">
                    <a:lumMod val="85000"/>
                    <a:lumOff val="15000"/>
                  </a:schemeClr>
                </a:solidFill>
              </a:rPr>
              <a:t> Τα δεδομένα εκπαίδευσης μπορεί να περιλαμβάνουν σφάλματα, προκαταλήψεις ή ασυνέπειες και το μοντέλο με την σειρά του να παράγει μη θεμιτά αποτελέσματα.</a:t>
            </a:r>
            <a:endParaRPr lang="el-GR" sz="1400" b="1" dirty="0">
              <a:solidFill>
                <a:schemeClr val="tx1">
                  <a:lumMod val="85000"/>
                  <a:lumOff val="15000"/>
                </a:schemeClr>
              </a:solidFill>
            </a:endParaRPr>
          </a:p>
          <a:p>
            <a:pPr marL="681228" lvl="1" indent="-342900">
              <a:buFont typeface="+mj-lt"/>
              <a:buAutoNum type="arabicPeriod"/>
            </a:pPr>
            <a:r>
              <a:rPr lang="el-GR" sz="1400" b="1" dirty="0">
                <a:solidFill>
                  <a:schemeClr val="tx1">
                    <a:lumMod val="85000"/>
                    <a:lumOff val="15000"/>
                  </a:schemeClr>
                </a:solidFill>
              </a:rPr>
              <a:t>Διαδικασία παραγωγής κειμένου</a:t>
            </a:r>
            <a:r>
              <a:rPr lang="en-US" sz="1400" b="1" dirty="0">
                <a:solidFill>
                  <a:schemeClr val="tx1">
                    <a:lumMod val="85000"/>
                    <a:lumOff val="15000"/>
                  </a:schemeClr>
                </a:solidFill>
              </a:rPr>
              <a:t>:</a:t>
            </a:r>
            <a:r>
              <a:rPr lang="el-GR" sz="1400" b="1" dirty="0">
                <a:solidFill>
                  <a:schemeClr val="tx1">
                    <a:lumMod val="85000"/>
                    <a:lumOff val="15000"/>
                  </a:schemeClr>
                </a:solidFill>
              </a:rPr>
              <a:t> </a:t>
            </a:r>
            <a:r>
              <a:rPr lang="el-GR" sz="1400" dirty="0">
                <a:solidFill>
                  <a:schemeClr val="tx1">
                    <a:lumMod val="85000"/>
                    <a:lumOff val="15000"/>
                  </a:schemeClr>
                </a:solidFill>
              </a:rPr>
              <a:t>Ακόμη και αν το σύνολο εκπαίδευσης είναι καλό, μπορεί να δημιουργηθούν παραισθήσεις λόγω </a:t>
            </a:r>
            <a:r>
              <a:rPr lang="en-US" sz="1400" dirty="0">
                <a:solidFill>
                  <a:schemeClr val="tx1">
                    <a:lumMod val="85000"/>
                    <a:lumOff val="15000"/>
                  </a:schemeClr>
                </a:solidFill>
              </a:rPr>
              <a:t>bias</a:t>
            </a:r>
            <a:r>
              <a:rPr lang="el-GR" sz="1400" dirty="0">
                <a:solidFill>
                  <a:schemeClr val="tx1">
                    <a:lumMod val="85000"/>
                    <a:lumOff val="15000"/>
                  </a:schemeClr>
                </a:solidFill>
              </a:rPr>
              <a:t> απο προηγούμενες παραγογές του μοντέλου ή λόγω λάθους αποκωδικοποίησης του </a:t>
            </a:r>
            <a:r>
              <a:rPr lang="en-US" sz="1400" dirty="0">
                <a:solidFill>
                  <a:schemeClr val="tx1">
                    <a:lumMod val="85000"/>
                    <a:lumOff val="15000"/>
                  </a:schemeClr>
                </a:solidFill>
              </a:rPr>
              <a:t>transformer.</a:t>
            </a:r>
            <a:endParaRPr lang="el-GR" sz="1400" b="1" dirty="0">
              <a:solidFill>
                <a:schemeClr val="tx1">
                  <a:lumMod val="85000"/>
                  <a:lumOff val="15000"/>
                </a:schemeClr>
              </a:solidFill>
            </a:endParaRPr>
          </a:p>
          <a:p>
            <a:pPr marL="681228" lvl="1" indent="-342900">
              <a:buFont typeface="+mj-lt"/>
              <a:buAutoNum type="arabicPeriod"/>
            </a:pPr>
            <a:r>
              <a:rPr lang="el-GR" sz="1400" b="1" dirty="0">
                <a:solidFill>
                  <a:schemeClr val="tx1">
                    <a:lumMod val="85000"/>
                    <a:lumOff val="15000"/>
                  </a:schemeClr>
                </a:solidFill>
              </a:rPr>
              <a:t>Ανθρώπινος παράγοντας</a:t>
            </a:r>
            <a:r>
              <a:rPr lang="en-US" sz="1400" b="1" dirty="0">
                <a:solidFill>
                  <a:schemeClr val="tx1">
                    <a:lumMod val="85000"/>
                    <a:lumOff val="15000"/>
                  </a:schemeClr>
                </a:solidFill>
              </a:rPr>
              <a:t>: </a:t>
            </a:r>
            <a:r>
              <a:rPr lang="en-US" sz="1400" dirty="0">
                <a:solidFill>
                  <a:schemeClr val="tx1">
                    <a:lumMod val="85000"/>
                    <a:lumOff val="15000"/>
                  </a:schemeClr>
                </a:solidFill>
              </a:rPr>
              <a:t>To prompt </a:t>
            </a:r>
            <a:r>
              <a:rPr lang="el-GR" sz="1400" dirty="0">
                <a:solidFill>
                  <a:schemeClr val="tx1">
                    <a:lumMod val="85000"/>
                    <a:lumOff val="15000"/>
                  </a:schemeClr>
                </a:solidFill>
              </a:rPr>
              <a:t>που δίνει ο χρήστης μπορεί να μην είναι ξεκάθαρο, και συνεπώς η απάντηση του μοντέλου να μην είναι καλή και ξεκάθαρη.</a:t>
            </a:r>
            <a:endParaRPr lang="el-GR" sz="1400" b="1" dirty="0">
              <a:solidFill>
                <a:schemeClr val="tx1">
                  <a:lumMod val="85000"/>
                  <a:lumOff val="15000"/>
                </a:schemeClr>
              </a:solidFill>
            </a:endParaRPr>
          </a:p>
          <a:p>
            <a:r>
              <a:rPr lang="el-GR" sz="1400" dirty="0">
                <a:solidFill>
                  <a:schemeClr val="tx1">
                    <a:lumMod val="85000"/>
                    <a:lumOff val="15000"/>
                  </a:schemeClr>
                </a:solidFill>
              </a:rPr>
              <a:t>Τα </a:t>
            </a:r>
            <a:r>
              <a:rPr lang="en-US" sz="1400" dirty="0">
                <a:solidFill>
                  <a:schemeClr val="tx1">
                    <a:lumMod val="85000"/>
                    <a:lumOff val="15000"/>
                  </a:schemeClr>
                </a:solidFill>
              </a:rPr>
              <a:t>LLMs </a:t>
            </a:r>
            <a:r>
              <a:rPr lang="el-GR" sz="1400" dirty="0">
                <a:solidFill>
                  <a:schemeClr val="tx1">
                    <a:lumMod val="85000"/>
                    <a:lumOff val="15000"/>
                  </a:schemeClr>
                </a:solidFill>
              </a:rPr>
              <a:t>θα αντιμετωπίζουν πάντοτε το πρόβλημα των παραισθήσεων.  Μερικές λύσεις που μπορεί να το περιορίσουν είναι το </a:t>
            </a:r>
            <a:r>
              <a:rPr lang="en-US" sz="1400" dirty="0">
                <a:solidFill>
                  <a:schemeClr val="tx1">
                    <a:lumMod val="85000"/>
                    <a:lumOff val="15000"/>
                  </a:schemeClr>
                </a:solidFill>
              </a:rPr>
              <a:t>Fine-Tuning, </a:t>
            </a:r>
            <a:r>
              <a:rPr lang="el-GR" sz="1400" dirty="0">
                <a:solidFill>
                  <a:schemeClr val="tx1">
                    <a:lumMod val="85000"/>
                    <a:lumOff val="15000"/>
                  </a:schemeClr>
                </a:solidFill>
              </a:rPr>
              <a:t> το </a:t>
            </a:r>
            <a:r>
              <a:rPr lang="en-US" sz="1400" dirty="0">
                <a:solidFill>
                  <a:schemeClr val="tx1">
                    <a:lumMod val="85000"/>
                    <a:lumOff val="15000"/>
                  </a:schemeClr>
                </a:solidFill>
              </a:rPr>
              <a:t>Prompt Engineering </a:t>
            </a:r>
            <a:r>
              <a:rPr lang="el-GR" sz="1400" dirty="0">
                <a:solidFill>
                  <a:schemeClr val="tx1">
                    <a:lumMod val="85000"/>
                    <a:lumOff val="15000"/>
                  </a:schemeClr>
                </a:solidFill>
              </a:rPr>
              <a:t>και το </a:t>
            </a:r>
            <a:r>
              <a:rPr lang="en-US" sz="1400" dirty="0">
                <a:solidFill>
                  <a:schemeClr val="tx1">
                    <a:lumMod val="85000"/>
                    <a:lumOff val="15000"/>
                  </a:schemeClr>
                </a:solidFill>
              </a:rPr>
              <a:t>Retrieval-Augmented Generation(RAG). </a:t>
            </a:r>
            <a:r>
              <a:rPr lang="el-GR" sz="1400" dirty="0">
                <a:solidFill>
                  <a:schemeClr val="tx1">
                    <a:lumMod val="85000"/>
                    <a:lumOff val="15000"/>
                  </a:schemeClr>
                </a:solidFill>
              </a:rPr>
              <a:t> </a:t>
            </a:r>
          </a:p>
          <a:p>
            <a:r>
              <a:rPr lang="en-US" sz="1400" dirty="0">
                <a:solidFill>
                  <a:schemeClr val="tx1">
                    <a:lumMod val="85000"/>
                    <a:lumOff val="15000"/>
                  </a:schemeClr>
                </a:solidFill>
              </a:rPr>
              <a:t>To</a:t>
            </a:r>
            <a:r>
              <a:rPr lang="el-GR" sz="1400" dirty="0">
                <a:solidFill>
                  <a:schemeClr val="tx1">
                    <a:lumMod val="85000"/>
                    <a:lumOff val="15000"/>
                  </a:schemeClr>
                </a:solidFill>
              </a:rPr>
              <a:t> </a:t>
            </a:r>
            <a:r>
              <a:rPr lang="en-US" sz="1400" dirty="0">
                <a:solidFill>
                  <a:schemeClr val="tx1">
                    <a:lumMod val="85000"/>
                    <a:lumOff val="15000"/>
                  </a:schemeClr>
                </a:solidFill>
              </a:rPr>
              <a:t>Fine-Tuning  </a:t>
            </a:r>
            <a:r>
              <a:rPr lang="el-GR" sz="1400" dirty="0">
                <a:solidFill>
                  <a:schemeClr val="tx1">
                    <a:lumMod val="85000"/>
                    <a:lumOff val="15000"/>
                  </a:schemeClr>
                </a:solidFill>
              </a:rPr>
              <a:t>μπορεί να έχει αρνητικά αποτελέσματα (παλιά και νέα γνώση συγκρούονται και δημιουργούνται συγχύσεις και παραπάνω παραισθήσεις)</a:t>
            </a:r>
          </a:p>
          <a:p>
            <a:r>
              <a:rPr lang="el-GR" sz="1400" dirty="0">
                <a:solidFill>
                  <a:schemeClr val="tx1">
                    <a:lumMod val="85000"/>
                    <a:lumOff val="15000"/>
                  </a:schemeClr>
                </a:solidFill>
              </a:rPr>
              <a:t>Άρα, είναι σημαντικό να εστιάσουμε στους άλλους τρόπους επίλυσης και περιορισμού. Στην εργασία αυτή, δώσαμε έμφαση στο κομμάτι του </a:t>
            </a:r>
            <a:r>
              <a:rPr lang="en-US" sz="1400" dirty="0">
                <a:solidFill>
                  <a:schemeClr val="tx1">
                    <a:lumMod val="85000"/>
                    <a:lumOff val="15000"/>
                  </a:schemeClr>
                </a:solidFill>
              </a:rPr>
              <a:t>RAG.</a:t>
            </a:r>
            <a:endParaRPr lang="el-GR" sz="1400" dirty="0">
              <a:solidFill>
                <a:schemeClr val="tx1">
                  <a:lumMod val="85000"/>
                  <a:lumOff val="15000"/>
                </a:schemeClr>
              </a:solidFill>
            </a:endParaRPr>
          </a:p>
          <a:p>
            <a:endParaRPr lang="en-US" sz="1600" dirty="0"/>
          </a:p>
          <a:p>
            <a:pPr marL="0" indent="0">
              <a:buNone/>
            </a:pPr>
            <a:endParaRPr lang="el-GR" sz="1600"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042295" y="530353"/>
            <a:ext cx="4489057" cy="640080"/>
          </a:xfrm>
        </p:spPr>
        <p:txBody>
          <a:bodyPr/>
          <a:lstStyle/>
          <a:p>
            <a:r>
              <a:rPr lang="el-GR" dirty="0">
                <a:solidFill>
                  <a:schemeClr val="tx1">
                    <a:lumMod val="85000"/>
                    <a:lumOff val="15000"/>
                  </a:schemeClr>
                </a:solidFill>
              </a:rPr>
              <a:t>Που εστιασαμε</a:t>
            </a:r>
            <a:endParaRPr lang="en-US" dirty="0">
              <a:solidFill>
                <a:schemeClr val="tx1">
                  <a:lumMod val="85000"/>
                  <a:lumOff val="15000"/>
                </a:schemeClr>
              </a:solidFill>
            </a:endParaRP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541020" y="1289304"/>
            <a:ext cx="11109960" cy="4151376"/>
          </a:xfrm>
        </p:spPr>
        <p:txBody>
          <a:bodyPr>
            <a:normAutofit/>
          </a:bodyPr>
          <a:lstStyle/>
          <a:p>
            <a:pPr marL="285750" indent="-285750">
              <a:buFont typeface="Arial" panose="020B0604020202020204" pitchFamily="34" charset="0"/>
              <a:buChar char="•"/>
            </a:pPr>
            <a:r>
              <a:rPr lang="el-GR" sz="1400" dirty="0">
                <a:solidFill>
                  <a:schemeClr val="tx1">
                    <a:lumMod val="85000"/>
                    <a:lumOff val="15000"/>
                  </a:schemeClr>
                </a:solidFill>
              </a:rPr>
              <a:t>Στον τομέα της εκπαίδευσης και ιδιαίτερα σε συστήματα ερωταπαντήσεων, το πρόβλημα τον παραισθήσεων είναι ιδιαίτερα έντονο. Η εκπαίδευση με ψευδείς πληροφορίες έχει καταστροφικά αποτελέσματα και στην σύγχρονη εποχή τα </a:t>
            </a:r>
            <a:r>
              <a:rPr lang="en-US" sz="1400" dirty="0">
                <a:solidFill>
                  <a:schemeClr val="tx1">
                    <a:lumMod val="85000"/>
                    <a:lumOff val="15000"/>
                  </a:schemeClr>
                </a:solidFill>
              </a:rPr>
              <a:t>LLMs </a:t>
            </a:r>
            <a:r>
              <a:rPr lang="el-GR" sz="1400" dirty="0">
                <a:solidFill>
                  <a:schemeClr val="tx1">
                    <a:lumMod val="85000"/>
                    <a:lumOff val="15000"/>
                  </a:schemeClr>
                </a:solidFill>
              </a:rPr>
              <a:t>χρησιμοποιούνται όλο και περισσότερο για να γίνουν τα καθημερινά </a:t>
            </a:r>
            <a:r>
              <a:rPr lang="en-US" sz="1400" dirty="0">
                <a:solidFill>
                  <a:schemeClr val="tx1">
                    <a:lumMod val="85000"/>
                    <a:lumOff val="15000"/>
                  </a:schemeClr>
                </a:solidFill>
              </a:rPr>
              <a:t>tasks </a:t>
            </a:r>
            <a:r>
              <a:rPr lang="el-GR" sz="1400" dirty="0">
                <a:solidFill>
                  <a:schemeClr val="tx1">
                    <a:lumMod val="85000"/>
                    <a:lumOff val="15000"/>
                  </a:schemeClr>
                </a:solidFill>
              </a:rPr>
              <a:t>πιο εύκολα.</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Είτε μιλάμε για εφαρμογή στα πλαίσια σχολείου, πανεπιστημίου κ.ο.κ., είτε για μια απλή και προσβάσιμη από όλους εκπαιδευτική εφαρμογή, είναι σημαντικό οι χρήστες να απαλλαχθούν από τις παραισθήσεις των </a:t>
            </a:r>
            <a:r>
              <a:rPr lang="en-US" sz="1400" dirty="0">
                <a:solidFill>
                  <a:schemeClr val="tx1">
                    <a:lumMod val="85000"/>
                    <a:lumOff val="15000"/>
                  </a:schemeClr>
                </a:solidFill>
              </a:rPr>
              <a:t>LLMs</a:t>
            </a:r>
            <a:r>
              <a:rPr lang="el-GR" sz="1400" dirty="0">
                <a:solidFill>
                  <a:schemeClr val="tx1">
                    <a:lumMod val="85000"/>
                    <a:lumOff val="15000"/>
                  </a:schemeClr>
                </a:solidFill>
              </a:rPr>
              <a:t>.</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Εστιάσαμε στον περιορισμό παραισθήσεων τόσο στο κομμάτι των απαντήσεων, όσο και των ερωτήσεων. Σκεφτήκαμε πως ένα αυτόματο σύστημα ερωταπαντήσεων πρέπει να παράγει, τόσο ακριβείς ερωτήσεις, όσο και απαντήσεις.  Αν η ερώτηση που ο χρήστης θα κληθεί να απαντήσει αποτελεί παραίσθηση του μοντέλου, δημιουργείται παραπάνω σύγχυση.</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Ο περιορισμός των παραισθήσεων δεν είναι μόνο τεχνικό ζητούμενο αλλά και βασική προϋπόθεση για την αποτελεσματική μάθηση και την εμπιστοσύνη του χρήστη προς το σύστημα αλλά και προς την διαδικασία εκμάθησης στο σύνολό της. ΄Οσο η τεχνολογία εξελίσσεται, πρέπει μαζί της να εξελίσσεται και η εκπαίδευση.  </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Παρόλο που έχει σημειωθεί τρομερή πρόοδος στον χώρο των LLMs , η εφαρμογή τους στον τομέα της εκπαίδευσης δεν έχει εξερευνηθεί στο μέγιστο των δυνατοτήτων που διαθέτουν.</a:t>
            </a:r>
            <a:r>
              <a:rPr lang="en-US" sz="1400" dirty="0">
                <a:solidFill>
                  <a:schemeClr val="tx1">
                    <a:lumMod val="85000"/>
                    <a:lumOff val="15000"/>
                  </a:schemeClr>
                </a:solidFill>
              </a:rPr>
              <a:t> </a:t>
            </a:r>
            <a:r>
              <a:rPr lang="el-GR" sz="1400" dirty="0">
                <a:solidFill>
                  <a:schemeClr val="tx1">
                    <a:lumMod val="85000"/>
                    <a:lumOff val="15000"/>
                  </a:schemeClr>
                </a:solidFill>
              </a:rPr>
              <a:t>Προσπαθούμε, μέσω αυτής της διπλωματικής εργασίας, να κάνουμε ένα βήμα προς αυτή την κατεύθυνση.</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928066" y="64008"/>
            <a:ext cx="8765123" cy="1073278"/>
          </a:xfrm>
        </p:spPr>
        <p:txBody>
          <a:bodyPr/>
          <a:lstStyle/>
          <a:p>
            <a:pPr algn="ctr"/>
            <a:r>
              <a:rPr lang="el-GR" dirty="0">
                <a:solidFill>
                  <a:schemeClr val="tx1">
                    <a:lumMod val="85000"/>
                    <a:lumOff val="15000"/>
                  </a:schemeClr>
                </a:solidFill>
              </a:rPr>
              <a:t>ΣΤΟΧΟς</a:t>
            </a:r>
            <a:r>
              <a:rPr lang="en-US" dirty="0">
                <a:solidFill>
                  <a:schemeClr val="tx1">
                    <a:lumMod val="85000"/>
                    <a:lumOff val="15000"/>
                  </a:schemeClr>
                </a:solidFill>
              </a:rPr>
              <a:t>,</a:t>
            </a:r>
            <a:r>
              <a:rPr lang="el-GR" dirty="0">
                <a:solidFill>
                  <a:schemeClr val="tx1">
                    <a:lumMod val="85000"/>
                    <a:lumOff val="15000"/>
                  </a:schemeClr>
                </a:solidFill>
              </a:rPr>
              <a:t>γενικη εικονα και συνεισφορα</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587752" y="1137569"/>
            <a:ext cx="9445752" cy="5656423"/>
          </a:xfrm>
        </p:spPr>
        <p:txBody>
          <a:bodyPr>
            <a:normAutofit/>
          </a:bodyPr>
          <a:lstStyle/>
          <a:p>
            <a:r>
              <a:rPr lang="el-GR" sz="1400" dirty="0">
                <a:solidFill>
                  <a:schemeClr val="tx1">
                    <a:lumMod val="85000"/>
                    <a:lumOff val="15000"/>
                  </a:schemeClr>
                </a:solidFill>
              </a:rPr>
              <a:t>Κύριος στόχος είναι να προταθεί και να υλοποιηθεί ένα σύστημα παραγωγής και απάντησης ερωτήσεων, πάνω σε μια συλλογή κειμένων. Το σύνολο αυτό, σκοπός μας είναι να μην περιέχει καθόλου παραισθήσεις που μπορεί να προκύψουν από απλή παραγωγή του με απλό </a:t>
            </a:r>
            <a:r>
              <a:rPr lang="en-US" sz="1400" dirty="0">
                <a:solidFill>
                  <a:schemeClr val="tx1">
                    <a:lumMod val="85000"/>
                    <a:lumOff val="15000"/>
                  </a:schemeClr>
                </a:solidFill>
              </a:rPr>
              <a:t>LLM prompting</a:t>
            </a:r>
            <a:r>
              <a:rPr lang="el-GR" sz="1400" dirty="0">
                <a:solidFill>
                  <a:schemeClr val="tx1">
                    <a:lumMod val="85000"/>
                    <a:lumOff val="15000"/>
                  </a:schemeClr>
                </a:solidFill>
              </a:rPr>
              <a:t>.</a:t>
            </a:r>
          </a:p>
          <a:p>
            <a:r>
              <a:rPr lang="el-GR" sz="1400" dirty="0">
                <a:solidFill>
                  <a:schemeClr val="tx1">
                    <a:lumMod val="85000"/>
                    <a:lumOff val="15000"/>
                  </a:schemeClr>
                </a:solidFill>
              </a:rPr>
              <a:t>Ξεκινάμε με παραγωγή ερωτήσεων από το μοντέλο, και στην συνέχεια προχωράμε στην τεκμηρίωσή τους, με βάση την συλλογή κειμένων. Η διαδικασία αυτή ονομάζεται «γείωση» (</a:t>
            </a:r>
            <a:r>
              <a:rPr lang="en-US" sz="1400" dirty="0">
                <a:solidFill>
                  <a:schemeClr val="tx1">
                    <a:lumMod val="85000"/>
                    <a:lumOff val="15000"/>
                  </a:schemeClr>
                </a:solidFill>
              </a:rPr>
              <a:t>grounding) </a:t>
            </a:r>
            <a:r>
              <a:rPr lang="el-GR" sz="1400" dirty="0">
                <a:solidFill>
                  <a:schemeClr val="tx1">
                    <a:lumMod val="85000"/>
                    <a:lumOff val="15000"/>
                  </a:schemeClr>
                </a:solidFill>
              </a:rPr>
              <a:t>σύμφωνα και με μια δημοσίευση που μας κίνησε το ενδιαφέρον.</a:t>
            </a:r>
          </a:p>
          <a:p>
            <a:r>
              <a:rPr lang="el-GR" sz="1400" dirty="0">
                <a:solidFill>
                  <a:schemeClr val="tx1">
                    <a:lumMod val="85000"/>
                    <a:lumOff val="15000"/>
                  </a:schemeClr>
                </a:solidFill>
              </a:rPr>
              <a:t>Το σύστημα αξιοποιεί </a:t>
            </a:r>
            <a:r>
              <a:rPr lang="en-US" sz="1400" dirty="0">
                <a:solidFill>
                  <a:schemeClr val="tx1">
                    <a:lumMod val="85000"/>
                    <a:lumOff val="15000"/>
                  </a:schemeClr>
                </a:solidFill>
              </a:rPr>
              <a:t>Retrieval-Augmented Generation </a:t>
            </a:r>
            <a:r>
              <a:rPr lang="el-GR" sz="1400" dirty="0">
                <a:solidFill>
                  <a:schemeClr val="tx1">
                    <a:lumMod val="85000"/>
                    <a:lumOff val="15000"/>
                  </a:schemeClr>
                </a:solidFill>
              </a:rPr>
              <a:t>τεχνικές, για να επιτευχθεί η τεκμηρίωση και η συμφωνία του κάθε σετ ερώτησης-απάντησης με τα σχετικά κείμενα.  Με αυτό τον τρόπο, όλες οι ερωταπαντήσεις είναι επικυρωμένες και απόλυτα σύμφωνες με τα κείμενα που τους αντιστοιχούν.</a:t>
            </a:r>
          </a:p>
          <a:p>
            <a:r>
              <a:rPr lang="el-GR" sz="1400" dirty="0">
                <a:solidFill>
                  <a:schemeClr val="tx1">
                    <a:lumMod val="85000"/>
                    <a:lumOff val="15000"/>
                  </a:schemeClr>
                </a:solidFill>
              </a:rPr>
              <a:t>Η θεματολογία της συλλογής κειμένων είναι κοινή, έτσι ώστε να αναζητείται το σχετικότερο κείμενο σε όλη την συλλογή κειμένων και η κάθε ερώτηση να απαντάται με χρήση όλης της διαθέσιμης γνώσης.</a:t>
            </a:r>
          </a:p>
          <a:p>
            <a:r>
              <a:rPr lang="el-GR" sz="1400" dirty="0">
                <a:solidFill>
                  <a:schemeClr val="tx1">
                    <a:lumMod val="85000"/>
                    <a:lumOff val="15000"/>
                  </a:schemeClr>
                </a:solidFill>
              </a:rPr>
              <a:t>Οι απαντήσεις αναζητούνται αυτούσιες στην συλλογή κειμένων. Αν δεν βρεθεί κατάλληλη φράση που απαντά την ερώτηση, αυτή σημειώνεται ως μη απαντήσιμη. Τέτοιες ερωτήσεις είναι είτε παραισθήσεις του μοντέλου είτε δεν απαντούνται ξεκάθαρα σύμφωνα με τα κείμενα. Το τελικό σύνολό μας (αυτό που χρησιμοποιείται και στο </a:t>
            </a:r>
            <a:r>
              <a:rPr lang="en-US" sz="1400" dirty="0">
                <a:solidFill>
                  <a:schemeClr val="tx1">
                    <a:lumMod val="85000"/>
                    <a:lumOff val="15000"/>
                  </a:schemeClr>
                </a:solidFill>
              </a:rPr>
              <a:t>GUI</a:t>
            </a:r>
            <a:r>
              <a:rPr lang="el-GR" sz="1400" dirty="0">
                <a:solidFill>
                  <a:schemeClr val="tx1">
                    <a:lumMod val="85000"/>
                    <a:lumOff val="15000"/>
                  </a:schemeClr>
                </a:solidFill>
              </a:rPr>
              <a:t>) είναι μόνο οι ερωτήσεις που απαντούνται σύντομα, ξεκάθαρα και τεκμηριωμένα.</a:t>
            </a:r>
          </a:p>
          <a:p>
            <a:r>
              <a:rPr lang="el-GR" sz="1400" dirty="0">
                <a:solidFill>
                  <a:schemeClr val="tx1">
                    <a:lumMod val="85000"/>
                    <a:lumOff val="15000"/>
                  </a:schemeClr>
                </a:solidFill>
              </a:rPr>
              <a:t>Υλοποιούμε και ένα γραφικό περιβάλλον που περιέχει μερικές από τις ερωτήσεις που παρήγαγε το σύστημα. Ο χρήστης θα κληθεί να τις απαντήσει και όταν υποβάλλει τις απαντήσεις του,  αυτές θα συγκριθούν με τις απαντήσεις που έδωσε το μοντέλο(μέσω μετρικών ομοιότητας) και ο χρήστης θα βαθμολογηθεί.</a:t>
            </a:r>
          </a:p>
          <a:p>
            <a:r>
              <a:rPr lang="el-GR" sz="1400" dirty="0">
                <a:solidFill>
                  <a:schemeClr val="tx1">
                    <a:lumMod val="85000"/>
                    <a:lumOff val="15000"/>
                  </a:schemeClr>
                </a:solidFill>
              </a:rPr>
              <a:t>Το έργο αυτό, συνεισφέρει σε τρία διακριτά επίπεδα. Σε μεθολογικό (προτείνεται μια πολυεπίπεδη διαδικασία), σε πρακτικό (το παραγόμενο σύνολο δεδομένων αξιοποιείται αποτελεσματικά) και σε εκπαιδευτικό (αναδεικνύεται το πώς μπορεί να αυτοματοποιηθεί μια διαδικασία αξιολόγησης τόσο στο κομμάτι των ερωτήσεων όσο και της βαθμολογίας).</a:t>
            </a:r>
          </a:p>
          <a:p>
            <a:endParaRPr lang="el-GR" sz="1400" dirty="0">
              <a:solidFill>
                <a:schemeClr val="tx1">
                  <a:lumMod val="85000"/>
                  <a:lumOff val="15000"/>
                </a:schemeClr>
              </a:solidFill>
            </a:endParaRPr>
          </a:p>
          <a:p>
            <a:pPr marL="0" indent="0">
              <a:buNone/>
            </a:pPr>
            <a:endParaRPr lang="el-GR" sz="1400" dirty="0"/>
          </a:p>
          <a:p>
            <a:pPr marL="0" indent="0">
              <a:buNone/>
            </a:pPr>
            <a:endParaRPr lang="el-GR" sz="1400" dirty="0"/>
          </a:p>
          <a:p>
            <a:pPr marL="0" indent="0">
              <a:buNone/>
            </a:pPr>
            <a:endParaRPr lang="el-GR" sz="1400"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864608" y="95440"/>
            <a:ext cx="5285195" cy="1043264"/>
          </a:xfrm>
        </p:spPr>
        <p:txBody>
          <a:bodyPr/>
          <a:lstStyle/>
          <a:p>
            <a:pPr algn="ctr"/>
            <a:r>
              <a:rPr lang="el-GR" dirty="0">
                <a:solidFill>
                  <a:schemeClr val="tx1">
                    <a:lumMod val="85000"/>
                    <a:lumOff val="15000"/>
                  </a:schemeClr>
                </a:solidFill>
              </a:rPr>
              <a:t>ΜΕΓΑΛΑ ΓΛΩΣΣΙΚΑ ΜΟΝΤΕΛΑ</a:t>
            </a:r>
            <a:endParaRPr lang="en-US"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486948" y="1138704"/>
            <a:ext cx="8509980" cy="5677004"/>
          </a:xfrm>
        </p:spPr>
        <p:txBody>
          <a:bodyPr>
            <a:normAutofit/>
          </a:bodyPr>
          <a:lstStyle/>
          <a:p>
            <a:pPr marL="285750" indent="-285750">
              <a:buFont typeface="Arial" panose="020B0604020202020204" pitchFamily="34" charset="0"/>
              <a:buChar char="•"/>
            </a:pPr>
            <a:r>
              <a:rPr lang="el-GR" sz="1600" dirty="0">
                <a:solidFill>
                  <a:schemeClr val="tx1">
                    <a:lumMod val="85000"/>
                    <a:lumOff val="15000"/>
                  </a:schemeClr>
                </a:solidFill>
              </a:rPr>
              <a:t>Τα </a:t>
            </a:r>
            <a:r>
              <a:rPr lang="en-US" sz="1600" dirty="0">
                <a:solidFill>
                  <a:schemeClr val="tx1">
                    <a:lumMod val="85000"/>
                    <a:lumOff val="15000"/>
                  </a:schemeClr>
                </a:solidFill>
              </a:rPr>
              <a:t>LLMs </a:t>
            </a:r>
            <a:r>
              <a:rPr lang="el-GR" sz="1600" dirty="0">
                <a:solidFill>
                  <a:schemeClr val="tx1">
                    <a:lumMod val="85000"/>
                    <a:lumOff val="15000"/>
                  </a:schemeClr>
                </a:solidFill>
              </a:rPr>
              <a:t>αποτελούν μια από τις πιο σημαντικές καινοτομίες στον χώρο της Τεχνητής Νοημοσύνης και της Επεξεργασίας Φυσικής Γλώσσας</a:t>
            </a:r>
            <a:r>
              <a:rPr lang="en-US" sz="1600" dirty="0">
                <a:solidFill>
                  <a:schemeClr val="tx1">
                    <a:lumMod val="85000"/>
                    <a:lumOff val="15000"/>
                  </a:schemeClr>
                </a:solidFill>
              </a:rPr>
              <a:t>.</a:t>
            </a:r>
            <a:r>
              <a:rPr lang="el-GR" sz="1600" dirty="0">
                <a:solidFill>
                  <a:schemeClr val="tx1">
                    <a:lumMod val="85000"/>
                    <a:lumOff val="15000"/>
                  </a:schemeClr>
                </a:solidFill>
              </a:rPr>
              <a:t> Πρόκειται για βαθιά νευρωνικά δίκτυα, τα οποία εκπαιδεύονται σε τεράστιες συλλογές κειμένων και έχουν τη δυνατότητα να κατανοούν και να παράγουν ανθρώπινη γλώσσα με υψηλό βαθμό φυσικότητας</a:t>
            </a:r>
            <a:r>
              <a:rPr lang="en-US" sz="1600" dirty="0">
                <a:solidFill>
                  <a:schemeClr val="tx1">
                    <a:lumMod val="85000"/>
                    <a:lumOff val="15000"/>
                  </a:schemeClr>
                </a:solidFill>
              </a:rPr>
              <a:t>. </a:t>
            </a:r>
            <a:r>
              <a:rPr lang="el-GR" sz="1600" dirty="0">
                <a:solidFill>
                  <a:schemeClr val="tx1">
                    <a:lumMod val="85000"/>
                    <a:lumOff val="15000"/>
                  </a:schemeClr>
                </a:solidFill>
              </a:rPr>
              <a:t> </a:t>
            </a:r>
            <a:r>
              <a:rPr lang="en-US" sz="1600" dirty="0">
                <a:solidFill>
                  <a:schemeClr val="tx1">
                    <a:lumMod val="85000"/>
                    <a:lumOff val="15000"/>
                  </a:schemeClr>
                </a:solidFill>
              </a:rPr>
              <a:t>T</a:t>
            </a:r>
            <a:r>
              <a:rPr lang="el-GR" sz="1600" dirty="0">
                <a:solidFill>
                  <a:schemeClr val="tx1">
                    <a:lumMod val="85000"/>
                    <a:lumOff val="15000"/>
                  </a:schemeClr>
                </a:solidFill>
              </a:rPr>
              <a:t>α LLMs μπορούν να προσεγγίσουν ποικιλία εργασιών χωρίς ειδική προσαρμογή για κάθε μία από αυτές. Αυτό έχει οδηγήσει στην αύξηση της χρήσης των Μεγάλων Γλωσσικών Μοντέλων, τόσο από απλούς, καθημερινούς χρήστες όσο και από εταιρίες και</a:t>
            </a:r>
            <a:r>
              <a:rPr lang="en-US" sz="1600" dirty="0">
                <a:solidFill>
                  <a:schemeClr val="tx1">
                    <a:lumMod val="85000"/>
                    <a:lumOff val="15000"/>
                  </a:schemeClr>
                </a:solidFill>
              </a:rPr>
              <a:t> </a:t>
            </a:r>
            <a:r>
              <a:rPr lang="el-GR" sz="1600" dirty="0">
                <a:solidFill>
                  <a:schemeClr val="tx1">
                    <a:lumMod val="85000"/>
                    <a:lumOff val="15000"/>
                  </a:schemeClr>
                </a:solidFill>
              </a:rPr>
              <a:t>επαγγελματίες.</a:t>
            </a:r>
          </a:p>
          <a:p>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Παρόλο που έχουν εντυπωσιακές δυνατότητες, αντιμετωπίζουν προβλήματα όπως</a:t>
            </a:r>
            <a:r>
              <a:rPr lang="en-US" sz="1600" dirty="0">
                <a:solidFill>
                  <a:schemeClr val="tx1">
                    <a:lumMod val="85000"/>
                    <a:lumOff val="15000"/>
                  </a:schemeClr>
                </a:solidFill>
              </a:rPr>
              <a:t>:</a:t>
            </a:r>
            <a:endParaRPr lang="el-GR" sz="1600" dirty="0">
              <a:solidFill>
                <a:schemeClr val="tx1">
                  <a:lumMod val="85000"/>
                  <a:lumOff val="15000"/>
                </a:schemeClr>
              </a:solidFill>
            </a:endParaRPr>
          </a:p>
          <a:p>
            <a:pPr marL="342900" indent="-342900">
              <a:buFont typeface="+mj-lt"/>
              <a:buAutoNum type="arabicParenR"/>
            </a:pPr>
            <a:r>
              <a:rPr lang="el-GR" sz="1600" b="1" dirty="0">
                <a:solidFill>
                  <a:schemeClr val="tx1">
                    <a:lumMod val="85000"/>
                    <a:lumOff val="15000"/>
                  </a:schemeClr>
                </a:solidFill>
              </a:rPr>
              <a:t>Στατικότητα γνώσης/χρονική παλαιότητα</a:t>
            </a:r>
            <a:r>
              <a:rPr lang="en-US" sz="1600" b="1" dirty="0">
                <a:solidFill>
                  <a:schemeClr val="tx1">
                    <a:lumMod val="85000"/>
                    <a:lumOff val="15000"/>
                  </a:schemeClr>
                </a:solidFill>
              </a:rPr>
              <a:t>: </a:t>
            </a:r>
            <a:r>
              <a:rPr lang="el-GR" sz="1600" dirty="0">
                <a:solidFill>
                  <a:schemeClr val="tx1">
                    <a:lumMod val="85000"/>
                    <a:lumOff val="15000"/>
                  </a:schemeClr>
                </a:solidFill>
              </a:rPr>
              <a:t>Μετά την ολοκλήρωση της εκπαίδευσης, μπορεί να προκύψουν ανακρίβειες σχετικά με καινούργια δεδομένα.</a:t>
            </a:r>
          </a:p>
          <a:p>
            <a:pPr marL="342900" indent="-342900">
              <a:buFont typeface="+mj-lt"/>
              <a:buAutoNum type="arabicParenR"/>
            </a:pPr>
            <a:r>
              <a:rPr lang="el-GR" sz="1600" b="1" dirty="0">
                <a:solidFill>
                  <a:schemeClr val="tx1">
                    <a:lumMod val="85000"/>
                    <a:lumOff val="15000"/>
                  </a:schemeClr>
                </a:solidFill>
              </a:rPr>
              <a:t>Ασυνέπειες και αντιφάσεις στα δεδομένα / Παραισθήσεις</a:t>
            </a:r>
            <a:endParaRPr lang="en-US" sz="1600" b="1" dirty="0">
              <a:solidFill>
                <a:schemeClr val="tx1">
                  <a:lumMod val="85000"/>
                  <a:lumOff val="15000"/>
                </a:schemeClr>
              </a:solidFill>
            </a:endParaRPr>
          </a:p>
          <a:p>
            <a:pPr marL="342900" indent="-342900">
              <a:buFont typeface="+mj-lt"/>
              <a:buAutoNum type="arabicParenR"/>
            </a:pPr>
            <a:r>
              <a:rPr lang="el-GR" sz="1600" b="1" dirty="0">
                <a:solidFill>
                  <a:schemeClr val="tx1">
                    <a:lumMod val="85000"/>
                    <a:lumOff val="15000"/>
                  </a:schemeClr>
                </a:solidFill>
              </a:rPr>
              <a:t>Αναπαραγωγή Προκαταλήψεων</a:t>
            </a:r>
            <a:r>
              <a:rPr lang="en-US" sz="1600" b="1" dirty="0">
                <a:solidFill>
                  <a:schemeClr val="tx1">
                    <a:lumMod val="85000"/>
                    <a:lumOff val="15000"/>
                  </a:schemeClr>
                </a:solidFill>
              </a:rPr>
              <a:t>:</a:t>
            </a:r>
            <a:r>
              <a:rPr lang="en-US" sz="1600" dirty="0">
                <a:solidFill>
                  <a:schemeClr val="tx1">
                    <a:lumMod val="85000"/>
                    <a:lumOff val="15000"/>
                  </a:schemeClr>
                </a:solidFill>
              </a:rPr>
              <a:t> </a:t>
            </a:r>
            <a:r>
              <a:rPr lang="el-GR" sz="1600" dirty="0">
                <a:solidFill>
                  <a:schemeClr val="tx1">
                    <a:lumMod val="85000"/>
                    <a:lumOff val="15000"/>
                  </a:schemeClr>
                </a:solidFill>
              </a:rPr>
              <a:t>Εφόσον τα δεδομένα εκπαίδευσης περιέχουν κοινωνικές προκαταλήψεις, στερεότυπα ή ανισότητες, τα μοντέλα συχνά τα αναπαράγουν ή τα ενισχύουν.</a:t>
            </a:r>
          </a:p>
          <a:p>
            <a:pPr marL="342900" indent="-342900">
              <a:buFont typeface="+mj-lt"/>
              <a:buAutoNum type="arabicParenR"/>
            </a:pPr>
            <a:r>
              <a:rPr lang="el-GR" sz="1600" b="1" dirty="0">
                <a:solidFill>
                  <a:schemeClr val="tx1">
                    <a:lumMod val="85000"/>
                    <a:lumOff val="15000"/>
                  </a:schemeClr>
                </a:solidFill>
              </a:rPr>
              <a:t>Υπολογιστικό κόστος</a:t>
            </a:r>
            <a:r>
              <a:rPr lang="en-US" sz="1600" b="1" dirty="0">
                <a:solidFill>
                  <a:schemeClr val="tx1">
                    <a:lumMod val="85000"/>
                    <a:lumOff val="15000"/>
                  </a:schemeClr>
                </a:solidFill>
              </a:rPr>
              <a:t>: </a:t>
            </a:r>
            <a:r>
              <a:rPr lang="el-GR" sz="1600" dirty="0">
                <a:solidFill>
                  <a:schemeClr val="tx1">
                    <a:lumMod val="85000"/>
                    <a:lumOff val="15000"/>
                  </a:schemeClr>
                </a:solidFill>
              </a:rPr>
              <a:t>Η εκπαίδευση και η εξυπηρέτηση LLMs απαιτούν σημαντικούς υπολογιστικούς πόρους (GPU, μνήμη, ενέργεια)</a:t>
            </a:r>
            <a:r>
              <a:rPr lang="en-US" sz="1600" dirty="0">
                <a:solidFill>
                  <a:schemeClr val="tx1">
                    <a:lumMod val="85000"/>
                    <a:lumOff val="15000"/>
                  </a:schemeClr>
                </a:solidFill>
              </a:rPr>
              <a:t>, </a:t>
            </a:r>
            <a:r>
              <a:rPr lang="el-GR" sz="1600" dirty="0">
                <a:solidFill>
                  <a:schemeClr val="tx1">
                    <a:lumMod val="85000"/>
                    <a:lumOff val="15000"/>
                  </a:schemeClr>
                </a:solidFill>
              </a:rPr>
              <a:t>κάτι που κάνει την χρήση τους σε τοπικό περιβάλλον ιδιαίτερα δύσκολη</a:t>
            </a:r>
          </a:p>
          <a:p>
            <a:pPr marL="342900" indent="-342900">
              <a:buFont typeface="+mj-lt"/>
              <a:buAutoNum type="arabicParenR"/>
            </a:pPr>
            <a:r>
              <a:rPr lang="el-GR" sz="1600" b="1" dirty="0">
                <a:solidFill>
                  <a:schemeClr val="tx1">
                    <a:lumMod val="85000"/>
                    <a:lumOff val="15000"/>
                  </a:schemeClr>
                </a:solidFill>
              </a:rPr>
              <a:t>Ερμηνευσιμότητα και διαφάνεια</a:t>
            </a:r>
            <a:r>
              <a:rPr lang="en-US" sz="1600" b="1" dirty="0">
                <a:solidFill>
                  <a:schemeClr val="tx1">
                    <a:lumMod val="85000"/>
                    <a:lumOff val="15000"/>
                  </a:schemeClr>
                </a:solidFill>
              </a:rPr>
              <a:t>:</a:t>
            </a:r>
            <a:r>
              <a:rPr lang="el-GR" sz="1600" b="1" dirty="0">
                <a:solidFill>
                  <a:schemeClr val="tx1">
                    <a:lumMod val="85000"/>
                    <a:lumOff val="15000"/>
                  </a:schemeClr>
                </a:solidFill>
              </a:rPr>
              <a:t> </a:t>
            </a:r>
            <a:r>
              <a:rPr lang="el-GR" sz="1600" dirty="0">
                <a:solidFill>
                  <a:schemeClr val="tx1">
                    <a:lumMod val="85000"/>
                    <a:lumOff val="15000"/>
                  </a:schemeClr>
                </a:solidFill>
              </a:rPr>
              <a:t>Λειτουργούν ως </a:t>
            </a:r>
            <a:r>
              <a:rPr lang="en-US" sz="1600" dirty="0">
                <a:solidFill>
                  <a:schemeClr val="tx1">
                    <a:lumMod val="85000"/>
                    <a:lumOff val="15000"/>
                  </a:schemeClr>
                </a:solidFill>
              </a:rPr>
              <a:t>“black box” </a:t>
            </a:r>
            <a:r>
              <a:rPr lang="el-GR" sz="1600" dirty="0">
                <a:solidFill>
                  <a:schemeClr val="tx1">
                    <a:lumMod val="85000"/>
                    <a:lumOff val="15000"/>
                  </a:schemeClr>
                </a:solidFill>
              </a:rPr>
              <a:t>για πολλούς χρήστες και ερευνητές</a:t>
            </a:r>
            <a:r>
              <a:rPr lang="en-US" sz="1600" dirty="0">
                <a:solidFill>
                  <a:schemeClr val="tx1">
                    <a:lumMod val="85000"/>
                    <a:lumOff val="15000"/>
                  </a:schemeClr>
                </a:solidFill>
              </a:rPr>
              <a:t>.</a:t>
            </a:r>
            <a:endParaRPr lang="el-GR" sz="1600" dirty="0">
              <a:solidFill>
                <a:schemeClr val="tx1">
                  <a:lumMod val="85000"/>
                  <a:lumOff val="15000"/>
                </a:schemeClr>
              </a:solidFill>
            </a:endParaRPr>
          </a:p>
          <a:p>
            <a:pPr marL="342900" indent="-342900">
              <a:buFont typeface="+mj-lt"/>
              <a:buAutoNum type="arabicParenR"/>
            </a:pPr>
            <a:r>
              <a:rPr lang="el-GR" sz="1600" b="1" dirty="0">
                <a:solidFill>
                  <a:schemeClr val="tx1">
                    <a:lumMod val="85000"/>
                    <a:lumOff val="15000"/>
                  </a:schemeClr>
                </a:solidFill>
              </a:rPr>
              <a:t>Απαιτήσεις ρύθμισης και συντήρησης</a:t>
            </a:r>
          </a:p>
          <a:p>
            <a:pPr marL="342900" indent="-342900">
              <a:buFont typeface="+mj-lt"/>
              <a:buAutoNum type="arabicParenR"/>
            </a:pPr>
            <a:endParaRPr lang="el-GR" sz="1600" b="1"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Είναι σημαντικό, με τεχνικές όπως η Ανάκτηση Πληροφορίας (και άλλες), να αντιμετωπιστούν οι παραπάνω προκλήσεις έτσι ώστε να γίνει η χρήση των </a:t>
            </a:r>
            <a:r>
              <a:rPr lang="en-US" sz="1600" dirty="0">
                <a:solidFill>
                  <a:schemeClr val="tx1">
                    <a:lumMod val="85000"/>
                    <a:lumOff val="15000"/>
                  </a:schemeClr>
                </a:solidFill>
              </a:rPr>
              <a:t>LLM</a:t>
            </a:r>
            <a:r>
              <a:rPr lang="el-GR" sz="1600" dirty="0">
                <a:solidFill>
                  <a:schemeClr val="tx1">
                    <a:lumMod val="85000"/>
                    <a:lumOff val="15000"/>
                  </a:schemeClr>
                </a:solidFill>
              </a:rPr>
              <a:t> πιο ασφαλής και έμπιστη.</a:t>
            </a:r>
            <a:endParaRPr lang="en-US" sz="1600" dirty="0">
              <a:solidFill>
                <a:schemeClr val="tx1">
                  <a:lumMod val="85000"/>
                  <a:lumOff val="15000"/>
                </a:schemeClr>
              </a:solidFill>
            </a:endParaRPr>
          </a:p>
          <a:p>
            <a:pPr marL="342900" indent="-342900">
              <a:buFont typeface="+mj-lt"/>
              <a:buAutoNum type="arabicParenR"/>
            </a:pPr>
            <a:endParaRPr lang="en-US" sz="1400" dirty="0"/>
          </a:p>
          <a:p>
            <a:endParaRPr lang="el-GR" sz="1400" dirty="0"/>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420624" y="169140"/>
            <a:ext cx="8659368" cy="956500"/>
          </a:xfrm>
        </p:spPr>
        <p:txBody>
          <a:bodyPr/>
          <a:lstStyle/>
          <a:p>
            <a:pPr algn="ctr"/>
            <a:r>
              <a:rPr lang="en-US" dirty="0">
                <a:solidFill>
                  <a:schemeClr val="tx1">
                    <a:lumMod val="85000"/>
                    <a:lumOff val="15000"/>
                  </a:schemeClr>
                </a:solidFill>
              </a:rPr>
              <a:t>Retrieval-augmented generation (rag)</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173736" y="1194574"/>
            <a:ext cx="8769096" cy="5480546"/>
          </a:xfrm>
        </p:spPr>
        <p:txBody>
          <a:bodyPr>
            <a:normAutofit lnSpcReduction="10000"/>
          </a:bodyPr>
          <a:lstStyle/>
          <a:p>
            <a:pPr marL="285750" indent="-285750">
              <a:buFont typeface="Arial" panose="020B0604020202020204" pitchFamily="34" charset="0"/>
              <a:buChar char="•"/>
            </a:pPr>
            <a:r>
              <a:rPr lang="el-GR" sz="1400" dirty="0">
                <a:solidFill>
                  <a:schemeClr val="bg2">
                    <a:lumMod val="25000"/>
                  </a:schemeClr>
                </a:solidFill>
              </a:rPr>
              <a:t>Το Retrieval Augmented Generation (RAG) είναι μια αρχιτεκτονική που συνδυάζει τις δυνατότητες Ανάκτησης Πληροφορίας με τη γλωσσική παραγωγή των Μεγάλων Γλωσσικών Μοντέλων, με σκοπό την παραγωγή πιο αξιόπιστων και επικυρωμένων απαντήσεων, σε σχέση με τα δεδομένα που έχει στην διάθεση του το μοντέλο για την διατύπωση και ανάπτυξή τους. Με απλά λόγια, το RAG εισάγει ένα στάδιο ανάκτησης πριν ή κατά τη διάρκεια της παραγωγής κειμένου από το LLM</a:t>
            </a:r>
            <a:r>
              <a:rPr lang="en-US" sz="1400" dirty="0">
                <a:solidFill>
                  <a:schemeClr val="bg2">
                    <a:lumMod val="25000"/>
                  </a:schemeClr>
                </a:solidFill>
              </a:rPr>
              <a:t>. </a:t>
            </a:r>
            <a:r>
              <a:rPr lang="el-GR" sz="1400" dirty="0">
                <a:solidFill>
                  <a:schemeClr val="bg2">
                    <a:lumMod val="25000"/>
                  </a:schemeClr>
                </a:solidFill>
              </a:rPr>
              <a:t>Συνεπώς, αφού το LLM διαθέτει πλέον τεκμήρια, το τελικό αποτέλεσμα που παράγει μετά απο κάθε query ενισχύεται με βάση αυτά.</a:t>
            </a:r>
            <a:endParaRPr lang="en-US" sz="1400" dirty="0">
              <a:solidFill>
                <a:schemeClr val="bg2">
                  <a:lumMod val="25000"/>
                </a:schemeClr>
              </a:solidFill>
            </a:endParaRPr>
          </a:p>
          <a:p>
            <a:pPr marL="285750" indent="-285750">
              <a:buFont typeface="Arial" panose="020B0604020202020204" pitchFamily="34" charset="0"/>
              <a:buChar char="•"/>
            </a:pPr>
            <a:r>
              <a:rPr lang="el-GR" sz="1400" dirty="0">
                <a:solidFill>
                  <a:schemeClr val="bg2">
                    <a:lumMod val="25000"/>
                  </a:schemeClr>
                </a:solidFill>
              </a:rPr>
              <a:t>Στην ουσία, όταν δίνεται ένα ερώτημα, το </a:t>
            </a:r>
            <a:r>
              <a:rPr lang="en-US" sz="1400" dirty="0">
                <a:solidFill>
                  <a:schemeClr val="bg2">
                    <a:lumMod val="25000"/>
                  </a:schemeClr>
                </a:solidFill>
              </a:rPr>
              <a:t>RAG </a:t>
            </a:r>
            <a:r>
              <a:rPr lang="el-GR" sz="1400" dirty="0">
                <a:solidFill>
                  <a:schemeClr val="bg2">
                    <a:lumMod val="25000"/>
                  </a:schemeClr>
                </a:solidFill>
              </a:rPr>
              <a:t>σύστημα αναζητά στα διαθέσιμα έγγραφα τα πιο σχετικά αποσπάσματα σε σχέση με το ερώτημα. Έπειτα χρησιμοποιεί τα ανεκτημένα κομμάτια για να ενισχύσει το </a:t>
            </a:r>
            <a:r>
              <a:rPr lang="en-US" sz="1400" dirty="0">
                <a:solidFill>
                  <a:schemeClr val="bg2">
                    <a:lumMod val="25000"/>
                  </a:schemeClr>
                </a:solidFill>
              </a:rPr>
              <a:t>prompt</a:t>
            </a:r>
            <a:r>
              <a:rPr lang="el-GR" sz="1400" dirty="0">
                <a:solidFill>
                  <a:schemeClr val="bg2">
                    <a:lumMod val="25000"/>
                  </a:schemeClr>
                </a:solidFill>
              </a:rPr>
              <a:t> και τέλος, παράγει την τελική απάντηση χρησιμοποιώντας το μοντέλο, το οποίο έχει πλέον πρόσβαση στο τεκμηριωμένο περιεχόμενο. Ως αποτέλεσμα η απάντηση είναι πολύ πιο πιθανό να είναι πιστή στην πραγματικότητα και τεκμηριωμένη με βάση τα κείμενα που λειτουργούν ως βάση γνώσης.</a:t>
            </a:r>
          </a:p>
          <a:p>
            <a:pPr marL="285750" indent="-285750">
              <a:buFont typeface="Arial" panose="020B0604020202020204" pitchFamily="34" charset="0"/>
              <a:buChar char="•"/>
            </a:pPr>
            <a:r>
              <a:rPr lang="el-GR" sz="1400" dirty="0">
                <a:solidFill>
                  <a:schemeClr val="bg2">
                    <a:lumMod val="25000"/>
                  </a:schemeClr>
                </a:solidFill>
              </a:rPr>
              <a:t>Το μοντέλο δεν βασίζεται μόνο στην εσωτερική μνήμη των παραμέτρων του, αλλά οδηγείται σε πραγματικά τεκμήρια για να δομήσει απαντήσεις. Τ</a:t>
            </a:r>
            <a:r>
              <a:rPr lang="el-GR" sz="1400" dirty="0"/>
              <a:t>ο </a:t>
            </a:r>
            <a:r>
              <a:rPr lang="en-US" sz="1400" dirty="0">
                <a:solidFill>
                  <a:schemeClr val="bg2">
                    <a:lumMod val="25000"/>
                  </a:schemeClr>
                </a:solidFill>
              </a:rPr>
              <a:t>RAG </a:t>
            </a:r>
            <a:r>
              <a:rPr lang="el-GR" sz="1400" dirty="0">
                <a:solidFill>
                  <a:schemeClr val="bg2">
                    <a:lumMod val="25000"/>
                  </a:schemeClr>
                </a:solidFill>
              </a:rPr>
              <a:t>επιτρέπει στο μοντέλο να συμβουλεύεται μια βάση γνώσης ως ενδιάμεσο βήμα πριν αποφασίσει τι να απαντήσει για κάθε ερώτημα του χρήστη.</a:t>
            </a:r>
            <a:endParaRPr lang="en-US" sz="1400" dirty="0">
              <a:solidFill>
                <a:schemeClr val="bg2">
                  <a:lumMod val="25000"/>
                </a:schemeClr>
              </a:solidFill>
            </a:endParaRPr>
          </a:p>
          <a:p>
            <a:pPr marL="285750" indent="-285750">
              <a:buFont typeface="Arial" panose="020B0604020202020204" pitchFamily="34" charset="0"/>
              <a:buChar char="•"/>
            </a:pPr>
            <a:r>
              <a:rPr lang="el-GR" sz="1400" dirty="0">
                <a:solidFill>
                  <a:schemeClr val="bg2">
                    <a:lumMod val="25000"/>
                  </a:schemeClr>
                </a:solidFill>
              </a:rPr>
              <a:t>Με την χρήση του RAG, ξεπερνιούνται αρκετοί από τους περιορισμούς των </a:t>
            </a:r>
            <a:r>
              <a:rPr lang="en-US" sz="1400" dirty="0">
                <a:solidFill>
                  <a:schemeClr val="bg2">
                    <a:lumMod val="25000"/>
                  </a:schemeClr>
                </a:solidFill>
              </a:rPr>
              <a:t>LLMs (</a:t>
            </a:r>
            <a:r>
              <a:rPr lang="el-GR" sz="1400" dirty="0">
                <a:solidFill>
                  <a:schemeClr val="bg2">
                    <a:lumMod val="25000"/>
                  </a:schemeClr>
                </a:solidFill>
              </a:rPr>
              <a:t>που αναφέρθηκαν πριν).</a:t>
            </a:r>
          </a:p>
          <a:p>
            <a:pPr marL="285750" indent="-285750">
              <a:buFont typeface="Arial" panose="020B0604020202020204" pitchFamily="34" charset="0"/>
              <a:buChar char="•"/>
            </a:pPr>
            <a:r>
              <a:rPr lang="el-GR" sz="1400" dirty="0">
                <a:solidFill>
                  <a:schemeClr val="bg2">
                    <a:lumMod val="25000"/>
                  </a:schemeClr>
                </a:solidFill>
              </a:rPr>
              <a:t>Συγκεκριμένα, το </a:t>
            </a:r>
            <a:r>
              <a:rPr lang="en-US" sz="1400" dirty="0">
                <a:solidFill>
                  <a:schemeClr val="bg2">
                    <a:lumMod val="25000"/>
                  </a:schemeClr>
                </a:solidFill>
              </a:rPr>
              <a:t>RAG </a:t>
            </a:r>
            <a:r>
              <a:rPr lang="el-GR" sz="1400" dirty="0">
                <a:solidFill>
                  <a:schemeClr val="bg2">
                    <a:lumMod val="25000"/>
                  </a:schemeClr>
                </a:solidFill>
              </a:rPr>
              <a:t>μπορεί να φανεί ιδιαίτερα χρήσιμο σε </a:t>
            </a:r>
            <a:r>
              <a:rPr lang="en-US" sz="1400" dirty="0">
                <a:solidFill>
                  <a:schemeClr val="bg2">
                    <a:lumMod val="25000"/>
                  </a:schemeClr>
                </a:solidFill>
              </a:rPr>
              <a:t>QA tasks </a:t>
            </a:r>
            <a:r>
              <a:rPr lang="el-GR" sz="1400" dirty="0">
                <a:solidFill>
                  <a:schemeClr val="bg2">
                    <a:lumMod val="25000"/>
                  </a:schemeClr>
                </a:solidFill>
              </a:rPr>
              <a:t>αφού μπορεί να αντλήσει σημαντικές και έγκυρες πληροφορίες απο την βάση δεδομένων, τόσο για την σύνθεση των ερωτήσεων, όσο</a:t>
            </a:r>
            <a:r>
              <a:rPr lang="en-US" sz="1400" dirty="0">
                <a:solidFill>
                  <a:schemeClr val="bg2">
                    <a:lumMod val="25000"/>
                  </a:schemeClr>
                </a:solidFill>
              </a:rPr>
              <a:t> </a:t>
            </a:r>
            <a:r>
              <a:rPr lang="el-GR" sz="1400" dirty="0">
                <a:solidFill>
                  <a:schemeClr val="bg2">
                    <a:lumMod val="25000"/>
                  </a:schemeClr>
                </a:solidFill>
              </a:rPr>
              <a:t>και των απαντήσεων</a:t>
            </a:r>
            <a:r>
              <a:rPr lang="en-US" sz="1400" dirty="0">
                <a:solidFill>
                  <a:schemeClr val="bg2">
                    <a:lumMod val="25000"/>
                  </a:schemeClr>
                </a:solidFill>
              </a:rPr>
              <a:t>. </a:t>
            </a:r>
            <a:r>
              <a:rPr lang="el-GR" sz="1400" dirty="0">
                <a:solidFill>
                  <a:schemeClr val="bg2">
                    <a:lumMod val="25000"/>
                  </a:schemeClr>
                </a:solidFill>
              </a:rPr>
              <a:t>Παράλληλα, η εφαρμογή του παρουσιάζει καλύτερα αποτελέσματα, όταν μιλάμε για εξειδικευμένους τομείς και βάσεις γνώσεις.</a:t>
            </a:r>
          </a:p>
          <a:p>
            <a:pPr marL="285750" indent="-285750">
              <a:buFont typeface="Arial" panose="020B0604020202020204" pitchFamily="34" charset="0"/>
              <a:buChar char="•"/>
            </a:pPr>
            <a:r>
              <a:rPr lang="el-GR" sz="1400" dirty="0">
                <a:solidFill>
                  <a:schemeClr val="bg2">
                    <a:lumMod val="25000"/>
                  </a:schemeClr>
                </a:solidFill>
              </a:rPr>
              <a:t>Στο πλαίσιο της εργασίας αυτής, δόθηκε ιδιαίτερη έμφαση στην εφαρμογή του RAG στον χώρο των συστημάτων ερωταπαντήσεων, συνδυάζοντάς τον με τον χώρο της εκπαίδευσης για να υπάρχει ένα καλύτερο αποτέλεσμα τόσο στην εγκυρότητα των παραγόμενων ερωτήσεων που βλέπει ο χρήστης, όσο και στον εντοπισμό των κατάλληλων και σωστών απαντήσεων για την κάθε ερώτηση</a:t>
            </a:r>
            <a:r>
              <a:rPr lang="el-GR" sz="1400" dirty="0"/>
              <a:t>.</a:t>
            </a:r>
            <a:endParaRPr lang="en-US" sz="1400" dirty="0">
              <a:solidFill>
                <a:schemeClr val="bg2">
                  <a:lumMod val="25000"/>
                </a:schemeClr>
              </a:solidFill>
            </a:endParaRPr>
          </a:p>
        </p:txBody>
      </p:sp>
      <p:pic>
        <p:nvPicPr>
          <p:cNvPr id="5" name="Picture 4">
            <a:extLst>
              <a:ext uri="{FF2B5EF4-FFF2-40B4-BE49-F238E27FC236}">
                <a16:creationId xmlns:a16="http://schemas.microsoft.com/office/drawing/2014/main" id="{0BC7EA4C-26F7-0349-0220-32EAE41F8852}"/>
              </a:ext>
            </a:extLst>
          </p:cNvPr>
          <p:cNvPicPr>
            <a:picLocks noChangeAspect="1"/>
          </p:cNvPicPr>
          <p:nvPr/>
        </p:nvPicPr>
        <p:blipFill>
          <a:blip r:embed="rId3"/>
          <a:stretch>
            <a:fillRect/>
          </a:stretch>
        </p:blipFill>
        <p:spPr>
          <a:xfrm>
            <a:off x="8942832" y="1066557"/>
            <a:ext cx="3249168" cy="1648055"/>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3163825" y="457200"/>
            <a:ext cx="5248656" cy="1115569"/>
          </a:xfrm>
        </p:spPr>
        <p:txBody>
          <a:bodyPr/>
          <a:lstStyle/>
          <a:p>
            <a:pPr algn="ctr"/>
            <a:r>
              <a:rPr lang="el-GR" dirty="0">
                <a:solidFill>
                  <a:schemeClr val="tx1">
                    <a:lumMod val="85000"/>
                    <a:lumOff val="15000"/>
                  </a:schemeClr>
                </a:solidFill>
              </a:rPr>
              <a:t>Μερικα συγχρονα συστηματα </a:t>
            </a:r>
            <a:r>
              <a:rPr lang="en-US" dirty="0">
                <a:solidFill>
                  <a:schemeClr val="tx1">
                    <a:lumMod val="85000"/>
                    <a:lumOff val="15000"/>
                  </a:schemeClr>
                </a:solidFill>
              </a:rPr>
              <a:t>RAG</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128016" y="1664209"/>
            <a:ext cx="10378440" cy="4874070"/>
          </a:xfrm>
        </p:spPr>
        <p:txBody>
          <a:bodyPr>
            <a:normAutofit/>
          </a:bodyPr>
          <a:lstStyle/>
          <a:p>
            <a:pPr marL="285750" indent="-285750">
              <a:buFont typeface="Arial" panose="020B0604020202020204" pitchFamily="34" charset="0"/>
              <a:buChar char="•"/>
            </a:pPr>
            <a:r>
              <a:rPr lang="en-US" sz="1400" b="1" dirty="0">
                <a:solidFill>
                  <a:schemeClr val="bg2">
                    <a:lumMod val="25000"/>
                  </a:schemeClr>
                </a:solidFill>
              </a:rPr>
              <a:t>Self-RAG:</a:t>
            </a:r>
            <a:r>
              <a:rPr lang="en-US" sz="1400" dirty="0">
                <a:solidFill>
                  <a:schemeClr val="bg2">
                    <a:lumMod val="25000"/>
                  </a:schemeClr>
                </a:solidFill>
              </a:rPr>
              <a:t> </a:t>
            </a:r>
            <a:r>
              <a:rPr lang="el-GR" sz="1400" dirty="0">
                <a:solidFill>
                  <a:schemeClr val="bg2">
                    <a:lumMod val="25000"/>
                  </a:schemeClr>
                </a:solidFill>
              </a:rPr>
              <a:t>Εισάγει την έννοια του self-reflection στα συστήματα ανάκτησης και παραγωγής. Επιτρέπει στο ίδιο το LLM να ελέγχει πότε χρειάζεται ανάκτηση καθώς και να επανα-εξετάζει τις απαντήσεις του και να τις βελτιώνει. Το πετυχαίνει εισάγοντας </a:t>
            </a:r>
            <a:r>
              <a:rPr lang="en-US" sz="1400" dirty="0">
                <a:solidFill>
                  <a:schemeClr val="bg2">
                    <a:lumMod val="25000"/>
                  </a:schemeClr>
                </a:solidFill>
              </a:rPr>
              <a:t>reflection tokens </a:t>
            </a:r>
            <a:r>
              <a:rPr lang="el-GR" sz="1400" dirty="0">
                <a:solidFill>
                  <a:schemeClr val="bg2">
                    <a:lumMod val="25000"/>
                  </a:schemeClr>
                </a:solidFill>
              </a:rPr>
              <a:t>με τα οποία το μοντέλο σηματοδοτεί τρεις ενέργειες</a:t>
            </a:r>
            <a:r>
              <a:rPr lang="en-US" sz="1400" dirty="0">
                <a:solidFill>
                  <a:schemeClr val="bg2">
                    <a:lumMod val="25000"/>
                  </a:schemeClr>
                </a:solidFill>
              </a:rPr>
              <a:t>: retrieve, generate, critique</a:t>
            </a:r>
            <a:r>
              <a:rPr lang="el-GR" sz="1400" dirty="0">
                <a:solidFill>
                  <a:schemeClr val="bg2">
                    <a:lumMod val="25000"/>
                  </a:schemeClr>
                </a:solidFill>
              </a:rPr>
              <a:t>.</a:t>
            </a:r>
            <a:endParaRPr lang="en-US" sz="1400" dirty="0">
              <a:solidFill>
                <a:schemeClr val="bg2">
                  <a:lumMod val="25000"/>
                </a:schemeClr>
              </a:solidFill>
            </a:endParaRPr>
          </a:p>
          <a:p>
            <a:pPr marL="285750" indent="-285750">
              <a:buFont typeface="Arial" panose="020B0604020202020204" pitchFamily="34" charset="0"/>
              <a:buChar char="•"/>
            </a:pPr>
            <a:r>
              <a:rPr lang="en-US" sz="1400" b="1" dirty="0">
                <a:solidFill>
                  <a:schemeClr val="bg2">
                    <a:lumMod val="25000"/>
                  </a:schemeClr>
                </a:solidFill>
              </a:rPr>
              <a:t>Corrective Retrieval-Augmented Generation (CRAG): </a:t>
            </a:r>
            <a:r>
              <a:rPr lang="el-GR" sz="1400" dirty="0">
                <a:solidFill>
                  <a:schemeClr val="bg2">
                    <a:lumMod val="25000"/>
                  </a:schemeClr>
                </a:solidFill>
              </a:rPr>
              <a:t>Προτείνεται ένας μηχανισμός που επιτρέπει στα RAG συστήματα να ανιχνεύουν και να διορθώνουν λάθη ανάκτησης σε πραγματικό χρόνο. Τα τεκμήρια αξιολογούνται ως </a:t>
            </a:r>
            <a:r>
              <a:rPr lang="en-US" sz="1400" dirty="0">
                <a:solidFill>
                  <a:schemeClr val="bg2">
                    <a:lumMod val="25000"/>
                  </a:schemeClr>
                </a:solidFill>
              </a:rPr>
              <a:t>correct, ambiguous </a:t>
            </a:r>
            <a:r>
              <a:rPr lang="el-GR" sz="1400" dirty="0">
                <a:solidFill>
                  <a:schemeClr val="bg2">
                    <a:lumMod val="25000"/>
                  </a:schemeClr>
                </a:solidFill>
              </a:rPr>
              <a:t>ή </a:t>
            </a:r>
            <a:r>
              <a:rPr lang="en-US" sz="1400" dirty="0">
                <a:solidFill>
                  <a:schemeClr val="bg2">
                    <a:lumMod val="25000"/>
                  </a:schemeClr>
                </a:solidFill>
              </a:rPr>
              <a:t>incorrect. </a:t>
            </a:r>
            <a:r>
              <a:rPr lang="el-GR" sz="1400" dirty="0">
                <a:solidFill>
                  <a:schemeClr val="bg2">
                    <a:lumMod val="25000"/>
                  </a:schemeClr>
                </a:solidFill>
              </a:rPr>
              <a:t>Μετά γίνεται η διόρθωση.</a:t>
            </a:r>
          </a:p>
          <a:p>
            <a:pPr marL="285750" indent="-285750">
              <a:buFont typeface="Arial" panose="020B0604020202020204" pitchFamily="34" charset="0"/>
              <a:buChar char="•"/>
            </a:pPr>
            <a:r>
              <a:rPr lang="en-US" sz="1400" b="1" dirty="0">
                <a:solidFill>
                  <a:schemeClr val="bg2">
                    <a:lumMod val="25000"/>
                  </a:schemeClr>
                </a:solidFill>
              </a:rPr>
              <a:t>RAPTOR: Recursive Abstractive Processing for Tree-Organized Retrieval: </a:t>
            </a:r>
            <a:r>
              <a:rPr lang="en-US" sz="1400" dirty="0">
                <a:solidFill>
                  <a:schemeClr val="bg2">
                    <a:lumMod val="25000"/>
                  </a:schemeClr>
                </a:solidFill>
              </a:rPr>
              <a:t>O</a:t>
            </a:r>
            <a:r>
              <a:rPr lang="el-GR" sz="1400" dirty="0">
                <a:solidFill>
                  <a:schemeClr val="bg2">
                    <a:lumMod val="25000"/>
                  </a:schemeClr>
                </a:solidFill>
              </a:rPr>
              <a:t>ργανώνει τα δεδομένα σε μια ιεραρχική δενδροειδή δομή που συνδυάζει περιλήψεις σε πολλαπλά επίπεδα αφαίρεσης.</a:t>
            </a:r>
            <a:r>
              <a:rPr lang="en-US" sz="1400" dirty="0">
                <a:solidFill>
                  <a:schemeClr val="bg2">
                    <a:lumMod val="25000"/>
                  </a:schemeClr>
                </a:solidFill>
              </a:rPr>
              <a:t> </a:t>
            </a:r>
            <a:r>
              <a:rPr lang="el-GR" sz="1400" dirty="0">
                <a:solidFill>
                  <a:schemeClr val="bg2">
                    <a:lumMod val="25000"/>
                  </a:schemeClr>
                </a:solidFill>
              </a:rPr>
              <a:t>Χρησιμοποιούνται μοντέλα </a:t>
            </a:r>
            <a:r>
              <a:rPr lang="en-US" sz="1400" dirty="0">
                <a:solidFill>
                  <a:schemeClr val="bg2">
                    <a:lumMod val="25000"/>
                  </a:schemeClr>
                </a:solidFill>
              </a:rPr>
              <a:t>SBERT </a:t>
            </a:r>
            <a:r>
              <a:rPr lang="el-GR" sz="1400" dirty="0">
                <a:solidFill>
                  <a:schemeClr val="bg2">
                    <a:lumMod val="25000"/>
                  </a:schemeClr>
                </a:solidFill>
              </a:rPr>
              <a:t>για το </a:t>
            </a:r>
            <a:r>
              <a:rPr lang="en-US" sz="1400" dirty="0">
                <a:solidFill>
                  <a:schemeClr val="bg2">
                    <a:lumMod val="25000"/>
                  </a:schemeClr>
                </a:solidFill>
              </a:rPr>
              <a:t>tokenization </a:t>
            </a:r>
            <a:r>
              <a:rPr lang="el-GR" sz="1400" dirty="0">
                <a:solidFill>
                  <a:schemeClr val="bg2">
                    <a:lumMod val="25000"/>
                  </a:schemeClr>
                </a:solidFill>
              </a:rPr>
              <a:t>και χρησιμοποιούνται αλγόριθμοι διάσχυσης δέντρων για την αξιολόγηση των </a:t>
            </a:r>
            <a:r>
              <a:rPr lang="en-US" sz="1400" dirty="0">
                <a:solidFill>
                  <a:schemeClr val="bg2">
                    <a:lumMod val="25000"/>
                  </a:schemeClr>
                </a:solidFill>
              </a:rPr>
              <a:t>contexts</a:t>
            </a:r>
            <a:r>
              <a:rPr lang="el-GR" sz="1400" dirty="0">
                <a:solidFill>
                  <a:schemeClr val="bg2">
                    <a:lumMod val="25000"/>
                  </a:schemeClr>
                </a:solidFill>
              </a:rPr>
              <a:t>.</a:t>
            </a:r>
            <a:endParaRPr lang="en-US" sz="1400" dirty="0">
              <a:solidFill>
                <a:schemeClr val="bg2">
                  <a:lumMod val="25000"/>
                </a:schemeClr>
              </a:solidFill>
            </a:endParaRPr>
          </a:p>
          <a:p>
            <a:pPr marL="285750" indent="-285750">
              <a:buFont typeface="Arial" panose="020B0604020202020204" pitchFamily="34" charset="0"/>
              <a:buChar char="•"/>
            </a:pPr>
            <a:r>
              <a:rPr lang="en-US" sz="1400" b="1" dirty="0">
                <a:solidFill>
                  <a:schemeClr val="bg2">
                    <a:lumMod val="25000"/>
                  </a:schemeClr>
                </a:solidFill>
              </a:rPr>
              <a:t>RAFT: Adapting Language Model to Domain Specific RAG: </a:t>
            </a:r>
            <a:r>
              <a:rPr lang="en-US" sz="1400" dirty="0">
                <a:solidFill>
                  <a:schemeClr val="bg2">
                    <a:lumMod val="25000"/>
                  </a:schemeClr>
                </a:solidFill>
              </a:rPr>
              <a:t>A</a:t>
            </a:r>
            <a:r>
              <a:rPr lang="el-GR" sz="1400" dirty="0">
                <a:solidFill>
                  <a:schemeClr val="bg2">
                    <a:lumMod val="25000"/>
                  </a:schemeClr>
                </a:solidFill>
              </a:rPr>
              <a:t>ποτελεί μια μέθοδο εκπαίδευσης που επιτρέπει στα Μεγάλα Γλωσσικά Μοντέλα να προσαρμόζονται σε εξειδικευμένους τομείς γνώσης, βελτιώνοντας την ικανότητά τους να αξιοποιούν τις πληροφορίες που προέρχονται από εξωτερικά συστήματα ανάκτησης.</a:t>
            </a:r>
            <a:r>
              <a:rPr lang="en-US" sz="1400" dirty="0">
                <a:solidFill>
                  <a:schemeClr val="bg2">
                    <a:lumMod val="25000"/>
                  </a:schemeClr>
                </a:solidFill>
              </a:rPr>
              <a:t> </a:t>
            </a:r>
            <a:r>
              <a:rPr lang="el-GR" sz="1400" dirty="0">
                <a:solidFill>
                  <a:schemeClr val="bg2">
                    <a:lumMod val="25000"/>
                  </a:schemeClr>
                </a:solidFill>
              </a:rPr>
              <a:t>Δεν εκπαιδεύεται όλο το </a:t>
            </a:r>
            <a:r>
              <a:rPr lang="en-US" sz="1400" dirty="0">
                <a:solidFill>
                  <a:schemeClr val="bg2">
                    <a:lumMod val="25000"/>
                  </a:schemeClr>
                </a:solidFill>
              </a:rPr>
              <a:t>pipeline, </a:t>
            </a:r>
            <a:r>
              <a:rPr lang="el-GR" sz="1400" dirty="0">
                <a:solidFill>
                  <a:schemeClr val="bg2">
                    <a:lumMod val="25000"/>
                  </a:schemeClr>
                </a:solidFill>
              </a:rPr>
              <a:t>αλλά βελτιστοποιείται η απόδοση μέσω κάποιων </a:t>
            </a:r>
            <a:r>
              <a:rPr lang="en-US" sz="1400" dirty="0">
                <a:solidFill>
                  <a:schemeClr val="bg2">
                    <a:lumMod val="25000"/>
                  </a:schemeClr>
                </a:solidFill>
              </a:rPr>
              <a:t>golden documents</a:t>
            </a:r>
            <a:r>
              <a:rPr lang="el-GR" sz="1400" dirty="0">
                <a:solidFill>
                  <a:schemeClr val="bg2">
                    <a:lumMod val="25000"/>
                  </a:schemeClr>
                </a:solidFill>
              </a:rPr>
              <a:t>.</a:t>
            </a:r>
            <a:endParaRPr lang="en-US" sz="1400" dirty="0">
              <a:solidFill>
                <a:schemeClr val="bg2">
                  <a:lumMod val="25000"/>
                </a:schemeClr>
              </a:solidFill>
            </a:endParaRPr>
          </a:p>
          <a:p>
            <a:pPr marL="285750" indent="-285750">
              <a:buFont typeface="Arial" panose="020B0604020202020204" pitchFamily="34" charset="0"/>
              <a:buChar char="•"/>
            </a:pPr>
            <a:r>
              <a:rPr lang="en-US" sz="1400" b="1" dirty="0">
                <a:solidFill>
                  <a:schemeClr val="bg2">
                    <a:lumMod val="25000"/>
                  </a:schemeClr>
                </a:solidFill>
              </a:rPr>
              <a:t>SELF-ROUTE:</a:t>
            </a:r>
            <a:r>
              <a:rPr lang="en-US" sz="1400" dirty="0">
                <a:solidFill>
                  <a:schemeClr val="bg2">
                    <a:lumMod val="25000"/>
                  </a:schemeClr>
                </a:solidFill>
              </a:rPr>
              <a:t> </a:t>
            </a:r>
            <a:r>
              <a:rPr lang="el-GR" sz="1400" dirty="0">
                <a:solidFill>
                  <a:schemeClr val="bg2">
                    <a:lumMod val="25000"/>
                  </a:schemeClr>
                </a:solidFill>
              </a:rPr>
              <a:t>Προτείνεται ένα σύστημα που συνδυάζει τα πλεονεκτήματα των </a:t>
            </a:r>
            <a:r>
              <a:rPr lang="en-US" sz="1400" dirty="0">
                <a:solidFill>
                  <a:schemeClr val="bg2">
                    <a:lumMod val="25000"/>
                  </a:schemeClr>
                </a:solidFill>
              </a:rPr>
              <a:t>Long Context LLMs (</a:t>
            </a:r>
            <a:r>
              <a:rPr lang="el-GR" sz="1400" dirty="0">
                <a:solidFill>
                  <a:schemeClr val="bg2">
                    <a:lumMod val="25000"/>
                  </a:schemeClr>
                </a:solidFill>
              </a:rPr>
              <a:t>πχ </a:t>
            </a:r>
            <a:r>
              <a:rPr lang="en-US" sz="1400" dirty="0">
                <a:solidFill>
                  <a:schemeClr val="bg2">
                    <a:lumMod val="25000"/>
                  </a:schemeClr>
                </a:solidFill>
              </a:rPr>
              <a:t>GPT-4o) </a:t>
            </a:r>
            <a:r>
              <a:rPr lang="el-GR" sz="1400" dirty="0">
                <a:solidFill>
                  <a:schemeClr val="bg2">
                    <a:lumMod val="25000"/>
                  </a:schemeClr>
                </a:solidFill>
              </a:rPr>
              <a:t>και του </a:t>
            </a:r>
            <a:r>
              <a:rPr lang="en-US" sz="1400" dirty="0">
                <a:solidFill>
                  <a:schemeClr val="bg2">
                    <a:lumMod val="25000"/>
                  </a:schemeClr>
                </a:solidFill>
              </a:rPr>
              <a:t>RAG, </a:t>
            </a:r>
            <a:r>
              <a:rPr lang="el-GR" sz="1400" dirty="0">
                <a:solidFill>
                  <a:schemeClr val="bg2">
                    <a:lumMod val="25000"/>
                  </a:schemeClr>
                </a:solidFill>
              </a:rPr>
              <a:t>για να παίρνει τα θετικά και των δύο (καλή λεκτική παραγωγή των </a:t>
            </a:r>
            <a:r>
              <a:rPr lang="en-US" sz="1400" dirty="0">
                <a:solidFill>
                  <a:schemeClr val="bg2">
                    <a:lumMod val="25000"/>
                  </a:schemeClr>
                </a:solidFill>
              </a:rPr>
              <a:t>LC LLMs </a:t>
            </a:r>
            <a:r>
              <a:rPr lang="el-GR" sz="1400" dirty="0">
                <a:solidFill>
                  <a:schemeClr val="bg2">
                    <a:lumMod val="25000"/>
                  </a:schemeClr>
                </a:solidFill>
              </a:rPr>
              <a:t>και τεκμηρίωση των συστημάτων </a:t>
            </a:r>
            <a:r>
              <a:rPr lang="en-US" sz="1400" dirty="0">
                <a:solidFill>
                  <a:schemeClr val="bg2">
                    <a:lumMod val="25000"/>
                  </a:schemeClr>
                </a:solidFill>
              </a:rPr>
              <a:t>RAG)</a:t>
            </a:r>
            <a:r>
              <a:rPr lang="el-GR" sz="1400" dirty="0">
                <a:solidFill>
                  <a:schemeClr val="bg2">
                    <a:lumMod val="25000"/>
                  </a:schemeClr>
                </a:solidFill>
              </a:rPr>
              <a:t>.</a:t>
            </a:r>
            <a:endParaRPr lang="en-US" sz="1400" dirty="0">
              <a:solidFill>
                <a:schemeClr val="bg2">
                  <a:lumMod val="25000"/>
                </a:schemeClr>
              </a:solidFill>
            </a:endParaRPr>
          </a:p>
          <a:p>
            <a:pPr marL="285750" indent="-285750">
              <a:buFont typeface="Arial" panose="020B0604020202020204" pitchFamily="34" charset="0"/>
              <a:buChar char="•"/>
            </a:pPr>
            <a:r>
              <a:rPr lang="el-GR" sz="1400" dirty="0">
                <a:solidFill>
                  <a:schemeClr val="bg2">
                    <a:lumMod val="25000"/>
                  </a:schemeClr>
                </a:solidFill>
              </a:rPr>
              <a:t>Η ύπαρξη των παραπάνω συστημάτων, δείχνει την σημασία των </a:t>
            </a:r>
            <a:r>
              <a:rPr lang="en-US" sz="1400" dirty="0">
                <a:solidFill>
                  <a:schemeClr val="bg2">
                    <a:lumMod val="25000"/>
                  </a:schemeClr>
                </a:solidFill>
              </a:rPr>
              <a:t>RAG </a:t>
            </a:r>
            <a:r>
              <a:rPr lang="el-GR" sz="1400" dirty="0">
                <a:solidFill>
                  <a:schemeClr val="bg2">
                    <a:lumMod val="25000"/>
                  </a:schemeClr>
                </a:solidFill>
              </a:rPr>
              <a:t>συστημάτων και πως είναι σημαντικό να μην γίνεται απλή χρήση των </a:t>
            </a:r>
            <a:r>
              <a:rPr lang="en-US" sz="1400" dirty="0">
                <a:solidFill>
                  <a:schemeClr val="bg2">
                    <a:lumMod val="25000"/>
                  </a:schemeClr>
                </a:solidFill>
              </a:rPr>
              <a:t>LLMs. </a:t>
            </a:r>
            <a:r>
              <a:rPr lang="el-GR" sz="1400" dirty="0">
                <a:solidFill>
                  <a:schemeClr val="bg2">
                    <a:lumMod val="25000"/>
                  </a:schemeClr>
                </a:solidFill>
              </a:rPr>
              <a:t> Στην συγκεκριμένη διπλωματική, εστιάσαμε στον τομέα της εκπαίδευσης γιατί θεωρήσαμε πως η ανάγκη για τεκμηρίωση εκεί, είναι μεγάλη.</a:t>
            </a:r>
            <a:endParaRPr lang="en-US" sz="1400" dirty="0">
              <a:solidFill>
                <a:schemeClr val="bg2">
                  <a:lumMod val="25000"/>
                </a:schemeClr>
              </a:solidFill>
            </a:endParaRP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2267712" y="-3431"/>
            <a:ext cx="7050024" cy="579502"/>
          </a:xfrm>
        </p:spPr>
        <p:txBody>
          <a:bodyPr/>
          <a:lstStyle/>
          <a:p>
            <a:pPr algn="ctr"/>
            <a:r>
              <a:rPr lang="el-GR" dirty="0">
                <a:solidFill>
                  <a:schemeClr val="tx1">
                    <a:lumMod val="85000"/>
                    <a:lumOff val="15000"/>
                  </a:schemeClr>
                </a:solidFill>
              </a:rPr>
              <a:t>Επεκταση ερωτηματων</a:t>
            </a:r>
            <a:endParaRPr lang="en-US" dirty="0">
              <a:solidFill>
                <a:schemeClr val="tx1">
                  <a:lumMod val="85000"/>
                  <a:lumOff val="15000"/>
                </a:schemeClr>
              </a:solidFill>
            </a:endParaRP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0" y="457199"/>
            <a:ext cx="8869680" cy="6265642"/>
          </a:xfrm>
        </p:spPr>
        <p:txBody>
          <a:bodyPr>
            <a:normAutofit fontScale="92500" lnSpcReduction="10000"/>
          </a:bodyPr>
          <a:lstStyle/>
          <a:p>
            <a:pPr marL="285750" indent="-285750">
              <a:buFont typeface="Arial" panose="020B0604020202020204" pitchFamily="34" charset="0"/>
              <a:buChar char="•"/>
            </a:pPr>
            <a:endParaRPr lang="el-GR" sz="1400" dirty="0"/>
          </a:p>
          <a:p>
            <a:pPr marL="285750" indent="-285750">
              <a:buFont typeface="Arial" panose="020B0604020202020204" pitchFamily="34" charset="0"/>
              <a:buChar char="•"/>
            </a:pPr>
            <a:r>
              <a:rPr lang="el-GR" sz="1400" dirty="0">
                <a:solidFill>
                  <a:schemeClr val="tx1">
                    <a:lumMod val="85000"/>
                    <a:lumOff val="15000"/>
                  </a:schemeClr>
                </a:solidFill>
              </a:rPr>
              <a:t>Η Επέκταση Ερωτημάτων (Query Expansion) είναι μια κλασική τεχνική στον χώρο της Ανάκτησης Πληροφορίας και της Επεξεργασίας Φυσικής Γλώσσας, που στοχεύει κυρίως στη βελτίωση της κατανόησης ερωτημάτων και απόδοσης των συστημάτων αναζήτησης και ερωταπαντήσεων. Στην απλούστερη μορφή της, περιλαμβάνει τον εμπλουτισμό του αρχικού ερωτήματος με επιπλέον λέξεις ή φράσεις που θεωρούνται σχετικές, ώστε να αυξηθεί η πιθανότητα ταυτοποίησης σχετικών εγγράφων στη βάση δεδομένων αλλά και η συνολική ποιότητα του ερωτήματος.</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Μπορεί να χρησιμοποιηθεί για εύρεση συνώνυμων, σχετικών λέξεων (πχ αντώνυμων), εύρεση μορφολογικών τύπων λέξεων, διόρθωση ορθογραφικών, επαναστάθμιση όρων στο αρχικό ερώτημα.</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Παλαιότερα, η Επέκταση Ερωτημάτων αφορούσε απλή εισαγωγή όρων. Πλέον,</a:t>
            </a:r>
            <a:r>
              <a:rPr lang="en-US" sz="1400" dirty="0">
                <a:solidFill>
                  <a:schemeClr val="tx1">
                    <a:lumMod val="85000"/>
                    <a:lumOff val="15000"/>
                  </a:schemeClr>
                </a:solidFill>
              </a:rPr>
              <a:t> </a:t>
            </a:r>
            <a:r>
              <a:rPr lang="el-GR" sz="1400" dirty="0">
                <a:solidFill>
                  <a:schemeClr val="tx1">
                    <a:lumMod val="85000"/>
                    <a:lumOff val="15000"/>
                  </a:schemeClr>
                </a:solidFill>
              </a:rPr>
              <a:t>με τα </a:t>
            </a:r>
            <a:r>
              <a:rPr lang="en-US" sz="1400" dirty="0">
                <a:solidFill>
                  <a:schemeClr val="tx1">
                    <a:lumMod val="85000"/>
                    <a:lumOff val="15000"/>
                  </a:schemeClr>
                </a:solidFill>
              </a:rPr>
              <a:t>LLMs, </a:t>
            </a:r>
            <a:r>
              <a:rPr lang="el-GR" sz="1400" dirty="0">
                <a:solidFill>
                  <a:schemeClr val="tx1">
                    <a:lumMod val="85000"/>
                    <a:lumOff val="15000"/>
                  </a:schemeClr>
                </a:solidFill>
              </a:rPr>
              <a:t>η φύση της αλλάζει.</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Η Επέκταση Ερωτημάτων, μπορεί να λύσει αρκετά προβλήματα των </a:t>
            </a:r>
            <a:r>
              <a:rPr lang="en-US" sz="1400" dirty="0">
                <a:solidFill>
                  <a:schemeClr val="tx1">
                    <a:lumMod val="85000"/>
                    <a:lumOff val="15000"/>
                  </a:schemeClr>
                </a:solidFill>
              </a:rPr>
              <a:t>LLMs, </a:t>
            </a:r>
            <a:r>
              <a:rPr lang="el-GR" sz="1400" dirty="0">
                <a:solidFill>
                  <a:schemeClr val="tx1">
                    <a:lumMod val="85000"/>
                    <a:lumOff val="15000"/>
                  </a:schemeClr>
                </a:solidFill>
              </a:rPr>
              <a:t>και ειδικά στο πλαίσιο εφαρμογής </a:t>
            </a:r>
            <a:r>
              <a:rPr lang="en-US" sz="1400" dirty="0">
                <a:solidFill>
                  <a:schemeClr val="tx1">
                    <a:lumMod val="85000"/>
                    <a:lumOff val="15000"/>
                  </a:schemeClr>
                </a:solidFill>
              </a:rPr>
              <a:t>RAG</a:t>
            </a:r>
            <a:r>
              <a:rPr lang="el-GR" sz="1400" dirty="0">
                <a:solidFill>
                  <a:schemeClr val="tx1">
                    <a:lumMod val="85000"/>
                    <a:lumOff val="15000"/>
                  </a:schemeClr>
                </a:solidFill>
              </a:rPr>
              <a:t>. Με την χρήση της επιτυγχάνεται μείωση παραισθήσεων(πιο σχετικό ερώτημα -&gt; πιο σχετική απάντηση),  κάλυψη ποικιλίας διατυπώσεων, βελτίωση ανάκτησης(συνώνυμα -&gt; πιο εύκολη αντιστοίχιση) και ευελιξία σε συγκεκριμένα πεδία(αυτόματη εξειδίκευση όρων).</a:t>
            </a:r>
          </a:p>
          <a:p>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Σε αυτό το πλαίσιο, η διαδικασία της Επέκτασης Ερωτημάτων αυτοματοποιείται</a:t>
            </a:r>
            <a:br>
              <a:rPr lang="el-GR" sz="1400" dirty="0">
                <a:solidFill>
                  <a:schemeClr val="tx1">
                    <a:lumMod val="85000"/>
                    <a:lumOff val="15000"/>
                  </a:schemeClr>
                </a:solidFill>
              </a:rPr>
            </a:br>
            <a:r>
              <a:rPr lang="el-GR" sz="1400" dirty="0">
                <a:solidFill>
                  <a:schemeClr val="tx1">
                    <a:lumMod val="85000"/>
                    <a:lumOff val="15000"/>
                  </a:schemeClr>
                </a:solidFill>
              </a:rPr>
              <a:t> αφού το μοντέλο έχει στην διαθεσή του τα σχετικά κείμενα για κάθε ερώτημα.</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Πραγματοποιήσαμε μια </a:t>
            </a:r>
            <a:r>
              <a:rPr lang="en-US" sz="1400" dirty="0">
                <a:solidFill>
                  <a:schemeClr val="tx1">
                    <a:lumMod val="85000"/>
                    <a:lumOff val="15000"/>
                  </a:schemeClr>
                </a:solidFill>
              </a:rPr>
              <a:t>retrieval-based </a:t>
            </a:r>
            <a:r>
              <a:rPr lang="el-GR" sz="1400" dirty="0">
                <a:solidFill>
                  <a:schemeClr val="tx1">
                    <a:lumMod val="85000"/>
                    <a:lumOff val="15000"/>
                  </a:schemeClr>
                </a:solidFill>
              </a:rPr>
              <a:t>προσέγγιση για την </a:t>
            </a:r>
            <a:br>
              <a:rPr lang="el-GR" sz="1400" dirty="0">
                <a:solidFill>
                  <a:schemeClr val="tx1">
                    <a:lumMod val="85000"/>
                    <a:lumOff val="15000"/>
                  </a:schemeClr>
                </a:solidFill>
              </a:rPr>
            </a:br>
            <a:r>
              <a:rPr lang="el-GR" sz="1400" dirty="0">
                <a:solidFill>
                  <a:schemeClr val="tx1">
                    <a:lumMod val="85000"/>
                    <a:lumOff val="15000"/>
                  </a:schemeClr>
                </a:solidFill>
              </a:rPr>
              <a:t>επέκταση ερωτημάτων. Συγκεκριμένα, η αρχική διατύπωση του ερωτήματος</a:t>
            </a:r>
            <a:br>
              <a:rPr lang="el-GR" sz="1400" dirty="0">
                <a:solidFill>
                  <a:schemeClr val="tx1">
                    <a:lumMod val="85000"/>
                    <a:lumOff val="15000"/>
                  </a:schemeClr>
                </a:solidFill>
              </a:rPr>
            </a:br>
            <a:r>
              <a:rPr lang="el-GR" sz="1400" dirty="0">
                <a:solidFill>
                  <a:schemeClr val="tx1">
                    <a:lumMod val="85000"/>
                    <a:lumOff val="15000"/>
                  </a:schemeClr>
                </a:solidFill>
              </a:rPr>
              <a:t> χρησιμοποιείται για να ανακτηθούν σχετικά κείμενα ή αποσπάσματα από τη </a:t>
            </a:r>
            <a:br>
              <a:rPr lang="el-GR" sz="1400" dirty="0">
                <a:solidFill>
                  <a:schemeClr val="tx1">
                    <a:lumMod val="85000"/>
                    <a:lumOff val="15000"/>
                  </a:schemeClr>
                </a:solidFill>
              </a:rPr>
            </a:br>
            <a:r>
              <a:rPr lang="el-GR" sz="1400" dirty="0">
                <a:solidFill>
                  <a:schemeClr val="tx1">
                    <a:lumMod val="85000"/>
                    <a:lumOff val="15000"/>
                  </a:schemeClr>
                </a:solidFill>
              </a:rPr>
              <a:t>βάση γνώσης </a:t>
            </a:r>
            <a:r>
              <a:rPr lang="el-GR" sz="1400">
                <a:solidFill>
                  <a:schemeClr val="tx1">
                    <a:lumMod val="85000"/>
                    <a:lumOff val="15000"/>
                  </a:schemeClr>
                </a:solidFill>
              </a:rPr>
              <a:t>και  </a:t>
            </a:r>
            <a:r>
              <a:rPr lang="el-GR" sz="1400" dirty="0">
                <a:solidFill>
                  <a:schemeClr val="tx1">
                    <a:lumMod val="85000"/>
                    <a:lumOff val="15000"/>
                  </a:schemeClr>
                </a:solidFill>
              </a:rPr>
              <a:t>τα περιεχόμενα των αποσπασμάτων αξιοποιούνται </a:t>
            </a:r>
            <a:br>
              <a:rPr lang="el-GR" sz="1400" dirty="0">
                <a:solidFill>
                  <a:schemeClr val="tx1">
                    <a:lumMod val="85000"/>
                    <a:lumOff val="15000"/>
                  </a:schemeClr>
                </a:solidFill>
              </a:rPr>
            </a:br>
            <a:r>
              <a:rPr lang="el-GR" sz="1400" dirty="0">
                <a:solidFill>
                  <a:schemeClr val="tx1">
                    <a:lumMod val="85000"/>
                    <a:lumOff val="15000"/>
                  </a:schemeClr>
                </a:solidFill>
              </a:rPr>
              <a:t>για να εμπλουτιστεί ή να αναδιατυπωθεί το αρχικό ερώτημα.</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Έτσι επιτυγχάνεται η εξάλειψη στοιχείων που δεν βρίσκονται στο αρχικό ερώτημα,</a:t>
            </a:r>
            <a:br>
              <a:rPr lang="el-GR" sz="1400" dirty="0">
                <a:solidFill>
                  <a:schemeClr val="tx1">
                    <a:lumMod val="85000"/>
                    <a:lumOff val="15000"/>
                  </a:schemeClr>
                </a:solidFill>
              </a:rPr>
            </a:br>
            <a:r>
              <a:rPr lang="el-GR" sz="1400" dirty="0">
                <a:solidFill>
                  <a:schemeClr val="tx1">
                    <a:lumMod val="85000"/>
                    <a:lumOff val="15000"/>
                  </a:schemeClr>
                </a:solidFill>
              </a:rPr>
              <a:t>ο εμπλουτισμός με σχετικές πληφορίες που προσδίδουν σαφήνεια και η δημιουργία</a:t>
            </a:r>
            <a:br>
              <a:rPr lang="el-GR" sz="1400" dirty="0">
                <a:solidFill>
                  <a:schemeClr val="tx1">
                    <a:lumMod val="85000"/>
                    <a:lumOff val="15000"/>
                  </a:schemeClr>
                </a:solidFill>
              </a:rPr>
            </a:br>
            <a:r>
              <a:rPr lang="el-GR" sz="1400" dirty="0">
                <a:solidFill>
                  <a:schemeClr val="tx1">
                    <a:lumMod val="85000"/>
                    <a:lumOff val="15000"/>
                  </a:schemeClr>
                </a:solidFill>
              </a:rPr>
              <a:t>μιας πιο αξιόπιστης βάσης για την παραγωγή απάντησης απο το μοντέλο, ακόμη και</a:t>
            </a:r>
            <a:br>
              <a:rPr lang="el-GR" sz="1400" dirty="0">
                <a:solidFill>
                  <a:schemeClr val="tx1">
                    <a:lumMod val="85000"/>
                    <a:lumOff val="15000"/>
                  </a:schemeClr>
                </a:solidFill>
              </a:rPr>
            </a:br>
            <a:r>
              <a:rPr lang="el-GR" sz="1400" dirty="0">
                <a:solidFill>
                  <a:schemeClr val="tx1">
                    <a:lumMod val="85000"/>
                    <a:lumOff val="15000"/>
                  </a:schemeClr>
                </a:solidFill>
              </a:rPr>
              <a:t>σε περιπτώσεις που η ερώτηση δεν επεκταθεί (κάτι που σημαίνει ότι είναι ήδη  σύμφωνη </a:t>
            </a:r>
            <a:br>
              <a:rPr lang="el-GR" sz="1400" dirty="0">
                <a:solidFill>
                  <a:schemeClr val="tx1">
                    <a:lumMod val="85000"/>
                    <a:lumOff val="15000"/>
                  </a:schemeClr>
                </a:solidFill>
              </a:rPr>
            </a:br>
            <a:r>
              <a:rPr lang="el-GR" sz="1400" dirty="0">
                <a:solidFill>
                  <a:schemeClr val="tx1">
                    <a:lumMod val="85000"/>
                    <a:lumOff val="15000"/>
                  </a:schemeClr>
                </a:solidFill>
              </a:rPr>
              <a:t>με τα κείμενα.</a:t>
            </a:r>
          </a:p>
          <a:p>
            <a:pPr marL="285750" indent="-285750">
              <a:buFont typeface="Arial" panose="020B0604020202020204" pitchFamily="34" charset="0"/>
              <a:buChar char="•"/>
            </a:pPr>
            <a:endParaRPr lang="el-GR" sz="1400" dirty="0">
              <a:solidFill>
                <a:schemeClr val="tx1">
                  <a:lumMod val="85000"/>
                  <a:lumOff val="15000"/>
                </a:schemeClr>
              </a:solidFill>
            </a:endParaRPr>
          </a:p>
          <a:p>
            <a:pPr marL="285750" indent="-285750">
              <a:buFont typeface="Arial" panose="020B0604020202020204" pitchFamily="34" charset="0"/>
              <a:buChar char="•"/>
            </a:pPr>
            <a:r>
              <a:rPr lang="el-GR" sz="1400" dirty="0">
                <a:solidFill>
                  <a:schemeClr val="tx1">
                    <a:lumMod val="85000"/>
                    <a:lumOff val="15000"/>
                  </a:schemeClr>
                </a:solidFill>
              </a:rPr>
              <a:t>Με αυτό τον τρόπο συνολικά, ενισχύεται η ακρίβεια και η τεκμηρίωση σύμφωνα με τα δοθέντα κείμενα,  που είναι και ο κυριότερος στόχος της διπλωματικής.</a:t>
            </a:r>
            <a:br>
              <a:rPr lang="el-GR" sz="1400" dirty="0"/>
            </a:br>
            <a:endParaRPr lang="el-GR" sz="1400" dirty="0"/>
          </a:p>
          <a:p>
            <a:pPr marL="285750" indent="-285750">
              <a:buFont typeface="Arial" panose="020B0604020202020204" pitchFamily="34" charset="0"/>
              <a:buChar char="•"/>
            </a:pPr>
            <a:endParaRPr lang="el-GR" sz="1400" dirty="0"/>
          </a:p>
          <a:p>
            <a:pPr marL="285750" indent="-285750">
              <a:buFont typeface="Arial" panose="020B0604020202020204" pitchFamily="34" charset="0"/>
              <a:buChar char="•"/>
            </a:pPr>
            <a:endParaRPr lang="el-GR" sz="1400" dirty="0"/>
          </a:p>
          <a:p>
            <a:pPr marL="285750" indent="-285750">
              <a:buFont typeface="Arial" panose="020B0604020202020204" pitchFamily="34" charset="0"/>
              <a:buChar char="•"/>
            </a:pPr>
            <a:endParaRPr lang="el-GR" sz="1400"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pic>
        <p:nvPicPr>
          <p:cNvPr id="8" name="Picture 7">
            <a:extLst>
              <a:ext uri="{FF2B5EF4-FFF2-40B4-BE49-F238E27FC236}">
                <a16:creationId xmlns:a16="http://schemas.microsoft.com/office/drawing/2014/main" id="{9E31ABD7-2AB3-060F-CDBD-6D342138246F}"/>
              </a:ext>
            </a:extLst>
          </p:cNvPr>
          <p:cNvPicPr>
            <a:picLocks noChangeAspect="1"/>
          </p:cNvPicPr>
          <p:nvPr/>
        </p:nvPicPr>
        <p:blipFill>
          <a:blip r:embed="rId3"/>
          <a:stretch>
            <a:fillRect/>
          </a:stretch>
        </p:blipFill>
        <p:spPr>
          <a:xfrm>
            <a:off x="6536048" y="3465225"/>
            <a:ext cx="5563376" cy="2514951"/>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2861700" y="156261"/>
            <a:ext cx="7489679" cy="980844"/>
          </a:xfrm>
        </p:spPr>
        <p:txBody>
          <a:bodyPr/>
          <a:lstStyle/>
          <a:p>
            <a:pPr algn="ctr"/>
            <a:r>
              <a:rPr lang="el-GR" dirty="0">
                <a:solidFill>
                  <a:schemeClr val="tx1">
                    <a:lumMod val="85000"/>
                    <a:lumOff val="15000"/>
                  </a:schemeClr>
                </a:solidFill>
              </a:rPr>
              <a:t>Η Τεχνητη νοΗμοσΥνη στην εκπαιδευση</a:t>
            </a:r>
            <a:endParaRPr lang="en-US" dirty="0">
              <a:solidFill>
                <a:schemeClr val="tx1">
                  <a:lumMod val="85000"/>
                  <a:lumOff val="15000"/>
                </a:schemeClr>
              </a:solidFill>
            </a:endParaRP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
        <p:nvSpPr>
          <p:cNvPr id="7" name="Content Placeholder 6">
            <a:extLst>
              <a:ext uri="{FF2B5EF4-FFF2-40B4-BE49-F238E27FC236}">
                <a16:creationId xmlns:a16="http://schemas.microsoft.com/office/drawing/2014/main" id="{82329D33-52C2-B880-4B52-34081AE9CE16}"/>
              </a:ext>
            </a:extLst>
          </p:cNvPr>
          <p:cNvSpPr>
            <a:spLocks noGrp="1"/>
          </p:cNvSpPr>
          <p:nvPr>
            <p:ph sz="half" idx="1"/>
          </p:nvPr>
        </p:nvSpPr>
        <p:spPr>
          <a:xfrm>
            <a:off x="1261872" y="1137105"/>
            <a:ext cx="10698480" cy="5494731"/>
          </a:xfrm>
        </p:spPr>
        <p:txBody>
          <a:bodyPr>
            <a:noAutofit/>
          </a:bodyPr>
          <a:lstStyle/>
          <a:p>
            <a:r>
              <a:rPr lang="el-GR" sz="1400" dirty="0">
                <a:solidFill>
                  <a:schemeClr val="tx1">
                    <a:lumMod val="85000"/>
                    <a:lumOff val="15000"/>
                  </a:schemeClr>
                </a:solidFill>
              </a:rPr>
              <a:t>Τα πρώτα Έξυπνα Συστήματα Εκπαίδευσης (Intelligent Tutoring Systems-ITS) στόχευαν στην παροχή εξατομικευμένης υποστήριξης, προσαρμόζοντας την παρουσίαση υλικού στις ανάγκες κάθε μαθητή</a:t>
            </a:r>
          </a:p>
          <a:p>
            <a:endParaRPr lang="el-GR" sz="1400" dirty="0">
              <a:solidFill>
                <a:schemeClr val="tx1">
                  <a:lumMod val="85000"/>
                  <a:lumOff val="15000"/>
                </a:schemeClr>
              </a:solidFill>
            </a:endParaRPr>
          </a:p>
          <a:p>
            <a:r>
              <a:rPr lang="el-GR" sz="1400" dirty="0">
                <a:solidFill>
                  <a:schemeClr val="tx1">
                    <a:lumMod val="85000"/>
                    <a:lumOff val="15000"/>
                  </a:schemeClr>
                </a:solidFill>
              </a:rPr>
              <a:t>Σήμερα, η ραγδαία εξέλιξη της Μηχανικής Μάθησης και των Μεγάλων Γλωσσικών Μοντέλων καθιστά δυνατή την ανάπτυξη πολύ πιο ευέλικτων και ισχυρών εργαλείων, τα οποία υποστηρίζουν τόσο τη μάθηση όσο και τη διδασκαλία σε πραγματικό χρόνο.</a:t>
            </a:r>
          </a:p>
          <a:p>
            <a:endParaRPr lang="el-GR" sz="1400" dirty="0">
              <a:solidFill>
                <a:schemeClr val="tx1">
                  <a:lumMod val="85000"/>
                  <a:lumOff val="15000"/>
                </a:schemeClr>
              </a:solidFill>
            </a:endParaRPr>
          </a:p>
          <a:p>
            <a:r>
              <a:rPr lang="el-GR" sz="1400" dirty="0">
                <a:solidFill>
                  <a:schemeClr val="tx1">
                    <a:lumMod val="85000"/>
                    <a:lumOff val="15000"/>
                  </a:schemeClr>
                </a:solidFill>
              </a:rPr>
              <a:t>Στο πλαίσιο της Μηχανικής Μάθησης, η προσαρμοστική μάθηση μέσω ενός </a:t>
            </a:r>
            <a:r>
              <a:rPr lang="en-US" sz="1400" dirty="0">
                <a:solidFill>
                  <a:schemeClr val="tx1">
                    <a:lumMod val="85000"/>
                    <a:lumOff val="15000"/>
                  </a:schemeClr>
                </a:solidFill>
              </a:rPr>
              <a:t>feedback loop </a:t>
            </a:r>
            <a:r>
              <a:rPr lang="el-GR" sz="1400" dirty="0">
                <a:solidFill>
                  <a:schemeClr val="tx1">
                    <a:lumMod val="85000"/>
                    <a:lumOff val="15000"/>
                  </a:schemeClr>
                </a:solidFill>
              </a:rPr>
              <a:t>είναι ευρέως διαδεδομένη και χρησιμοποιείται.</a:t>
            </a:r>
          </a:p>
          <a:p>
            <a:endParaRPr lang="el-GR" sz="1400" dirty="0">
              <a:solidFill>
                <a:schemeClr val="tx1">
                  <a:lumMod val="85000"/>
                  <a:lumOff val="15000"/>
                </a:schemeClr>
              </a:solidFill>
            </a:endParaRPr>
          </a:p>
          <a:p>
            <a:r>
              <a:rPr lang="el-GR" sz="1400" dirty="0">
                <a:solidFill>
                  <a:schemeClr val="tx1">
                    <a:lumMod val="85000"/>
                    <a:lumOff val="15000"/>
                  </a:schemeClr>
                </a:solidFill>
              </a:rPr>
              <a:t>Στο πλαίσιο των </a:t>
            </a:r>
            <a:r>
              <a:rPr lang="en-US" sz="1400" dirty="0">
                <a:solidFill>
                  <a:schemeClr val="tx1">
                    <a:lumMod val="85000"/>
                    <a:lumOff val="15000"/>
                  </a:schemeClr>
                </a:solidFill>
              </a:rPr>
              <a:t>LLMs, </a:t>
            </a:r>
            <a:r>
              <a:rPr lang="el-GR" sz="1400" dirty="0">
                <a:solidFill>
                  <a:schemeClr val="tx1">
                    <a:lumMod val="85000"/>
                    <a:lumOff val="15000"/>
                  </a:schemeClr>
                </a:solidFill>
              </a:rPr>
              <a:t>η ικανότητά τους να κατανοούν και να παράγουν φυσική γλώσσα σε υψηλό επίπεδο έχει ανοίξει τον δρόμο για υλοποίηση εφαρμογών που άλλοτε απαιτούσαν ανθρώπινη εργασία και παρέμβαση, αλλά και πολύ χρόνο προετοιμασίας. Μια από τις πιο χαρακτηριστικές χρήσεις είναι η αυτόματη δημιουργία ερωτήσεων και απαντήσεων, κάτι που κάνουμε και εμείς στην εργασία αυτή.</a:t>
            </a:r>
          </a:p>
          <a:p>
            <a:endParaRPr lang="el-GR" sz="1400" dirty="0">
              <a:solidFill>
                <a:schemeClr val="tx1">
                  <a:lumMod val="85000"/>
                  <a:lumOff val="15000"/>
                </a:schemeClr>
              </a:solidFill>
            </a:endParaRPr>
          </a:p>
          <a:p>
            <a:r>
              <a:rPr lang="el-GR" sz="1400" dirty="0">
                <a:solidFill>
                  <a:schemeClr val="tx1">
                    <a:lumMod val="85000"/>
                    <a:lumOff val="15000"/>
                  </a:schemeClr>
                </a:solidFill>
              </a:rPr>
              <a:t>Τα </a:t>
            </a:r>
            <a:r>
              <a:rPr lang="en-US" sz="1400" dirty="0">
                <a:solidFill>
                  <a:schemeClr val="tx1">
                    <a:lumMod val="85000"/>
                    <a:lumOff val="15000"/>
                  </a:schemeClr>
                </a:solidFill>
              </a:rPr>
              <a:t>LLMs </a:t>
            </a:r>
            <a:r>
              <a:rPr lang="el-GR" sz="1400" dirty="0">
                <a:solidFill>
                  <a:schemeClr val="tx1">
                    <a:lumMod val="85000"/>
                    <a:lumOff val="15000"/>
                  </a:schemeClr>
                </a:solidFill>
              </a:rPr>
              <a:t>βοηθούν στην εκπαίδευση αφού προσφέρουν εξατομίκευση, κάνουν την πρόσβαση σε δεδομένα πιο εύκολη και διευκολύνουν την προσβασιμότητα.</a:t>
            </a:r>
          </a:p>
          <a:p>
            <a:endParaRPr lang="el-GR" sz="1400" dirty="0">
              <a:solidFill>
                <a:schemeClr val="tx1">
                  <a:lumMod val="85000"/>
                  <a:lumOff val="15000"/>
                </a:schemeClr>
              </a:solidFill>
            </a:endParaRPr>
          </a:p>
          <a:p>
            <a:r>
              <a:rPr lang="el-GR" sz="1400" dirty="0">
                <a:solidFill>
                  <a:schemeClr val="tx1">
                    <a:lumMod val="85000"/>
                    <a:lumOff val="15000"/>
                  </a:schemeClr>
                </a:solidFill>
              </a:rPr>
              <a:t>Υπάρχουν όμως και αρνητικά απο την χρήση της ΤΝ στην εκπαίδευση. Μερικά από αυτά</a:t>
            </a:r>
            <a:r>
              <a:rPr lang="en-US" sz="1400" dirty="0">
                <a:solidFill>
                  <a:schemeClr val="tx1">
                    <a:lumMod val="85000"/>
                    <a:lumOff val="15000"/>
                  </a:schemeClr>
                </a:solidFill>
              </a:rPr>
              <a:t>: </a:t>
            </a:r>
            <a:r>
              <a:rPr lang="el-GR" sz="1400" dirty="0">
                <a:solidFill>
                  <a:schemeClr val="tx1">
                    <a:lumMod val="85000"/>
                    <a:lumOff val="15000"/>
                  </a:schemeClr>
                </a:solidFill>
              </a:rPr>
              <a:t>ανακρίβειες/παραισθήσεις (δημιουργούνται λανθασμένες γνώσεις), κοινωνικές και ψυχολογικές επιπτώσεις (υπερβολική εξάρτηση απο ΤΝ, περιορισμός επαφής καθηγητή-μαθητή),  ανισότητες στην πρόσβαση(κάποια </a:t>
            </a:r>
            <a:r>
              <a:rPr lang="en-US" sz="1400" dirty="0">
                <a:solidFill>
                  <a:schemeClr val="tx1">
                    <a:lumMod val="85000"/>
                    <a:lumOff val="15000"/>
                  </a:schemeClr>
                </a:solidFill>
              </a:rPr>
              <a:t>local </a:t>
            </a:r>
            <a:r>
              <a:rPr lang="el-GR" sz="1400" dirty="0">
                <a:solidFill>
                  <a:schemeClr val="tx1">
                    <a:lumMod val="85000"/>
                    <a:lumOff val="15000"/>
                  </a:schemeClr>
                </a:solidFill>
              </a:rPr>
              <a:t>μοντέλα απαιτούν δυνατό σύστημα και κάποια </a:t>
            </a:r>
            <a:r>
              <a:rPr lang="en-US" sz="1400" dirty="0">
                <a:solidFill>
                  <a:schemeClr val="tx1">
                    <a:lumMod val="85000"/>
                    <a:lumOff val="15000"/>
                  </a:schemeClr>
                </a:solidFill>
              </a:rPr>
              <a:t>online </a:t>
            </a:r>
            <a:r>
              <a:rPr lang="el-GR" sz="1400" dirty="0">
                <a:solidFill>
                  <a:schemeClr val="tx1">
                    <a:lumMod val="85000"/>
                    <a:lumOff val="15000"/>
                  </a:schemeClr>
                </a:solidFill>
              </a:rPr>
              <a:t>απαιτούν συνδρομές), ζητήματα διαφάνειας(η </a:t>
            </a:r>
            <a:r>
              <a:rPr lang="en-US" sz="1400" dirty="0">
                <a:solidFill>
                  <a:schemeClr val="tx1">
                    <a:lumMod val="85000"/>
                    <a:lumOff val="15000"/>
                  </a:schemeClr>
                </a:solidFill>
              </a:rPr>
              <a:t>black box </a:t>
            </a:r>
            <a:r>
              <a:rPr lang="el-GR" sz="1400" dirty="0">
                <a:solidFill>
                  <a:schemeClr val="tx1">
                    <a:lumMod val="85000"/>
                    <a:lumOff val="15000"/>
                  </a:schemeClr>
                </a:solidFill>
              </a:rPr>
              <a:t>λειτουργία των</a:t>
            </a:r>
            <a:r>
              <a:rPr lang="en-US" sz="1400" dirty="0">
                <a:solidFill>
                  <a:schemeClr val="tx1">
                    <a:lumMod val="85000"/>
                    <a:lumOff val="15000"/>
                  </a:schemeClr>
                </a:solidFill>
              </a:rPr>
              <a:t> LLMs </a:t>
            </a:r>
            <a:r>
              <a:rPr lang="el-GR" sz="1400" dirty="0">
                <a:solidFill>
                  <a:schemeClr val="tx1">
                    <a:lumMod val="85000"/>
                    <a:lumOff val="15000"/>
                  </a:schemeClr>
                </a:solidFill>
              </a:rPr>
              <a:t>μπορεί να κάνει δύσκολο στον μαθητή να καταλάβει πως προέκυψαν κάποια πράγματα).</a:t>
            </a:r>
          </a:p>
          <a:p>
            <a:endParaRPr lang="el-GR" sz="1400" dirty="0">
              <a:solidFill>
                <a:schemeClr val="tx1">
                  <a:lumMod val="85000"/>
                  <a:lumOff val="15000"/>
                </a:schemeClr>
              </a:solidFill>
            </a:endParaRPr>
          </a:p>
          <a:p>
            <a:r>
              <a:rPr lang="el-GR" sz="1400" dirty="0">
                <a:solidFill>
                  <a:schemeClr val="tx1">
                    <a:lumMod val="85000"/>
                    <a:lumOff val="15000"/>
                  </a:schemeClr>
                </a:solidFill>
              </a:rPr>
              <a:t>Είναι σημαντικό να προχωρήσει η ΤΝ στον τομέα της εκπαίδευσης χωρίς να φοβόμαστε για τέτοιους κινδύνους. Με χρήση </a:t>
            </a:r>
            <a:r>
              <a:rPr lang="en-US" sz="1400" dirty="0">
                <a:solidFill>
                  <a:schemeClr val="tx1">
                    <a:lumMod val="85000"/>
                    <a:lumOff val="15000"/>
                  </a:schemeClr>
                </a:solidFill>
              </a:rPr>
              <a:t>RAG, </a:t>
            </a:r>
            <a:r>
              <a:rPr lang="el-GR" sz="1400" dirty="0">
                <a:solidFill>
                  <a:schemeClr val="tx1">
                    <a:lumMod val="85000"/>
                    <a:lumOff val="15000"/>
                  </a:schemeClr>
                </a:solidFill>
              </a:rPr>
              <a:t>κάποια προβλήματα καταπολεμούνται επιτυχώς.</a:t>
            </a:r>
            <a:endParaRPr lang="en-US" sz="1400" dirty="0">
              <a:solidFill>
                <a:schemeClr val="tx1">
                  <a:lumMod val="85000"/>
                  <a:lumOff val="15000"/>
                </a:schemeClr>
              </a:solidFill>
            </a:endParaRPr>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276244" y="93506"/>
            <a:ext cx="9875463" cy="999746"/>
          </a:xfrm>
        </p:spPr>
        <p:txBody>
          <a:bodyPr/>
          <a:lstStyle/>
          <a:p>
            <a:pPr algn="ctr"/>
            <a:r>
              <a:rPr lang="en-US" dirty="0">
                <a:solidFill>
                  <a:schemeClr val="tx1">
                    <a:lumMod val="85000"/>
                    <a:lumOff val="15000"/>
                  </a:schemeClr>
                </a:solidFill>
              </a:rPr>
              <a:t>Generate-then-ground </a:t>
            </a:r>
            <a:r>
              <a:rPr lang="el-GR" dirty="0">
                <a:solidFill>
                  <a:schemeClr val="tx1">
                    <a:lumMod val="85000"/>
                    <a:lumOff val="15000"/>
                  </a:schemeClr>
                </a:solidFill>
              </a:rPr>
              <a:t>και σχεση με την εργασια μας</a:t>
            </a:r>
            <a:endParaRPr lang="en-US" dirty="0">
              <a:solidFill>
                <a:schemeClr val="tx1">
                  <a:lumMod val="85000"/>
                  <a:lumOff val="15000"/>
                </a:schemeClr>
              </a:solidFill>
            </a:endParaRP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276244" y="1093252"/>
            <a:ext cx="10766404" cy="5671242"/>
          </a:xfrm>
        </p:spPr>
        <p:txBody>
          <a:bodyPr>
            <a:normAutofit/>
          </a:bodyPr>
          <a:lstStyle/>
          <a:p>
            <a:r>
              <a:rPr lang="el-GR" sz="1400" dirty="0">
                <a:solidFill>
                  <a:schemeClr val="tx1">
                    <a:lumMod val="85000"/>
                    <a:lumOff val="15000"/>
                  </a:schemeClr>
                </a:solidFill>
              </a:rPr>
              <a:t>Μια από τις εργασίες που αποτέλεσαν  πηγή έμπνευσης για την μεθοδολογία που ακολουθήσαμε στην παρούσα διπλωματική εργασία είναι η δημοσίευση “</a:t>
            </a:r>
            <a:r>
              <a:rPr lang="en-US" sz="1400" dirty="0">
                <a:solidFill>
                  <a:schemeClr val="tx1">
                    <a:lumMod val="85000"/>
                    <a:lumOff val="15000"/>
                  </a:schemeClr>
                </a:solidFill>
              </a:rPr>
              <a:t>Generate-then-Ground in Retrieval-Augmented Generation for Multi-Hop Question Answering”. </a:t>
            </a:r>
            <a:r>
              <a:rPr lang="el-GR" sz="1400" dirty="0">
                <a:solidFill>
                  <a:schemeClr val="tx1">
                    <a:lumMod val="85000"/>
                    <a:lumOff val="15000"/>
                  </a:schemeClr>
                </a:solidFill>
              </a:rPr>
              <a:t> Εστιάζει στον περιορισμό των παραισθήσεων.</a:t>
            </a:r>
          </a:p>
          <a:p>
            <a:r>
              <a:rPr lang="el-GR" sz="1400" dirty="0">
                <a:solidFill>
                  <a:schemeClr val="tx1">
                    <a:lumMod val="85000"/>
                    <a:lumOff val="15000"/>
                  </a:schemeClr>
                </a:solidFill>
              </a:rPr>
              <a:t>Σε αντίθεση με κλασικές μεθόδους</a:t>
            </a:r>
            <a:r>
              <a:rPr lang="en-US" sz="1400" dirty="0">
                <a:solidFill>
                  <a:schemeClr val="tx1">
                    <a:lumMod val="85000"/>
                    <a:lumOff val="15000"/>
                  </a:schemeClr>
                </a:solidFill>
              </a:rPr>
              <a:t> RAG</a:t>
            </a:r>
            <a:r>
              <a:rPr lang="el-GR" sz="1400" dirty="0">
                <a:solidFill>
                  <a:schemeClr val="tx1">
                    <a:lumMod val="85000"/>
                    <a:lumOff val="15000"/>
                  </a:schemeClr>
                </a:solidFill>
              </a:rPr>
              <a:t>, όπου πρώτα γίνεται η ανάκτηση αποσπασμάτων και στη συνέχεια η παραγωγή απάντησης, εδώ η διαδικασία αντιστρέφεται. Συγκεκριμένα, το μοντέλο πρώτα παράγει μια αρχική εκδοχή απάντησης και στη συνέχεια αυτή η απάντηση ελέγχεται και «γειώνεται» με χρήση τεκμηρίων απο εξωτερικές πηγές μέσω της διαδικασίας ανάκτησης.</a:t>
            </a:r>
            <a:r>
              <a:rPr lang="en-US" sz="1400" dirty="0">
                <a:solidFill>
                  <a:schemeClr val="tx1">
                    <a:lumMod val="85000"/>
                    <a:lumOff val="15000"/>
                  </a:schemeClr>
                </a:solidFill>
              </a:rPr>
              <a:t> </a:t>
            </a:r>
            <a:r>
              <a:rPr lang="el-GR" sz="1400" dirty="0">
                <a:solidFill>
                  <a:schemeClr val="tx1">
                    <a:lumMod val="85000"/>
                    <a:lumOff val="15000"/>
                  </a:schemeClr>
                </a:solidFill>
              </a:rPr>
              <a:t>Αυτό επιλέγεται διότι τα Μεγάλα Γλωσσικά Μοντέλα έχουν συχνά τη δυνατότητα να συνθέτουν μερικώς σωστές απαντήσεις, ακόμη και αν δεν διαθέτουν πλήρως την απαραίτητη πληροφορία. Χρησιμοποιώντας την αρχική παραγόμενη απάντηση ως οδηγό, το σύστημα αναζητά αποσπάσματα που επιβεβαιώνουν, διορθώνουν ή απορρίπτουν το αρχικό αποτέλεσμα. Με αυτόν τον τρόπο, η τελική απάντηση είναι πιο πιστή στις διαθέσιμες πηγές και η πιθανότητα παραισθήσεων μειώνεται σημαντικά. </a:t>
            </a:r>
          </a:p>
          <a:p>
            <a:r>
              <a:rPr lang="el-GR" sz="1400" dirty="0">
                <a:solidFill>
                  <a:schemeClr val="tx1">
                    <a:lumMod val="85000"/>
                    <a:lumOff val="15000"/>
                  </a:schemeClr>
                </a:solidFill>
              </a:rPr>
              <a:t>Στην ουσία</a:t>
            </a:r>
            <a:r>
              <a:rPr lang="en-US" sz="1400" dirty="0">
                <a:solidFill>
                  <a:schemeClr val="tx1">
                    <a:lumMod val="85000"/>
                    <a:lumOff val="15000"/>
                  </a:schemeClr>
                </a:solidFill>
              </a:rPr>
              <a:t>: </a:t>
            </a:r>
            <a:r>
              <a:rPr lang="el-GR" sz="1400" dirty="0">
                <a:solidFill>
                  <a:schemeClr val="tx1">
                    <a:lumMod val="85000"/>
                    <a:lumOff val="15000"/>
                  </a:schemeClr>
                </a:solidFill>
              </a:rPr>
              <a:t>Παράγεται η απάντηση από το μοντέλο, ανακτώνται, σχετικά με την απάντηση, κείμενα και η απάντηση γειώνεται απο το μοντέλο με βάση τα ανακτώμενα κείμενα.</a:t>
            </a:r>
          </a:p>
          <a:p>
            <a:r>
              <a:rPr lang="el-GR" sz="1400" dirty="0">
                <a:solidFill>
                  <a:schemeClr val="tx1">
                    <a:lumMod val="85000"/>
                    <a:lumOff val="15000"/>
                  </a:schemeClr>
                </a:solidFill>
              </a:rPr>
              <a:t>Η μεθοδολογία αυτή, εφαρμόστηκε για </a:t>
            </a:r>
            <a:r>
              <a:rPr lang="en-US" sz="1400" dirty="0">
                <a:solidFill>
                  <a:schemeClr val="tx1">
                    <a:lumMod val="85000"/>
                    <a:lumOff val="15000"/>
                  </a:schemeClr>
                </a:solidFill>
              </a:rPr>
              <a:t>multi-hop question answering. </a:t>
            </a:r>
            <a:r>
              <a:rPr lang="el-GR" sz="1400" dirty="0">
                <a:solidFill>
                  <a:schemeClr val="tx1">
                    <a:lumMod val="85000"/>
                    <a:lumOff val="15000"/>
                  </a:schemeClr>
                </a:solidFill>
              </a:rPr>
              <a:t>Εμείς, εξετάσαμε το αντίστροφο, δηλαδή την παραγωγή και γείωση ερωτήσεων αντί για απαντήσεις. Η γείωση στις ερωτήσεις είναι στην ουσία μια Επέκταση Ερωτημάτων. Η λογική που ακολουθήσαμε είναι</a:t>
            </a:r>
            <a:r>
              <a:rPr lang="en-US" sz="1400" dirty="0">
                <a:solidFill>
                  <a:schemeClr val="tx1">
                    <a:lumMod val="85000"/>
                    <a:lumOff val="15000"/>
                  </a:schemeClr>
                </a:solidFill>
              </a:rPr>
              <a:t>:</a:t>
            </a:r>
          </a:p>
          <a:p>
            <a:pPr marL="342900" indent="-342900">
              <a:buAutoNum type="arabicParenR"/>
            </a:pPr>
            <a:r>
              <a:rPr lang="el-GR" sz="1400" dirty="0">
                <a:solidFill>
                  <a:schemeClr val="tx1">
                    <a:lumMod val="85000"/>
                    <a:lumOff val="15000"/>
                  </a:schemeClr>
                </a:solidFill>
              </a:rPr>
              <a:t>Παραγωγή αρχικών/πρόχειρων ερωτήσεων-απαντήσεων μέσω </a:t>
            </a:r>
            <a:r>
              <a:rPr lang="en-US" sz="1400" dirty="0">
                <a:solidFill>
                  <a:schemeClr val="tx1">
                    <a:lumMod val="85000"/>
                    <a:lumOff val="15000"/>
                  </a:schemeClr>
                </a:solidFill>
              </a:rPr>
              <a:t>LLM prompt(</a:t>
            </a:r>
            <a:r>
              <a:rPr lang="el-GR" sz="1400" dirty="0">
                <a:solidFill>
                  <a:schemeClr val="tx1">
                    <a:lumMod val="85000"/>
                    <a:lumOff val="15000"/>
                  </a:schemeClr>
                </a:solidFill>
              </a:rPr>
              <a:t>οι ερωτήσεις αυτές μπορεί να είναι αρκετά ποιοτικές αλλά μπορεί να περιέχουν ασάφειες ή να μην είναι πλήρως σύμφωνες με το περιεχόμενο των αντίστοιχων κειμένων).</a:t>
            </a:r>
            <a:endParaRPr lang="en-US" sz="1400" dirty="0">
              <a:solidFill>
                <a:schemeClr val="tx1">
                  <a:lumMod val="85000"/>
                  <a:lumOff val="15000"/>
                </a:schemeClr>
              </a:solidFill>
            </a:endParaRPr>
          </a:p>
          <a:p>
            <a:pPr marL="342900" indent="-342900">
              <a:buAutoNum type="arabicParenR"/>
            </a:pPr>
            <a:r>
              <a:rPr lang="el-GR" sz="1400" dirty="0">
                <a:solidFill>
                  <a:schemeClr val="tx1">
                    <a:lumMod val="85000"/>
                    <a:lumOff val="15000"/>
                  </a:schemeClr>
                </a:solidFill>
              </a:rPr>
              <a:t>Ανάκτηση σχετικών αποσπασμάτων από την διαθέσιμη συλλογή κειμένων.</a:t>
            </a:r>
          </a:p>
          <a:p>
            <a:pPr marL="342900" indent="-342900">
              <a:buAutoNum type="arabicParenR"/>
            </a:pPr>
            <a:r>
              <a:rPr lang="el-GR" sz="1400" dirty="0">
                <a:solidFill>
                  <a:schemeClr val="tx1">
                    <a:lumMod val="85000"/>
                    <a:lumOff val="15000"/>
                  </a:schemeClr>
                </a:solidFill>
              </a:rPr>
              <a:t>Γείωση/Αναδιατύπωση(Επέκταση Ερωτήματος) σύμφωνα με τα ανακτημένα αποσπάσματα. Η ερώτηση είτε παραμένει ίδια,(αν κριθεί ότι είναι απολύτως σύμφωνη με τα κείμενα) είτε διατυπώνεται καλύτερα με παραπάνω ακρίβεια. Σε κάθε περίπτωση, γίνεται λιγότερο επιρρεπής σε παραισθήσεις.</a:t>
            </a:r>
          </a:p>
          <a:p>
            <a:r>
              <a:rPr lang="el-GR" sz="1400" dirty="0">
                <a:solidFill>
                  <a:schemeClr val="tx1">
                    <a:lumMod val="85000"/>
                    <a:lumOff val="15000"/>
                  </a:schemeClr>
                </a:solidFill>
              </a:rPr>
              <a:t>Η μεθολογία είναι ιδιαίτερα χρήσιμη σε παραγωγή </a:t>
            </a:r>
            <a:r>
              <a:rPr lang="en-US" sz="1400" dirty="0">
                <a:solidFill>
                  <a:schemeClr val="tx1">
                    <a:lumMod val="85000"/>
                    <a:lumOff val="15000"/>
                  </a:schemeClr>
                </a:solidFill>
              </a:rPr>
              <a:t>quiz, </a:t>
            </a:r>
            <a:r>
              <a:rPr lang="el-GR" sz="1400" dirty="0">
                <a:solidFill>
                  <a:schemeClr val="tx1">
                    <a:lumMod val="85000"/>
                    <a:lumOff val="15000"/>
                  </a:schemeClr>
                </a:solidFill>
              </a:rPr>
              <a:t>αφού οι ερωτήσεις είναι πάντοτε σύμφωνες με τα διαθέσιμα κείμενα / ύλη</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765974" y="473095"/>
            <a:ext cx="10511627" cy="471489"/>
          </a:xfrm>
        </p:spPr>
        <p:txBody>
          <a:bodyPr/>
          <a:lstStyle/>
          <a:p>
            <a:r>
              <a:rPr lang="el-GR" dirty="0">
                <a:solidFill>
                  <a:schemeClr val="tx1">
                    <a:lumMod val="85000"/>
                    <a:lumOff val="15000"/>
                  </a:schemeClr>
                </a:solidFill>
              </a:rPr>
              <a:t>ΓΕΝΙΚΗ ΠΕΡΙΓΡΑΦΗ ΣΥΣΤΗΜΑΤΟς</a:t>
            </a:r>
            <a:endParaRPr lang="en-US"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
        <p:nvSpPr>
          <p:cNvPr id="6" name="Content Placeholder 5">
            <a:extLst>
              <a:ext uri="{FF2B5EF4-FFF2-40B4-BE49-F238E27FC236}">
                <a16:creationId xmlns:a16="http://schemas.microsoft.com/office/drawing/2014/main" id="{19F060BB-DFAB-DF85-F815-C950F2F8D2CD}"/>
              </a:ext>
            </a:extLst>
          </p:cNvPr>
          <p:cNvSpPr>
            <a:spLocks noGrp="1"/>
          </p:cNvSpPr>
          <p:nvPr>
            <p:ph sz="quarter" idx="4"/>
          </p:nvPr>
        </p:nvSpPr>
        <p:spPr>
          <a:xfrm>
            <a:off x="484632" y="928689"/>
            <a:ext cx="11210544" cy="5335936"/>
          </a:xfrm>
        </p:spPr>
        <p:txBody>
          <a:bodyPr>
            <a:noAutofit/>
          </a:bodyPr>
          <a:lstStyle/>
          <a:p>
            <a:r>
              <a:rPr lang="el-GR" sz="1400" dirty="0">
                <a:solidFill>
                  <a:schemeClr val="tx1">
                    <a:lumMod val="85000"/>
                    <a:lumOff val="15000"/>
                  </a:schemeClr>
                </a:solidFill>
              </a:rPr>
              <a:t>Το σύστημα που αναπτύξαμε είναι ένα πολυεπίπεδο σύστημα παραγωγής ερωτήσεων και απαντήσεων, το οποίο βασίζεται στην χρήση Μεγάλων Γλωσσικών Μοντέλων με μηχανισμούς Ανάκτησης Πληροφορίας, </a:t>
            </a:r>
            <a:r>
              <a:rPr lang="en-US" sz="1400" dirty="0">
                <a:solidFill>
                  <a:schemeClr val="tx1">
                    <a:lumMod val="85000"/>
                    <a:lumOff val="15000"/>
                  </a:schemeClr>
                </a:solidFill>
              </a:rPr>
              <a:t>RAG, </a:t>
            </a:r>
            <a:r>
              <a:rPr lang="el-GR" sz="1400" dirty="0">
                <a:solidFill>
                  <a:schemeClr val="tx1">
                    <a:lumMod val="85000"/>
                    <a:lumOff val="15000"/>
                  </a:schemeClr>
                </a:solidFill>
              </a:rPr>
              <a:t>και Επέκτασης Ερωτημάτων. </a:t>
            </a:r>
            <a:endParaRPr lang="en-US" sz="1400" dirty="0">
              <a:solidFill>
                <a:schemeClr val="tx1">
                  <a:lumMod val="85000"/>
                  <a:lumOff val="15000"/>
                </a:schemeClr>
              </a:solidFill>
            </a:endParaRPr>
          </a:p>
          <a:p>
            <a:r>
              <a:rPr lang="el-GR" sz="1400" dirty="0">
                <a:solidFill>
                  <a:schemeClr val="tx1">
                    <a:lumMod val="85000"/>
                    <a:lumOff val="15000"/>
                  </a:schemeClr>
                </a:solidFill>
              </a:rPr>
              <a:t>Στόχος μας είναι η παραγωγή ποιοτικών και σχετικών με την συλλογή κειμένων ερωτήσεων και η επικυρωμένη απο τεκμήρια επιβεβαίωση απαντήσεων πάνω σε μια συλλογή κειμένων έτσι ώστε να ελαχιστοποιείται το φαινόμενο των παραισθήσεων.</a:t>
            </a:r>
          </a:p>
          <a:p>
            <a:r>
              <a:rPr lang="el-GR" sz="1400" dirty="0">
                <a:solidFill>
                  <a:schemeClr val="tx1">
                    <a:lumMod val="85000"/>
                    <a:lumOff val="15000"/>
                  </a:schemeClr>
                </a:solidFill>
              </a:rPr>
              <a:t>Το σύστημα λειτουργεί σε διαδοχικά στάδια</a:t>
            </a:r>
            <a:r>
              <a:rPr lang="en-US" sz="1400" dirty="0">
                <a:solidFill>
                  <a:schemeClr val="tx1">
                    <a:lumMod val="85000"/>
                    <a:lumOff val="15000"/>
                  </a:schemeClr>
                </a:solidFill>
              </a:rPr>
              <a:t>:</a:t>
            </a:r>
          </a:p>
          <a:p>
            <a:pPr marL="342900" indent="-342900">
              <a:buFont typeface="+mj-lt"/>
              <a:buAutoNum type="arabicParenR"/>
            </a:pPr>
            <a:r>
              <a:rPr lang="el-GR" sz="1400" dirty="0">
                <a:solidFill>
                  <a:schemeClr val="tx1">
                    <a:lumMod val="85000"/>
                    <a:lumOff val="15000"/>
                  </a:schemeClr>
                </a:solidFill>
              </a:rPr>
              <a:t>Παραγωγή αρχικών ερωτήσεων και απαντήσεων, μέσω </a:t>
            </a:r>
            <a:r>
              <a:rPr lang="en-US" sz="1400" dirty="0">
                <a:solidFill>
                  <a:schemeClr val="tx1">
                    <a:lumMod val="85000"/>
                    <a:lumOff val="15000"/>
                  </a:schemeClr>
                </a:solidFill>
              </a:rPr>
              <a:t>LLM prompt</a:t>
            </a:r>
          </a:p>
          <a:p>
            <a:pPr marL="342900" indent="-342900">
              <a:buFont typeface="+mj-lt"/>
              <a:buAutoNum type="arabicParenR"/>
            </a:pPr>
            <a:r>
              <a:rPr lang="el-GR" sz="1400" dirty="0">
                <a:solidFill>
                  <a:schemeClr val="tx1">
                    <a:lumMod val="85000"/>
                    <a:lumOff val="15000"/>
                  </a:schemeClr>
                </a:solidFill>
              </a:rPr>
              <a:t>Ανάκτηση σχετικών κειμένων σε σχέση με την κάθε ερώτηση (μέσω </a:t>
            </a:r>
            <a:r>
              <a:rPr lang="en-US" sz="1400" dirty="0">
                <a:solidFill>
                  <a:schemeClr val="tx1">
                    <a:lumMod val="85000"/>
                    <a:lumOff val="15000"/>
                  </a:schemeClr>
                </a:solidFill>
              </a:rPr>
              <a:t>BM25)</a:t>
            </a:r>
          </a:p>
          <a:p>
            <a:pPr marL="342900" indent="-342900">
              <a:buFont typeface="+mj-lt"/>
              <a:buAutoNum type="arabicParenR"/>
            </a:pPr>
            <a:r>
              <a:rPr lang="el-GR" sz="1400" dirty="0">
                <a:solidFill>
                  <a:schemeClr val="tx1">
                    <a:lumMod val="85000"/>
                    <a:lumOff val="15000"/>
                  </a:schemeClr>
                </a:solidFill>
              </a:rPr>
              <a:t>Γείωση/Επέκταση ερωτήσεων με βάση τα ανεκτημένα κείμενα</a:t>
            </a:r>
            <a:r>
              <a:rPr lang="en-US" sz="1400" dirty="0">
                <a:solidFill>
                  <a:schemeClr val="tx1">
                    <a:lumMod val="85000"/>
                    <a:lumOff val="15000"/>
                  </a:schemeClr>
                </a:solidFill>
              </a:rPr>
              <a:t>(</a:t>
            </a:r>
            <a:r>
              <a:rPr lang="el-GR" sz="1400" dirty="0">
                <a:solidFill>
                  <a:schemeClr val="tx1">
                    <a:lumMod val="85000"/>
                    <a:lumOff val="15000"/>
                  </a:schemeClr>
                </a:solidFill>
              </a:rPr>
              <a:t>μέσω </a:t>
            </a:r>
            <a:r>
              <a:rPr lang="en-US" sz="1400" dirty="0">
                <a:solidFill>
                  <a:schemeClr val="tx1">
                    <a:lumMod val="85000"/>
                    <a:lumOff val="15000"/>
                  </a:schemeClr>
                </a:solidFill>
              </a:rPr>
              <a:t>RAG)</a:t>
            </a:r>
            <a:r>
              <a:rPr lang="el-GR" sz="1400" dirty="0">
                <a:solidFill>
                  <a:schemeClr val="tx1">
                    <a:lumMod val="85000"/>
                    <a:lumOff val="15000"/>
                  </a:schemeClr>
                </a:solidFill>
              </a:rPr>
              <a:t> και αρχική προσπάθεια επικύρωσης απάντησης</a:t>
            </a:r>
          </a:p>
          <a:p>
            <a:pPr marL="342900" indent="-342900">
              <a:buFont typeface="+mj-lt"/>
              <a:buAutoNum type="arabicParenR"/>
            </a:pPr>
            <a:r>
              <a:rPr lang="el-GR" sz="1400" dirty="0">
                <a:solidFill>
                  <a:schemeClr val="tx1">
                    <a:lumMod val="85000"/>
                    <a:lumOff val="15000"/>
                  </a:schemeClr>
                </a:solidFill>
              </a:rPr>
              <a:t>Περικοπή μεγάλων απαντήσεων, και καλύτερη επικύρωση απάντησης</a:t>
            </a:r>
          </a:p>
          <a:p>
            <a:pPr marL="342900" indent="-342900">
              <a:buFont typeface="+mj-lt"/>
              <a:buAutoNum type="arabicParenR"/>
            </a:pPr>
            <a:r>
              <a:rPr lang="el-GR" sz="1400" dirty="0">
                <a:solidFill>
                  <a:schemeClr val="tx1">
                    <a:lumMod val="85000"/>
                    <a:lumOff val="15000"/>
                  </a:schemeClr>
                </a:solidFill>
              </a:rPr>
              <a:t>Επανεξέταση σημασμένων ως μη απαντήσιμων περιπτώσεων(μέσω εκ νέου </a:t>
            </a:r>
            <a:r>
              <a:rPr lang="en-US" sz="1400" dirty="0">
                <a:solidFill>
                  <a:schemeClr val="tx1">
                    <a:lumMod val="85000"/>
                    <a:lumOff val="15000"/>
                  </a:schemeClr>
                </a:solidFill>
              </a:rPr>
              <a:t>RAG)</a:t>
            </a:r>
            <a:r>
              <a:rPr lang="el-GR" sz="1400" dirty="0">
                <a:solidFill>
                  <a:schemeClr val="tx1">
                    <a:lumMod val="85000"/>
                    <a:lumOff val="15000"/>
                  </a:schemeClr>
                </a:solidFill>
              </a:rPr>
              <a:t> και προσπάθεια διάσωσής τους, για  μεγαλύτερη εγκυρότητα και αξιοπιστία</a:t>
            </a:r>
            <a:endParaRPr lang="en-US" sz="1400" dirty="0">
              <a:solidFill>
                <a:schemeClr val="tx1">
                  <a:lumMod val="85000"/>
                  <a:lumOff val="15000"/>
                </a:schemeClr>
              </a:solidFill>
            </a:endParaRPr>
          </a:p>
          <a:p>
            <a:pPr marL="342900" indent="-342900">
              <a:buFont typeface="+mj-lt"/>
              <a:buAutoNum type="arabicParenR"/>
            </a:pPr>
            <a:r>
              <a:rPr lang="el-GR" sz="1400" dirty="0">
                <a:solidFill>
                  <a:schemeClr val="tx1">
                    <a:lumMod val="85000"/>
                    <a:lumOff val="15000"/>
                  </a:schemeClr>
                </a:solidFill>
              </a:rPr>
              <a:t>Υλοποίηση γραφικού περιβάλλοντος για το </a:t>
            </a:r>
            <a:r>
              <a:rPr lang="en-US" sz="1400" dirty="0">
                <a:solidFill>
                  <a:schemeClr val="tx1">
                    <a:lumMod val="85000"/>
                    <a:lumOff val="15000"/>
                  </a:schemeClr>
                </a:solidFill>
              </a:rPr>
              <a:t>quiz generator </a:t>
            </a:r>
            <a:endParaRPr lang="el-GR" sz="1400" dirty="0">
              <a:solidFill>
                <a:schemeClr val="tx1">
                  <a:lumMod val="85000"/>
                  <a:lumOff val="15000"/>
                </a:schemeClr>
              </a:solidFill>
            </a:endParaRPr>
          </a:p>
          <a:p>
            <a:pPr marL="342900" indent="-342900">
              <a:buFont typeface="+mj-lt"/>
              <a:buAutoNum type="arabicParenR"/>
            </a:pPr>
            <a:endParaRPr lang="el-GR" sz="1400" dirty="0">
              <a:solidFill>
                <a:schemeClr val="tx1">
                  <a:lumMod val="85000"/>
                  <a:lumOff val="15000"/>
                </a:schemeClr>
              </a:solidFill>
            </a:endParaRPr>
          </a:p>
          <a:p>
            <a:r>
              <a:rPr lang="el-GR" sz="1400" dirty="0">
                <a:solidFill>
                  <a:schemeClr val="tx1">
                    <a:lumMod val="85000"/>
                    <a:lumOff val="15000"/>
                  </a:schemeClr>
                </a:solidFill>
              </a:rPr>
              <a:t>Τα δεδομένα εισόδου είναι μια συλλογή κειμένων πάνω στην νόσο της Κυστικής Ίνωσης. Μια τέτοια συλλογή, βοηθάει στην ανάδειξη των </a:t>
            </a:r>
            <a:r>
              <a:rPr lang="en-US" sz="1400" dirty="0">
                <a:solidFill>
                  <a:schemeClr val="tx1">
                    <a:lumMod val="85000"/>
                    <a:lumOff val="15000"/>
                  </a:schemeClr>
                </a:solidFill>
              </a:rPr>
              <a:t>domain-specific </a:t>
            </a:r>
            <a:r>
              <a:rPr lang="el-GR" sz="1400" dirty="0">
                <a:solidFill>
                  <a:schemeClr val="tx1">
                    <a:lumMod val="85000"/>
                    <a:lumOff val="15000"/>
                  </a:schemeClr>
                </a:solidFill>
              </a:rPr>
              <a:t>ιδιοτήτων του </a:t>
            </a:r>
            <a:r>
              <a:rPr lang="en-US" sz="1400" dirty="0">
                <a:solidFill>
                  <a:schemeClr val="tx1">
                    <a:lumMod val="85000"/>
                    <a:lumOff val="15000"/>
                  </a:schemeClr>
                </a:solidFill>
              </a:rPr>
              <a:t>RAG, </a:t>
            </a:r>
            <a:r>
              <a:rPr lang="el-GR" sz="1400" dirty="0">
                <a:solidFill>
                  <a:schemeClr val="tx1">
                    <a:lumMod val="85000"/>
                    <a:lumOff val="15000"/>
                  </a:schemeClr>
                </a:solidFill>
              </a:rPr>
              <a:t>αλλά λειτουργεί και ως καλό παράδειγμα μιας «ύλης» που κάποιος θα κληθεί να μελετήσει και να εξεταστεί πάνω σε αυτήν μέσω των ερωταπαντήσεων που παράγουμε</a:t>
            </a:r>
            <a:endParaRPr lang="en-US" sz="1400" dirty="0">
              <a:solidFill>
                <a:schemeClr val="tx1">
                  <a:lumMod val="85000"/>
                  <a:lumOff val="15000"/>
                </a:schemeClr>
              </a:solidFill>
            </a:endParaRPr>
          </a:p>
        </p:txBody>
      </p:sp>
    </p:spTree>
    <p:extLst>
      <p:ext uri="{BB962C8B-B14F-4D97-AF65-F5344CB8AC3E}">
        <p14:creationId xmlns:p14="http://schemas.microsoft.com/office/powerpoint/2010/main" val="168621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2CF19-508C-D1F2-4D2C-879229B8D5BE}"/>
              </a:ext>
            </a:extLst>
          </p:cNvPr>
          <p:cNvSpPr>
            <a:spLocks noGrp="1"/>
          </p:cNvSpPr>
          <p:nvPr>
            <p:ph type="title"/>
          </p:nvPr>
        </p:nvSpPr>
        <p:spPr>
          <a:xfrm>
            <a:off x="3213677" y="124613"/>
            <a:ext cx="7292779" cy="994164"/>
          </a:xfrm>
        </p:spPr>
        <p:txBody>
          <a:bodyPr/>
          <a:lstStyle/>
          <a:p>
            <a:pPr algn="ctr"/>
            <a:r>
              <a:rPr lang="el-GR" sz="3200" dirty="0">
                <a:solidFill>
                  <a:schemeClr val="tx1">
                    <a:lumMod val="85000"/>
                    <a:lumOff val="15000"/>
                  </a:schemeClr>
                </a:solidFill>
              </a:rPr>
              <a:t>ΣΤΑΔΙΟ 1</a:t>
            </a:r>
            <a:r>
              <a:rPr lang="en-US" sz="3200" dirty="0">
                <a:solidFill>
                  <a:schemeClr val="tx1">
                    <a:lumMod val="85000"/>
                    <a:lumOff val="15000"/>
                  </a:schemeClr>
                </a:solidFill>
              </a:rPr>
              <a:t>: </a:t>
            </a:r>
            <a:r>
              <a:rPr lang="el-GR" sz="3200" dirty="0">
                <a:solidFill>
                  <a:schemeClr val="tx1">
                    <a:lumMod val="85000"/>
                    <a:lumOff val="15000"/>
                  </a:schemeClr>
                </a:solidFill>
              </a:rPr>
              <a:t>παραγωγη ερωτησεων και απαντησεων</a:t>
            </a:r>
            <a:endParaRPr lang="en-US" sz="32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6508A199-C289-5901-85F4-10AC25ABBF62}"/>
              </a:ext>
            </a:extLst>
          </p:cNvPr>
          <p:cNvSpPr>
            <a:spLocks noGrp="1"/>
          </p:cNvSpPr>
          <p:nvPr>
            <p:ph sz="half" idx="2"/>
          </p:nvPr>
        </p:nvSpPr>
        <p:spPr>
          <a:xfrm>
            <a:off x="2610172" y="1118777"/>
            <a:ext cx="9505627" cy="5614610"/>
          </a:xfrm>
        </p:spPr>
        <p:txBody>
          <a:bodyPr>
            <a:normAutofit/>
          </a:bodyPr>
          <a:lstStyle/>
          <a:p>
            <a:r>
              <a:rPr lang="en-US" sz="1600" dirty="0">
                <a:solidFill>
                  <a:schemeClr val="tx1">
                    <a:lumMod val="85000"/>
                    <a:lumOff val="15000"/>
                  </a:schemeClr>
                </a:solidFill>
              </a:rPr>
              <a:t>T</a:t>
            </a:r>
            <a:r>
              <a:rPr lang="el-GR" sz="1600" dirty="0">
                <a:solidFill>
                  <a:schemeClr val="tx1">
                    <a:lumMod val="85000"/>
                    <a:lumOff val="15000"/>
                  </a:schemeClr>
                </a:solidFill>
              </a:rPr>
              <a:t>ο σύστημα αξιοποιεί το </a:t>
            </a:r>
            <a:r>
              <a:rPr lang="en-US" sz="1600" dirty="0">
                <a:solidFill>
                  <a:schemeClr val="tx1">
                    <a:lumMod val="85000"/>
                    <a:lumOff val="15000"/>
                  </a:schemeClr>
                </a:solidFill>
              </a:rPr>
              <a:t>LLM </a:t>
            </a:r>
            <a:r>
              <a:rPr lang="el-GR" sz="1600" dirty="0">
                <a:solidFill>
                  <a:schemeClr val="tx1">
                    <a:lumMod val="85000"/>
                    <a:lumOff val="15000"/>
                  </a:schemeClr>
                </a:solidFill>
              </a:rPr>
              <a:t>μέσω στοχευμένου prompting, με σκοπό την παραγωγή αρχικών ερωτήσεων και απαντήσεων που σχετίζονται άμεσα με το περιεχόμενο κάθε αποσπάσματος. Για κάθε εγγραφή της συλλογής κειμένων, επιλέχθηκαν δύο ερωτήσεις έτσι ώστε να πετύχουμε μεγαλύτερη θεματική κάλυψη.</a:t>
            </a:r>
          </a:p>
          <a:p>
            <a:r>
              <a:rPr lang="el-GR" sz="1600" dirty="0">
                <a:solidFill>
                  <a:schemeClr val="tx1">
                    <a:lumMod val="85000"/>
                    <a:lumOff val="15000"/>
                  </a:schemeClr>
                </a:solidFill>
              </a:rPr>
              <a:t>Το μοντέλο παράγει και μια βασική αιτιολόγηση καθώς και έναν βαθμό δυσκολίας για την κάθε ερώτηση. Η οδηγία για παροχή αιτιολόγησης βοηθάει το μοντέλο να παραγάγει καλύτερο αποτέλεσμα, από το να ζητήσουμε απλά την απάντηση. Η προσθήκη του χαρακτηριστικού της δυσκολίας της ερώτησης, παρότι δεν χρησιμοποιείται στα επόμενα στάδια του συστήματος, παρέχει πρόσθετη πληροφορία για μελλοντικές επεκτάσεις</a:t>
            </a:r>
            <a:r>
              <a:rPr lang="el-GR" sz="1600" dirty="0"/>
              <a:t>.</a:t>
            </a:r>
          </a:p>
          <a:p>
            <a:r>
              <a:rPr lang="el-GR" sz="1600" dirty="0">
                <a:solidFill>
                  <a:schemeClr val="tx1">
                    <a:lumMod val="85000"/>
                    <a:lumOff val="15000"/>
                  </a:schemeClr>
                </a:solidFill>
              </a:rPr>
              <a:t>Οι ερωτήσεις που παράγονται σε αυτή τη φάση ονομάζονται </a:t>
            </a:r>
            <a:r>
              <a:rPr lang="en-US" sz="1600" dirty="0">
                <a:solidFill>
                  <a:schemeClr val="tx1">
                    <a:lumMod val="85000"/>
                    <a:lumOff val="15000"/>
                  </a:schemeClr>
                </a:solidFill>
              </a:rPr>
              <a:t>draft questions</a:t>
            </a:r>
            <a:r>
              <a:rPr lang="el-GR" sz="1600" dirty="0">
                <a:solidFill>
                  <a:schemeClr val="tx1">
                    <a:lumMod val="85000"/>
                    <a:lumOff val="15000"/>
                  </a:schemeClr>
                </a:solidFill>
              </a:rPr>
              <a:t> και είναι η πρώτη μορφή του συνόλου δεδομένων.</a:t>
            </a:r>
          </a:p>
          <a:p>
            <a:r>
              <a:rPr lang="el-GR" sz="1600" dirty="0">
                <a:solidFill>
                  <a:schemeClr val="tx1">
                    <a:lumMod val="85000"/>
                    <a:lumOff val="15000"/>
                  </a:schemeClr>
                </a:solidFill>
              </a:rPr>
              <a:t>Σε αυτή την φάση, παρόλο που κάναμε καλό </a:t>
            </a:r>
            <a:r>
              <a:rPr lang="en-US" sz="1600" dirty="0">
                <a:solidFill>
                  <a:schemeClr val="tx1">
                    <a:lumMod val="85000"/>
                    <a:lumOff val="15000"/>
                  </a:schemeClr>
                </a:solidFill>
              </a:rPr>
              <a:t>prompt</a:t>
            </a:r>
            <a:r>
              <a:rPr lang="el-GR" sz="1600" dirty="0">
                <a:solidFill>
                  <a:schemeClr val="tx1">
                    <a:lumMod val="85000"/>
                    <a:lumOff val="15000"/>
                  </a:schemeClr>
                </a:solidFill>
              </a:rPr>
              <a:t>, υπάρχει πάντα ο κίνδυνος των παραισθήσεων. Για παράδειγμα, μια ερώτηση μπορεί να μην έχει ξεκάθαρη απάντηση ή η απάντηση που δίνει αρχικά το μοντέλο να είναι λάθος.</a:t>
            </a:r>
          </a:p>
          <a:p>
            <a:r>
              <a:rPr lang="el-GR" sz="1600" dirty="0">
                <a:solidFill>
                  <a:schemeClr val="tx1">
                    <a:lumMod val="85000"/>
                    <a:lumOff val="15000"/>
                  </a:schemeClr>
                </a:solidFill>
              </a:rPr>
              <a:t>Τα επόμενα στάδια επικεντρώνονται στην επαλήθευση των ερωτήσεων και απαντήσεων</a:t>
            </a:r>
            <a:r>
              <a:rPr lang="el-GR" sz="1600" dirty="0"/>
              <a:t>, </a:t>
            </a:r>
            <a:r>
              <a:rPr lang="el-GR" sz="1600" dirty="0">
                <a:solidFill>
                  <a:schemeClr val="tx1">
                    <a:lumMod val="85000"/>
                    <a:lumOff val="15000"/>
                  </a:schemeClr>
                </a:solidFill>
              </a:rPr>
              <a:t>ώστε το τελικό αποτέλεσμα να είναι όσο περισσότερο αξιόπιστο γίνεται.</a:t>
            </a:r>
          </a:p>
          <a:p>
            <a:endParaRPr lang="en-US" sz="1400" dirty="0"/>
          </a:p>
        </p:txBody>
      </p:sp>
      <p:sp>
        <p:nvSpPr>
          <p:cNvPr id="4" name="Slide Number Placeholder 3">
            <a:extLst>
              <a:ext uri="{FF2B5EF4-FFF2-40B4-BE49-F238E27FC236}">
                <a16:creationId xmlns:a16="http://schemas.microsoft.com/office/drawing/2014/main" id="{0FA41E50-12CD-AE76-B71E-AEF84016A1B2}"/>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3778973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86673A0-5371-B6B2-F55B-C216D7632BC7}"/>
              </a:ext>
            </a:extLst>
          </p:cNvPr>
          <p:cNvSpPr>
            <a:spLocks noGrp="1"/>
          </p:cNvSpPr>
          <p:nvPr>
            <p:ph type="title"/>
          </p:nvPr>
        </p:nvSpPr>
        <p:spPr>
          <a:xfrm>
            <a:off x="2157984" y="1444751"/>
            <a:ext cx="7882128" cy="45719"/>
          </a:xfrm>
        </p:spPr>
        <p:txBody>
          <a:bodyPr/>
          <a:lstStyle/>
          <a:p>
            <a:pPr algn="ctr"/>
            <a:r>
              <a:rPr lang="el-GR" dirty="0">
                <a:solidFill>
                  <a:schemeClr val="tx1">
                    <a:lumMod val="85000"/>
                    <a:lumOff val="15000"/>
                  </a:schemeClr>
                </a:solidFill>
              </a:rPr>
              <a:t>ΣΤΑΔΙΟ 2</a:t>
            </a:r>
            <a:r>
              <a:rPr lang="en-US" dirty="0">
                <a:solidFill>
                  <a:schemeClr val="tx1">
                    <a:lumMod val="85000"/>
                    <a:lumOff val="15000"/>
                  </a:schemeClr>
                </a:solidFill>
              </a:rPr>
              <a:t>: </a:t>
            </a:r>
            <a:r>
              <a:rPr lang="el-GR" dirty="0">
                <a:solidFill>
                  <a:schemeClr val="tx1">
                    <a:lumMod val="85000"/>
                    <a:lumOff val="15000"/>
                  </a:schemeClr>
                </a:solidFill>
              </a:rPr>
              <a:t>ανακτηση σχετικων κειμενων</a:t>
            </a:r>
            <a:endParaRPr lang="en-US" dirty="0">
              <a:solidFill>
                <a:schemeClr val="tx1">
                  <a:lumMod val="85000"/>
                  <a:lumOff val="15000"/>
                </a:schemeClr>
              </a:solidFill>
            </a:endParaRPr>
          </a:p>
        </p:txBody>
      </p:sp>
      <p:sp>
        <p:nvSpPr>
          <p:cNvPr id="8" name="Content Placeholder 7">
            <a:extLst>
              <a:ext uri="{FF2B5EF4-FFF2-40B4-BE49-F238E27FC236}">
                <a16:creationId xmlns:a16="http://schemas.microsoft.com/office/drawing/2014/main" id="{DED62056-D240-E644-A8FD-E4A24B7A2FC6}"/>
              </a:ext>
            </a:extLst>
          </p:cNvPr>
          <p:cNvSpPr>
            <a:spLocks noGrp="1"/>
          </p:cNvSpPr>
          <p:nvPr>
            <p:ph idx="1"/>
          </p:nvPr>
        </p:nvSpPr>
        <p:spPr>
          <a:xfrm>
            <a:off x="548640" y="1645920"/>
            <a:ext cx="11173968" cy="4396063"/>
          </a:xfrm>
        </p:spPr>
        <p:txBody>
          <a:bodyPr>
            <a:normAutofit/>
          </a:bodyPr>
          <a:lstStyle/>
          <a:p>
            <a:pPr marL="285750" indent="-285750">
              <a:buFont typeface="Arial" panose="020B0604020202020204" pitchFamily="34" charset="0"/>
              <a:buChar char="•"/>
            </a:pPr>
            <a:r>
              <a:rPr lang="el-GR" sz="1600" dirty="0">
                <a:solidFill>
                  <a:schemeClr val="tx1">
                    <a:lumMod val="85000"/>
                    <a:lumOff val="15000"/>
                  </a:schemeClr>
                </a:solidFill>
              </a:rPr>
              <a:t>Μετά τη δημιουργία των αρχικών ερωτήσεων, το σύστημα χρησιμοποιεί τεχνικές Ανάκτησης Πληροφορίας, και συγκεκριμένα τον αλγόριθμο ΒΜ25 για να εντοπίσει τα αποσπάσματα της συλλογής κειμένων που είναι περισσότερο σχετικά με κάθε παραγόμενη ερώτηση. Η ανάκτηση αυτή προσφέρει στο μοντέλο εξωτερική γνώση πέραν του αποσπάσματος από το οποίο προήλθε η ερώτηση, βελτιώνοντας έτσι την τεκμηρίωσή της. </a:t>
            </a:r>
          </a:p>
          <a:p>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Στην ουσία, πλέον η κάθε ερώτηση επικυρώνεται με χρήση ολόκληρης της συλλογής κειμένων, σε περίπτωση που κάποιο άλλο κομμάτι της απαντάει καλύτερα την ερώτηση και είναι πιο σχετικό με αυτήν.</a:t>
            </a:r>
          </a:p>
          <a:p>
            <a:pPr marL="285750" indent="-285750">
              <a:buFont typeface="Arial" panose="020B0604020202020204" pitchFamily="34" charset="0"/>
              <a:buChar char="•"/>
            </a:pPr>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Δεν υπάρχει πλέον περιορισμός σχετικά με το σε ποιο απόσπασμα της συλλογής κειμένων αντιστοιχεί η κάθε ερώτηση.</a:t>
            </a:r>
          </a:p>
          <a:p>
            <a:pPr marL="285750" indent="-285750">
              <a:buFont typeface="Arial" panose="020B0604020202020204" pitchFamily="34" charset="0"/>
              <a:buChar char="•"/>
            </a:pPr>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Η γνώση του μοντέλου παύει να είναι τοπική, περιορισμένη αυστηρά σε συγκεκριμένο απόσπασμα και γίνεται καθολική.</a:t>
            </a:r>
          </a:p>
          <a:p>
            <a:pPr marL="285750" indent="-285750">
              <a:buFont typeface="Arial" panose="020B0604020202020204" pitchFamily="34" charset="0"/>
              <a:buChar char="•"/>
            </a:pPr>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Το αποτέλεσμα του σταδίου είναι το σύνολο ερωταπαντήσεων εμπλουτισμένο με αντίστοιχα </a:t>
            </a:r>
            <a:r>
              <a:rPr lang="en-US" sz="1600" dirty="0">
                <a:solidFill>
                  <a:schemeClr val="tx1">
                    <a:lumMod val="85000"/>
                    <a:lumOff val="15000"/>
                  </a:schemeClr>
                </a:solidFill>
              </a:rPr>
              <a:t>contexts</a:t>
            </a:r>
            <a:r>
              <a:rPr lang="el-GR" sz="1600" dirty="0">
                <a:solidFill>
                  <a:schemeClr val="tx1">
                    <a:lumMod val="85000"/>
                    <a:lumOff val="15000"/>
                  </a:schemeClr>
                </a:solidFill>
              </a:rPr>
              <a:t>.</a:t>
            </a:r>
          </a:p>
          <a:p>
            <a:pPr marL="285750" indent="-285750">
              <a:buFont typeface="Arial" panose="020B0604020202020204" pitchFamily="34" charset="0"/>
              <a:buChar char="•"/>
            </a:pPr>
            <a:endParaRPr lang="el-GR" sz="1600" dirty="0">
              <a:solidFill>
                <a:schemeClr val="tx1">
                  <a:lumMod val="85000"/>
                  <a:lumOff val="15000"/>
                </a:schemeClr>
              </a:solidFill>
            </a:endParaRPr>
          </a:p>
          <a:p>
            <a:pPr marL="285750" indent="-285750">
              <a:buFont typeface="Arial" panose="020B0604020202020204" pitchFamily="34" charset="0"/>
              <a:buChar char="•"/>
            </a:pPr>
            <a:r>
              <a:rPr lang="el-GR" sz="1600" dirty="0">
                <a:solidFill>
                  <a:schemeClr val="tx1">
                    <a:lumMod val="85000"/>
                    <a:lumOff val="15000"/>
                  </a:schemeClr>
                </a:solidFill>
              </a:rPr>
              <a:t>Αυτή η φάση λειτουργεί ως συνδετικός κρίκος μεταξύ της γλωσσικής παραγωγής  ενός απλού </a:t>
            </a:r>
            <a:r>
              <a:rPr lang="en-US" sz="1600" dirty="0">
                <a:solidFill>
                  <a:schemeClr val="tx1">
                    <a:lumMod val="85000"/>
                    <a:lumOff val="15000"/>
                  </a:schemeClr>
                </a:solidFill>
              </a:rPr>
              <a:t>prompt </a:t>
            </a:r>
            <a:r>
              <a:rPr lang="el-GR" sz="1600" dirty="0">
                <a:solidFill>
                  <a:schemeClr val="tx1">
                    <a:lumMod val="85000"/>
                    <a:lumOff val="15000"/>
                  </a:schemeClr>
                </a:solidFill>
              </a:rPr>
              <a:t>του </a:t>
            </a:r>
            <a:r>
              <a:rPr lang="en-US" sz="1600" dirty="0">
                <a:solidFill>
                  <a:schemeClr val="tx1">
                    <a:lumMod val="85000"/>
                    <a:lumOff val="15000"/>
                  </a:schemeClr>
                </a:solidFill>
              </a:rPr>
              <a:t>LLM</a:t>
            </a:r>
            <a:r>
              <a:rPr lang="el-GR" sz="1600" dirty="0">
                <a:solidFill>
                  <a:schemeClr val="tx1">
                    <a:lumMod val="85000"/>
                    <a:lumOff val="15000"/>
                  </a:schemeClr>
                </a:solidFill>
              </a:rPr>
              <a:t> και της πραγματικής γνώσης που προσφέρει η καθολική ανάκτηση πάνω στην συλλογή κειμένων.</a:t>
            </a:r>
            <a:endParaRPr lang="en-US" sz="1600" dirty="0">
              <a:solidFill>
                <a:schemeClr val="tx1">
                  <a:lumMod val="85000"/>
                  <a:lumOff val="15000"/>
                </a:schemeClr>
              </a:solidFill>
            </a:endParaRPr>
          </a:p>
        </p:txBody>
      </p:sp>
      <p:sp>
        <p:nvSpPr>
          <p:cNvPr id="4" name="Slide Number Placeholder 3">
            <a:extLst>
              <a:ext uri="{FF2B5EF4-FFF2-40B4-BE49-F238E27FC236}">
                <a16:creationId xmlns:a16="http://schemas.microsoft.com/office/drawing/2014/main" id="{5A28C102-380D-6444-AA2C-7F5158D305F4}"/>
              </a:ext>
            </a:extLst>
          </p:cNvPr>
          <p:cNvSpPr>
            <a:spLocks noGrp="1"/>
          </p:cNvSpPr>
          <p:nvPr>
            <p:ph type="sldNum" sz="quarter" idx="4294967295"/>
          </p:nvPr>
        </p:nvSpPr>
        <p:spPr>
          <a:xfrm>
            <a:off x="11125200" y="457200"/>
            <a:ext cx="1066800" cy="471488"/>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2051208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533981-8D9D-AD6D-5980-C38FFC39FA3F}"/>
              </a:ext>
            </a:extLst>
          </p:cNvPr>
          <p:cNvSpPr>
            <a:spLocks noGrp="1"/>
          </p:cNvSpPr>
          <p:nvPr>
            <p:ph type="title"/>
          </p:nvPr>
        </p:nvSpPr>
        <p:spPr>
          <a:xfrm>
            <a:off x="3250253" y="772911"/>
            <a:ext cx="7965461" cy="873009"/>
          </a:xfrm>
        </p:spPr>
        <p:txBody>
          <a:bodyPr/>
          <a:lstStyle/>
          <a:p>
            <a:pPr algn="ctr"/>
            <a:r>
              <a:rPr lang="el-GR" dirty="0">
                <a:solidFill>
                  <a:schemeClr val="tx1">
                    <a:lumMod val="85000"/>
                    <a:lumOff val="15000"/>
                  </a:schemeClr>
                </a:solidFill>
              </a:rPr>
              <a:t>ΣΤΑΔΙΟ 3</a:t>
            </a:r>
            <a:r>
              <a:rPr lang="en-US" dirty="0">
                <a:solidFill>
                  <a:schemeClr val="tx1">
                    <a:lumMod val="85000"/>
                    <a:lumOff val="15000"/>
                  </a:schemeClr>
                </a:solidFill>
              </a:rPr>
              <a:t>: </a:t>
            </a:r>
            <a:r>
              <a:rPr lang="el-GR" dirty="0">
                <a:solidFill>
                  <a:schemeClr val="tx1">
                    <a:lumMod val="85000"/>
                    <a:lumOff val="15000"/>
                  </a:schemeClr>
                </a:solidFill>
              </a:rPr>
              <a:t>ΓΕΙΩΣΗ/ΕΠΕΚΤΑΣΗ ΕΡΩΤΗΣΕΩΝ ΚΑΙ ΑΡΧΙΚΗ ΕΠΙΚΥΡΩΣΗ</a:t>
            </a:r>
            <a:endParaRPr lang="en-US" dirty="0">
              <a:solidFill>
                <a:schemeClr val="tx1">
                  <a:lumMod val="85000"/>
                  <a:lumOff val="15000"/>
                </a:schemeClr>
              </a:solidFill>
            </a:endParaRPr>
          </a:p>
        </p:txBody>
      </p:sp>
      <p:sp>
        <p:nvSpPr>
          <p:cNvPr id="6" name="Content Placeholder 5">
            <a:extLst>
              <a:ext uri="{FF2B5EF4-FFF2-40B4-BE49-F238E27FC236}">
                <a16:creationId xmlns:a16="http://schemas.microsoft.com/office/drawing/2014/main" id="{5BF5B3C9-B423-632C-24F3-C356652D0433}"/>
              </a:ext>
            </a:extLst>
          </p:cNvPr>
          <p:cNvSpPr>
            <a:spLocks noGrp="1"/>
          </p:cNvSpPr>
          <p:nvPr>
            <p:ph sz="half" idx="2"/>
          </p:nvPr>
        </p:nvSpPr>
        <p:spPr>
          <a:xfrm>
            <a:off x="2606040" y="1645920"/>
            <a:ext cx="9518904" cy="5084064"/>
          </a:xfrm>
        </p:spPr>
        <p:txBody>
          <a:bodyPr>
            <a:normAutofit/>
          </a:bodyPr>
          <a:lstStyle/>
          <a:p>
            <a:r>
              <a:rPr lang="el-GR" sz="1600" dirty="0">
                <a:solidFill>
                  <a:schemeClr val="tx1">
                    <a:lumMod val="85000"/>
                    <a:lumOff val="15000"/>
                  </a:schemeClr>
                </a:solidFill>
              </a:rPr>
              <a:t>Η φάση αυτή αποτελεί ένα από τα κύρια σημεία του συστήματός μας. Η κάθε ερώτηση εμπλουτίζεται ή αναδιατυπώνεται με βάση τα αποσπάσματα που ανακτήθηκαν έτσι ώστε να είναι πιστή στα δεδομένα και απαλλαγμένη από ασαφή στοιχεία ή παραισθήσεις.</a:t>
            </a:r>
          </a:p>
          <a:p>
            <a:r>
              <a:rPr lang="el-GR" sz="1600" dirty="0">
                <a:solidFill>
                  <a:schemeClr val="tx1">
                    <a:lumMod val="85000"/>
                    <a:lumOff val="15000"/>
                  </a:schemeClr>
                </a:solidFill>
              </a:rPr>
              <a:t>Παρέχεται στο μοντέλο το σύνολο ερωταπαντήσεων μαζί με τα </a:t>
            </a:r>
            <a:r>
              <a:rPr lang="en-US" sz="1600" dirty="0">
                <a:solidFill>
                  <a:schemeClr val="tx1">
                    <a:lumMod val="85000"/>
                    <a:lumOff val="15000"/>
                  </a:schemeClr>
                </a:solidFill>
              </a:rPr>
              <a:t>contexts </a:t>
            </a:r>
            <a:r>
              <a:rPr lang="el-GR" sz="1600" dirty="0">
                <a:solidFill>
                  <a:schemeClr val="tx1">
                    <a:lumMod val="85000"/>
                    <a:lumOff val="15000"/>
                  </a:schemeClr>
                </a:solidFill>
              </a:rPr>
              <a:t>και αυτό παράγει μια νέα εκδοχή της</a:t>
            </a:r>
            <a:r>
              <a:rPr lang="en-US" sz="1600" dirty="0">
                <a:solidFill>
                  <a:schemeClr val="tx1">
                    <a:lumMod val="85000"/>
                    <a:lumOff val="15000"/>
                  </a:schemeClr>
                </a:solidFill>
              </a:rPr>
              <a:t> </a:t>
            </a:r>
            <a:r>
              <a:rPr lang="el-GR" sz="1600" dirty="0">
                <a:solidFill>
                  <a:schemeClr val="tx1">
                    <a:lumMod val="85000"/>
                    <a:lumOff val="15000"/>
                  </a:schemeClr>
                </a:solidFill>
              </a:rPr>
              <a:t>ερώτησης. Αυτή η εκδοχή μπορεί και να είναι ίδια με την προηγούμενη ή λίγο αλλαγμένη, αν κριθεί απο το μοντέλο ότι είναι σύμφωνη με τα τεκμήρια που δόθηκαν. </a:t>
            </a:r>
          </a:p>
          <a:p>
            <a:r>
              <a:rPr lang="el-GR" sz="1600" dirty="0">
                <a:solidFill>
                  <a:schemeClr val="tx1">
                    <a:lumMod val="85000"/>
                    <a:lumOff val="15000"/>
                  </a:schemeClr>
                </a:solidFill>
              </a:rPr>
              <a:t>Το στάδιο αυτό λειτουργεί ουσιαστικά ως εφαρμογή Επέκτασης Ερωτημάτων καθοδηγούμενη από ανάκτηση, καθώς αξιοποιούνται τα περιεχόμενα των ανεκτημένων τεκμηρίων για να βελτιωθεί η διατύπωση και η πληρότητα του ερωτήματος.</a:t>
            </a:r>
          </a:p>
          <a:p>
            <a:r>
              <a:rPr lang="en-US" sz="1600" dirty="0">
                <a:solidFill>
                  <a:schemeClr val="tx1">
                    <a:lumMod val="85000"/>
                    <a:lumOff val="15000"/>
                  </a:schemeClr>
                </a:solidFill>
              </a:rPr>
              <a:t>K</a:t>
            </a:r>
            <a:r>
              <a:rPr lang="el-GR" sz="1600" dirty="0">
                <a:solidFill>
                  <a:schemeClr val="tx1">
                    <a:lumMod val="85000"/>
                    <a:lumOff val="15000"/>
                  </a:schemeClr>
                </a:solidFill>
              </a:rPr>
              <a:t>άθε ερώτηση καθίσταται περισσότερο αξιόπιστη και απόλυτα συνδεδεμένη με την πραγματική πληροφορία της βάσης γνώσης.</a:t>
            </a:r>
          </a:p>
          <a:p>
            <a:r>
              <a:rPr lang="el-GR" sz="1600" dirty="0">
                <a:solidFill>
                  <a:schemeClr val="tx1">
                    <a:lumMod val="85000"/>
                    <a:lumOff val="15000"/>
                  </a:schemeClr>
                </a:solidFill>
              </a:rPr>
              <a:t>Γίνεται και η παραγωγή μιας αρχικής απάντησης για την κάθε γειωμένη ερώτηση. Το μοντέλο επιχειρεί να εντοπίσει το σχετικότερο απόσπασμα από τη συλλογή κειμένων και να παραγάγει μια πρώτη απάντηση, αυτολεξεί απο το κείμενο, συνοδευόμενη απο </a:t>
            </a:r>
            <a:r>
              <a:rPr lang="en-US" sz="1600" dirty="0">
                <a:solidFill>
                  <a:schemeClr val="tx1">
                    <a:lumMod val="85000"/>
                    <a:lumOff val="15000"/>
                  </a:schemeClr>
                </a:solidFill>
              </a:rPr>
              <a:t>evidence </a:t>
            </a:r>
            <a:r>
              <a:rPr lang="el-GR" sz="1600" dirty="0">
                <a:solidFill>
                  <a:schemeClr val="tx1">
                    <a:lumMod val="85000"/>
                    <a:lumOff val="15000"/>
                  </a:schemeClr>
                </a:solidFill>
              </a:rPr>
              <a:t>και απο </a:t>
            </a:r>
            <a:r>
              <a:rPr lang="en-US" sz="1600" dirty="0">
                <a:solidFill>
                  <a:schemeClr val="tx1">
                    <a:lumMod val="85000"/>
                    <a:lumOff val="15000"/>
                  </a:schemeClr>
                </a:solidFill>
              </a:rPr>
              <a:t>source id </a:t>
            </a:r>
            <a:r>
              <a:rPr lang="el-GR" sz="1600" dirty="0">
                <a:solidFill>
                  <a:schemeClr val="tx1">
                    <a:lumMod val="85000"/>
                    <a:lumOff val="15000"/>
                  </a:schemeClr>
                </a:solidFill>
              </a:rPr>
              <a:t>κειμένου απο το οποίο αντλήθηκε η απάντηση.</a:t>
            </a:r>
          </a:p>
          <a:p>
            <a:r>
              <a:rPr lang="el-GR" sz="1600" dirty="0">
                <a:solidFill>
                  <a:schemeClr val="tx1">
                    <a:lumMod val="85000"/>
                    <a:lumOff val="15000"/>
                  </a:schemeClr>
                </a:solidFill>
              </a:rPr>
              <a:t>Σε αυτή την φάση, δεν δίνεται ιδιαίτερη σημασία στο μέγεθος, στην ποιότητα και στην εγκυρότητα της απάντησης αφού η εστίαση γίνεται κυρίως στην επέκταση της ερώτησης.  Ασχολούμαστε με την απάντηση στα επόμενα στάδια</a:t>
            </a:r>
            <a:r>
              <a:rPr lang="en-US" sz="1600" dirty="0">
                <a:solidFill>
                  <a:schemeClr val="tx1">
                    <a:lumMod val="85000"/>
                    <a:lumOff val="15000"/>
                  </a:schemeClr>
                </a:solidFill>
              </a:rPr>
              <a:t>.</a:t>
            </a:r>
            <a:endParaRPr lang="el-GR" sz="1600" dirty="0">
              <a:solidFill>
                <a:schemeClr val="tx1">
                  <a:lumMod val="85000"/>
                  <a:lumOff val="15000"/>
                </a:schemeClr>
              </a:solidFill>
            </a:endParaRPr>
          </a:p>
          <a:p>
            <a:endParaRPr lang="en-US" sz="1400" dirty="0"/>
          </a:p>
        </p:txBody>
      </p:sp>
    </p:spTree>
    <p:extLst>
      <p:ext uri="{BB962C8B-B14F-4D97-AF65-F5344CB8AC3E}">
        <p14:creationId xmlns:p14="http://schemas.microsoft.com/office/powerpoint/2010/main" val="3008028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D3C0C3-1D12-3C88-963B-A4D76E2C841C}"/>
              </a:ext>
            </a:extLst>
          </p:cNvPr>
          <p:cNvSpPr>
            <a:spLocks noGrp="1"/>
          </p:cNvSpPr>
          <p:nvPr>
            <p:ph type="title"/>
          </p:nvPr>
        </p:nvSpPr>
        <p:spPr>
          <a:xfrm>
            <a:off x="2350008" y="410780"/>
            <a:ext cx="7150607" cy="1091627"/>
          </a:xfrm>
        </p:spPr>
        <p:txBody>
          <a:bodyPr/>
          <a:lstStyle/>
          <a:p>
            <a:r>
              <a:rPr lang="el-GR" dirty="0">
                <a:solidFill>
                  <a:schemeClr val="tx1">
                    <a:lumMod val="85000"/>
                    <a:lumOff val="15000"/>
                  </a:schemeClr>
                </a:solidFill>
              </a:rPr>
              <a:t>Σταδιο 4</a:t>
            </a:r>
            <a:r>
              <a:rPr lang="en-US" dirty="0">
                <a:solidFill>
                  <a:schemeClr val="tx1">
                    <a:lumMod val="85000"/>
                    <a:lumOff val="15000"/>
                  </a:schemeClr>
                </a:solidFill>
              </a:rPr>
              <a:t>: </a:t>
            </a:r>
            <a:r>
              <a:rPr lang="el-GR" dirty="0">
                <a:solidFill>
                  <a:schemeClr val="tx1">
                    <a:lumMod val="85000"/>
                    <a:lumOff val="15000"/>
                  </a:schemeClr>
                </a:solidFill>
              </a:rPr>
              <a:t>περικοπη και επικυρωση απαντησεων</a:t>
            </a:r>
            <a:endParaRPr lang="en-US" dirty="0">
              <a:solidFill>
                <a:schemeClr val="tx1">
                  <a:lumMod val="85000"/>
                  <a:lumOff val="15000"/>
                </a:schemeClr>
              </a:solidFill>
            </a:endParaRPr>
          </a:p>
        </p:txBody>
      </p:sp>
      <p:sp>
        <p:nvSpPr>
          <p:cNvPr id="8" name="Content Placeholder 7">
            <a:extLst>
              <a:ext uri="{FF2B5EF4-FFF2-40B4-BE49-F238E27FC236}">
                <a16:creationId xmlns:a16="http://schemas.microsoft.com/office/drawing/2014/main" id="{379C22BF-A3A5-771F-771D-540DA30ECF73}"/>
              </a:ext>
            </a:extLst>
          </p:cNvPr>
          <p:cNvSpPr>
            <a:spLocks noGrp="1"/>
          </p:cNvSpPr>
          <p:nvPr>
            <p:ph sz="half" idx="15"/>
          </p:nvPr>
        </p:nvSpPr>
        <p:spPr>
          <a:xfrm>
            <a:off x="438912" y="1502407"/>
            <a:ext cx="11753087" cy="5282441"/>
          </a:xfrm>
        </p:spPr>
        <p:txBody>
          <a:bodyPr>
            <a:noAutofit/>
          </a:bodyPr>
          <a:lstStyle/>
          <a:p>
            <a:pPr marL="285750" indent="-285750">
              <a:buFont typeface="Arial" panose="020B0604020202020204" pitchFamily="34" charset="0"/>
              <a:buChar char="•"/>
            </a:pPr>
            <a:r>
              <a:rPr lang="el-GR" sz="1600" dirty="0">
                <a:solidFill>
                  <a:schemeClr val="tx1">
                    <a:lumMod val="85000"/>
                    <a:lumOff val="15000"/>
                  </a:schemeClr>
                </a:solidFill>
              </a:rPr>
              <a:t>Η συμπεριφορά του μοντέλου, το οδηγεί στο να παραγάγει απαντήσεις που μπορεί να είναι τεράστια αποσπάσματα του </a:t>
            </a:r>
            <a:r>
              <a:rPr lang="en-US" sz="1600" dirty="0">
                <a:solidFill>
                  <a:schemeClr val="tx1">
                    <a:lumMod val="85000"/>
                    <a:lumOff val="15000"/>
                  </a:schemeClr>
                </a:solidFill>
              </a:rPr>
              <a:t>evidence. </a:t>
            </a:r>
            <a:r>
              <a:rPr lang="el-GR" sz="1600" dirty="0">
                <a:solidFill>
                  <a:schemeClr val="tx1">
                    <a:lumMod val="85000"/>
                    <a:lumOff val="15000"/>
                  </a:schemeClr>
                </a:solidFill>
              </a:rPr>
              <a:t>Αν </a:t>
            </a:r>
            <a:br>
              <a:rPr lang="el-GR" sz="1600" dirty="0">
                <a:solidFill>
                  <a:schemeClr val="tx1">
                    <a:lumMod val="85000"/>
                    <a:lumOff val="15000"/>
                  </a:schemeClr>
                </a:solidFill>
              </a:rPr>
            </a:br>
            <a:r>
              <a:rPr lang="el-GR" sz="1600" dirty="0">
                <a:solidFill>
                  <a:schemeClr val="tx1">
                    <a:lumMod val="85000"/>
                    <a:lumOff val="15000"/>
                  </a:schemeClr>
                </a:solidFill>
              </a:rPr>
              <a:t>δεν βρεθεί κατάλληλη σύντομη φράση, μπορεί να είναι και ολόκληρο το κείμενο. Δημιουργείται, λοιπόν, η ανάγκη περικοπής και επικύρωσης τέτοιων μεγάλων απαντήσεων</a:t>
            </a:r>
          </a:p>
          <a:p>
            <a:pPr marL="285750" indent="-285750">
              <a:buFont typeface="Arial" panose="020B0604020202020204" pitchFamily="34" charset="0"/>
              <a:buChar char="•"/>
            </a:pPr>
            <a:r>
              <a:rPr lang="el-GR" sz="1600" dirty="0">
                <a:solidFill>
                  <a:schemeClr val="tx1">
                    <a:lumMod val="85000"/>
                    <a:lumOff val="15000"/>
                  </a:schemeClr>
                </a:solidFill>
              </a:rPr>
              <a:t>Στόχος εδώ είναι να μετατραπούν οι απαντήσεις σε σύντομες και ρητά τεκμηριωμένες φράσεις, που απαντούν ικανοποιητικά την </a:t>
            </a:r>
            <a:br>
              <a:rPr lang="el-GR" sz="1600" dirty="0">
                <a:solidFill>
                  <a:schemeClr val="tx1">
                    <a:lumMod val="85000"/>
                    <a:lumOff val="15000"/>
                  </a:schemeClr>
                </a:solidFill>
              </a:rPr>
            </a:br>
            <a:r>
              <a:rPr lang="el-GR" sz="1600" dirty="0">
                <a:solidFill>
                  <a:schemeClr val="tx1">
                    <a:lumMod val="85000"/>
                    <a:lumOff val="15000"/>
                  </a:schemeClr>
                </a:solidFill>
              </a:rPr>
              <a:t>κάθε ερώτηση.</a:t>
            </a:r>
          </a:p>
          <a:p>
            <a:pPr marL="285750" indent="-285750">
              <a:buFont typeface="Arial" panose="020B0604020202020204" pitchFamily="34" charset="0"/>
              <a:buChar char="•"/>
            </a:pPr>
            <a:r>
              <a:rPr lang="el-GR" sz="1600" dirty="0">
                <a:solidFill>
                  <a:schemeClr val="tx1">
                    <a:lumMod val="85000"/>
                    <a:lumOff val="15000"/>
                  </a:schemeClr>
                </a:solidFill>
              </a:rPr>
              <a:t>Αντί να κρατηθεί ολόκληρη η απάντηση, κρατάμε το ελάχιστο τμήμα που είναι παραπάνω σχετικό με αυτήν, σύμφωνα με ένα </a:t>
            </a:r>
            <a:br>
              <a:rPr lang="el-GR" sz="1600" dirty="0">
                <a:solidFill>
                  <a:schemeClr val="tx1">
                    <a:lumMod val="85000"/>
                    <a:lumOff val="15000"/>
                  </a:schemeClr>
                </a:solidFill>
              </a:rPr>
            </a:br>
            <a:r>
              <a:rPr lang="el-GR" sz="1600" dirty="0">
                <a:solidFill>
                  <a:schemeClr val="tx1">
                    <a:lumMod val="85000"/>
                    <a:lumOff val="15000"/>
                  </a:schemeClr>
                </a:solidFill>
              </a:rPr>
              <a:t>λογικό όριο χαρακτήρων(140). Υπάρχει και έλεγχος στην περίπτωση που αυτοί οι χαρακτήρες είναι απλώς το πρόθεμα του </a:t>
            </a:r>
            <a:br>
              <a:rPr lang="el-GR" sz="1600" dirty="0">
                <a:solidFill>
                  <a:schemeClr val="tx1">
                    <a:lumMod val="85000"/>
                    <a:lumOff val="15000"/>
                  </a:schemeClr>
                </a:solidFill>
              </a:rPr>
            </a:br>
            <a:r>
              <a:rPr lang="en-US" sz="1600" dirty="0">
                <a:solidFill>
                  <a:schemeClr val="tx1">
                    <a:lumMod val="85000"/>
                    <a:lumOff val="15000"/>
                  </a:schemeClr>
                </a:solidFill>
              </a:rPr>
              <a:t>evidence/</a:t>
            </a:r>
            <a:r>
              <a:rPr lang="el-GR" sz="1600" dirty="0">
                <a:solidFill>
                  <a:schemeClr val="tx1">
                    <a:lumMod val="85000"/>
                    <a:lumOff val="15000"/>
                  </a:schemeClr>
                </a:solidFill>
              </a:rPr>
              <a:t>κειμένου, κάτι που σημαίνει ότι το μοντέλο απέτυχε στην εξαγωγή της μικρής φράσης.</a:t>
            </a:r>
          </a:p>
          <a:p>
            <a:pPr marL="285750" indent="-285750">
              <a:buFont typeface="Arial" panose="020B0604020202020204" pitchFamily="34" charset="0"/>
              <a:buChar char="•"/>
            </a:pPr>
            <a:r>
              <a:rPr lang="el-GR" sz="1600" dirty="0">
                <a:solidFill>
                  <a:schemeClr val="tx1">
                    <a:lumMod val="85000"/>
                    <a:lumOff val="15000"/>
                  </a:schemeClr>
                </a:solidFill>
              </a:rPr>
              <a:t>Αν η αρχική απάντηση του μοντέλου δεν εντοπίζεται με σιγουριά σε μία σύντομη φράση του κειμένου(πχ λείπουν αριθμητικά δεδομένα, η μόνη απάντηση είναι ολόκληρο το κείμενο ή πρόθεμα αυτού), τότε η ερώτηση χαρακτηρίζεται ως </a:t>
            </a:r>
            <a:br>
              <a:rPr lang="el-GR" sz="1600" dirty="0">
                <a:solidFill>
                  <a:schemeClr val="tx1">
                    <a:lumMod val="85000"/>
                    <a:lumOff val="15000"/>
                  </a:schemeClr>
                </a:solidFill>
              </a:rPr>
            </a:br>
            <a:r>
              <a:rPr lang="el-GR" sz="1600" dirty="0">
                <a:solidFill>
                  <a:schemeClr val="tx1">
                    <a:lumMod val="85000"/>
                    <a:lumOff val="15000"/>
                  </a:schemeClr>
                </a:solidFill>
              </a:rPr>
              <a:t>μη απαντήσιμη (</a:t>
            </a:r>
            <a:r>
              <a:rPr lang="en-US" sz="1600" dirty="0">
                <a:solidFill>
                  <a:schemeClr val="tx1">
                    <a:lumMod val="85000"/>
                    <a:lumOff val="15000"/>
                  </a:schemeClr>
                </a:solidFill>
              </a:rPr>
              <a:t>unanswerable). </a:t>
            </a:r>
          </a:p>
          <a:p>
            <a:pPr marL="285750" indent="-285750">
              <a:buFont typeface="Arial" panose="020B0604020202020204" pitchFamily="34" charset="0"/>
              <a:buChar char="•"/>
            </a:pPr>
            <a:r>
              <a:rPr lang="el-GR" sz="1600" dirty="0">
                <a:solidFill>
                  <a:schemeClr val="tx1">
                    <a:lumMod val="85000"/>
                    <a:lumOff val="15000"/>
                  </a:schemeClr>
                </a:solidFill>
              </a:rPr>
              <a:t>Ο έλεγχος σε αυτή την φάση είναι αυστηρός. Προφανώς, αυτό μπορεί να οδηγήσει σε απώλεια μερικών έγκυρων </a:t>
            </a:r>
            <a:br>
              <a:rPr lang="el-GR" sz="1600" dirty="0">
                <a:solidFill>
                  <a:schemeClr val="tx1">
                    <a:lumMod val="85000"/>
                    <a:lumOff val="15000"/>
                  </a:schemeClr>
                </a:solidFill>
              </a:rPr>
            </a:br>
            <a:r>
              <a:rPr lang="el-GR" sz="1600" dirty="0">
                <a:solidFill>
                  <a:schemeClr val="tx1">
                    <a:lumMod val="85000"/>
                    <a:lumOff val="15000"/>
                  </a:schemeClr>
                </a:solidFill>
              </a:rPr>
              <a:t>σετ ερωταπαντήσεων. Η επιλογή είναι συνειδητή υπέρ της αξιοπιστίας, αφού προτιμούμε να έχουμε σίγουρη </a:t>
            </a:r>
            <a:br>
              <a:rPr lang="el-GR" sz="1600" dirty="0">
                <a:solidFill>
                  <a:schemeClr val="tx1">
                    <a:lumMod val="85000"/>
                    <a:lumOff val="15000"/>
                  </a:schemeClr>
                </a:solidFill>
              </a:rPr>
            </a:br>
            <a:r>
              <a:rPr lang="el-GR" sz="1600" dirty="0">
                <a:solidFill>
                  <a:schemeClr val="tx1">
                    <a:lumMod val="85000"/>
                    <a:lumOff val="15000"/>
                  </a:schemeClr>
                </a:solidFill>
              </a:rPr>
              <a:t>την ακρίβεια και την τεκμηρίωση, παρά την ποσότητα ερωτήσεων. Είναι προτιμότερο να υπάρχουν λίγο </a:t>
            </a:r>
            <a:br>
              <a:rPr lang="el-GR" sz="1600" dirty="0">
                <a:solidFill>
                  <a:schemeClr val="tx1">
                    <a:lumMod val="85000"/>
                    <a:lumOff val="15000"/>
                  </a:schemeClr>
                </a:solidFill>
              </a:rPr>
            </a:br>
            <a:r>
              <a:rPr lang="el-GR" sz="1600" dirty="0">
                <a:solidFill>
                  <a:schemeClr val="tx1">
                    <a:lumMod val="85000"/>
                    <a:lumOff val="15000"/>
                  </a:schemeClr>
                </a:solidFill>
              </a:rPr>
              <a:t>λιγότερες ερωτήσεις σε ποσότητα, παρά να υπάρχουν ανακριβείς ερωτήσεις που ο εντοπισμός της </a:t>
            </a:r>
            <a:br>
              <a:rPr lang="el-GR" sz="1600" dirty="0">
                <a:solidFill>
                  <a:schemeClr val="tx1">
                    <a:lumMod val="85000"/>
                    <a:lumOff val="15000"/>
                  </a:schemeClr>
                </a:solidFill>
              </a:rPr>
            </a:br>
            <a:r>
              <a:rPr lang="el-GR" sz="1600" dirty="0">
                <a:solidFill>
                  <a:schemeClr val="tx1">
                    <a:lumMod val="85000"/>
                    <a:lumOff val="15000"/>
                  </a:schemeClr>
                </a:solidFill>
              </a:rPr>
              <a:t>απάντησης μπορεί να δημιουργήσει πρόβληματα.</a:t>
            </a:r>
          </a:p>
          <a:p>
            <a:pPr marL="285750" indent="-285750">
              <a:buFont typeface="Arial" panose="020B0604020202020204" pitchFamily="34" charset="0"/>
              <a:buChar char="•"/>
            </a:pPr>
            <a:r>
              <a:rPr lang="el-GR" sz="1600" dirty="0">
                <a:solidFill>
                  <a:schemeClr val="tx1">
                    <a:lumMod val="85000"/>
                    <a:lumOff val="15000"/>
                  </a:schemeClr>
                </a:solidFill>
              </a:rPr>
              <a:t>Η σχεδιαστική επιλογή αυτή συμπληρώνεται απο το επόμενο στάδιο, όπου γίνεται επανεξέταση </a:t>
            </a:r>
            <a:br>
              <a:rPr lang="el-GR" sz="1600" dirty="0">
                <a:solidFill>
                  <a:schemeClr val="tx1">
                    <a:lumMod val="85000"/>
                    <a:lumOff val="15000"/>
                  </a:schemeClr>
                </a:solidFill>
              </a:rPr>
            </a:br>
            <a:r>
              <a:rPr lang="el-GR" sz="1600" dirty="0">
                <a:solidFill>
                  <a:schemeClr val="tx1">
                    <a:lumMod val="85000"/>
                    <a:lumOff val="15000"/>
                  </a:schemeClr>
                </a:solidFill>
              </a:rPr>
              <a:t>μερικών απο των σημασμένων ως μη απαντήσιμων περιπτώσεων.</a:t>
            </a:r>
            <a:endParaRPr lang="en-US" sz="1600" dirty="0">
              <a:solidFill>
                <a:schemeClr val="tx1">
                  <a:lumMod val="85000"/>
                  <a:lumOff val="15000"/>
                </a:schemeClr>
              </a:solidFill>
            </a:endParaRPr>
          </a:p>
        </p:txBody>
      </p:sp>
      <p:sp>
        <p:nvSpPr>
          <p:cNvPr id="4" name="Slide Number Placeholder 3">
            <a:extLst>
              <a:ext uri="{FF2B5EF4-FFF2-40B4-BE49-F238E27FC236}">
                <a16:creationId xmlns:a16="http://schemas.microsoft.com/office/drawing/2014/main" id="{A84900EF-9439-AF0F-AD87-E9F1E55C738E}"/>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4204593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EB7E5D-7D85-B6A6-6633-7B52200FFACF}"/>
              </a:ext>
            </a:extLst>
          </p:cNvPr>
          <p:cNvSpPr>
            <a:spLocks noGrp="1"/>
          </p:cNvSpPr>
          <p:nvPr>
            <p:ph type="title"/>
          </p:nvPr>
        </p:nvSpPr>
        <p:spPr>
          <a:xfrm>
            <a:off x="3149669" y="68824"/>
            <a:ext cx="7965461" cy="994164"/>
          </a:xfrm>
        </p:spPr>
        <p:txBody>
          <a:bodyPr/>
          <a:lstStyle/>
          <a:p>
            <a:pPr algn="ctr"/>
            <a:r>
              <a:rPr lang="el-GR" sz="3200" dirty="0">
                <a:solidFill>
                  <a:schemeClr val="tx1">
                    <a:lumMod val="85000"/>
                    <a:lumOff val="15000"/>
                  </a:schemeClr>
                </a:solidFill>
              </a:rPr>
              <a:t>ΣΤΑΔΙΟ 5</a:t>
            </a:r>
            <a:r>
              <a:rPr lang="en-US" sz="3200" dirty="0">
                <a:solidFill>
                  <a:schemeClr val="tx1">
                    <a:lumMod val="85000"/>
                    <a:lumOff val="15000"/>
                  </a:schemeClr>
                </a:solidFill>
              </a:rPr>
              <a:t>: </a:t>
            </a:r>
            <a:r>
              <a:rPr lang="el-GR" sz="3200" dirty="0">
                <a:solidFill>
                  <a:schemeClr val="tx1">
                    <a:lumMod val="85000"/>
                    <a:lumOff val="15000"/>
                  </a:schemeClr>
                </a:solidFill>
              </a:rPr>
              <a:t>ΕΠΑΝΕΞΕΤΑΣΗ </a:t>
            </a:r>
            <a:br>
              <a:rPr lang="el-GR" sz="3200" dirty="0">
                <a:solidFill>
                  <a:schemeClr val="tx1">
                    <a:lumMod val="85000"/>
                    <a:lumOff val="15000"/>
                  </a:schemeClr>
                </a:solidFill>
              </a:rPr>
            </a:br>
            <a:r>
              <a:rPr lang="el-GR" sz="3200" dirty="0">
                <a:solidFill>
                  <a:schemeClr val="tx1">
                    <a:lumMod val="85000"/>
                    <a:lumOff val="15000"/>
                  </a:schemeClr>
                </a:solidFill>
              </a:rPr>
              <a:t>μη-απαντησιμων περιπτωσεων</a:t>
            </a:r>
            <a:endParaRPr lang="en-US" sz="3200" dirty="0">
              <a:solidFill>
                <a:schemeClr val="tx1">
                  <a:lumMod val="85000"/>
                  <a:lumOff val="15000"/>
                </a:schemeClr>
              </a:solidFill>
            </a:endParaRPr>
          </a:p>
        </p:txBody>
      </p:sp>
      <p:sp>
        <p:nvSpPr>
          <p:cNvPr id="8" name="Content Placeholder 7">
            <a:extLst>
              <a:ext uri="{FF2B5EF4-FFF2-40B4-BE49-F238E27FC236}">
                <a16:creationId xmlns:a16="http://schemas.microsoft.com/office/drawing/2014/main" id="{F08F98F3-1C18-4660-4C52-B528D5F1E25A}"/>
              </a:ext>
            </a:extLst>
          </p:cNvPr>
          <p:cNvSpPr>
            <a:spLocks noGrp="1"/>
          </p:cNvSpPr>
          <p:nvPr>
            <p:ph sz="half" idx="2"/>
          </p:nvPr>
        </p:nvSpPr>
        <p:spPr>
          <a:xfrm>
            <a:off x="2591884" y="1090746"/>
            <a:ext cx="9478195" cy="5698429"/>
          </a:xfrm>
        </p:spPr>
        <p:txBody>
          <a:bodyPr>
            <a:normAutofit/>
          </a:bodyPr>
          <a:lstStyle/>
          <a:p>
            <a:r>
              <a:rPr lang="el-GR" sz="1400" dirty="0">
                <a:solidFill>
                  <a:schemeClr val="tx1">
                    <a:lumMod val="85000"/>
                    <a:lumOff val="15000"/>
                  </a:schemeClr>
                </a:solidFill>
              </a:rPr>
              <a:t>Το στάδιο αυτό εφαρμόζεται στις περιπτώσεις όπου, μετά την φάση της περικοπής, ένα ζεύγος ερώτησης–απάντησης έχει χαρακτηριστεί ως μη απαντήσιμο. Στόχος είναι να διαπιστωθεί αν πράγματι δεν υπάρχει απάντηση μέσα στα τεκμήρια, ή αν η αποτυχία προήλθε από ατελή ανάκτηση ή μη εντοπισμό κατάλληλης σύντομης φράσης στο αρχικό απόσπασμα.</a:t>
            </a:r>
          </a:p>
          <a:p>
            <a:r>
              <a:rPr lang="el-GR" sz="1400" dirty="0">
                <a:solidFill>
                  <a:schemeClr val="tx1">
                    <a:lumMod val="85000"/>
                    <a:lumOff val="15000"/>
                  </a:schemeClr>
                </a:solidFill>
              </a:rPr>
              <a:t>Μετά και απο χειροκίνητη αξιολόγηση μερικών απο τα σετ, παρατηρήθηκε ότι κάποια είχαν λανθασμένα σημανθεί ως μη απαντήσιμα. ΄Ενας λόγος για αυτό, ήταν το αρχικό στάδιο της ανάκτησης, αφού κάποια σημαντικά και σχετικά αποσπάσματα(που ίσως βρίσκονταν και στο </a:t>
            </a:r>
            <a:r>
              <a:rPr lang="en-US" sz="1400" dirty="0">
                <a:solidFill>
                  <a:schemeClr val="tx1">
                    <a:lumMod val="85000"/>
                    <a:lumOff val="15000"/>
                  </a:schemeClr>
                </a:solidFill>
              </a:rPr>
              <a:t>original </a:t>
            </a:r>
            <a:r>
              <a:rPr lang="el-GR" sz="1400" dirty="0">
                <a:solidFill>
                  <a:schemeClr val="tx1">
                    <a:lumMod val="85000"/>
                    <a:lumOff val="15000"/>
                  </a:schemeClr>
                </a:solidFill>
              </a:rPr>
              <a:t>κείμενο) μπορεί να παραλήφθηκαν.</a:t>
            </a:r>
          </a:p>
          <a:p>
            <a:r>
              <a:rPr lang="el-GR" sz="1400" dirty="0">
                <a:solidFill>
                  <a:schemeClr val="tx1">
                    <a:lumMod val="85000"/>
                    <a:lumOff val="15000"/>
                  </a:schemeClr>
                </a:solidFill>
              </a:rPr>
              <a:t>Συγκεκριμένα, το σύστημα εντοπίζει το αρχικό κείμενο από το οποίο προήλθε η ερώτηση και πραγματοποιείται τοπική αναζήτηση εντός του κειμένου αυτού για εκ νέου προσπάθεια απάντησης της ερώτησης. </a:t>
            </a:r>
          </a:p>
          <a:p>
            <a:r>
              <a:rPr lang="el-GR" sz="1400" dirty="0">
                <a:solidFill>
                  <a:schemeClr val="tx1">
                    <a:lumMod val="85000"/>
                    <a:lumOff val="15000"/>
                  </a:schemeClr>
                </a:solidFill>
              </a:rPr>
              <a:t>Για την ανάκτηση χρησιμοποιείται μια </a:t>
            </a:r>
            <a:r>
              <a:rPr lang="en-US" sz="1400" dirty="0">
                <a:solidFill>
                  <a:schemeClr val="tx1">
                    <a:lumMod val="85000"/>
                    <a:lumOff val="15000"/>
                  </a:schemeClr>
                </a:solidFill>
              </a:rPr>
              <a:t>hybrid </a:t>
            </a:r>
            <a:r>
              <a:rPr lang="el-GR" sz="1400" dirty="0">
                <a:solidFill>
                  <a:schemeClr val="tx1">
                    <a:lumMod val="85000"/>
                    <a:lumOff val="15000"/>
                  </a:schemeClr>
                </a:solidFill>
              </a:rPr>
              <a:t>προσέγγιση με χρήση </a:t>
            </a:r>
            <a:r>
              <a:rPr lang="en-US" sz="1400" dirty="0">
                <a:solidFill>
                  <a:schemeClr val="tx1">
                    <a:lumMod val="85000"/>
                    <a:lumOff val="15000"/>
                  </a:schemeClr>
                </a:solidFill>
              </a:rPr>
              <a:t>BM25 </a:t>
            </a:r>
            <a:r>
              <a:rPr lang="el-GR" sz="1400" dirty="0">
                <a:solidFill>
                  <a:schemeClr val="tx1">
                    <a:lumMod val="85000"/>
                    <a:lumOff val="15000"/>
                  </a:schemeClr>
                </a:solidFill>
              </a:rPr>
              <a:t>και </a:t>
            </a:r>
            <a:r>
              <a:rPr lang="en-US" sz="1400" dirty="0">
                <a:solidFill>
                  <a:schemeClr val="tx1">
                    <a:lumMod val="85000"/>
                    <a:lumOff val="15000"/>
                  </a:schemeClr>
                </a:solidFill>
              </a:rPr>
              <a:t>token overlap</a:t>
            </a:r>
            <a:r>
              <a:rPr lang="el-GR" sz="1400" dirty="0">
                <a:solidFill>
                  <a:schemeClr val="tx1">
                    <a:lumMod val="85000"/>
                    <a:lumOff val="15000"/>
                  </a:schemeClr>
                </a:solidFill>
              </a:rPr>
              <a:t>, χωρίζοντας τα κείμενα σε παράθυρα (λόγω απουσίας σημείων στίξης). Αν αποτύχει η εξαγωγή απάντησης την πρώτη φορά, δοκιμάζουμε με μεγαλύτερο παράθυρο.</a:t>
            </a:r>
          </a:p>
          <a:p>
            <a:r>
              <a:rPr lang="el-GR" sz="1400" dirty="0">
                <a:solidFill>
                  <a:schemeClr val="tx1">
                    <a:lumMod val="85000"/>
                    <a:lumOff val="15000"/>
                  </a:schemeClr>
                </a:solidFill>
              </a:rPr>
              <a:t>Το μοντέλο παράγει εκ νέου τις απαντήσεις με βάση τα ανακτώμενα κομμάτια κειμένου.</a:t>
            </a:r>
          </a:p>
          <a:p>
            <a:r>
              <a:rPr lang="el-GR" sz="1400" dirty="0">
                <a:solidFill>
                  <a:schemeClr val="tx1">
                    <a:lumMod val="85000"/>
                    <a:lumOff val="15000"/>
                  </a:schemeClr>
                </a:solidFill>
              </a:rPr>
              <a:t>Η νέα απάντηση περνάει πάλι απο διαδικασία περικοπής  και πρέπει να είναι αυτούσια, σύντομη φράση απο το κείμενο που απαντά την ερώτηση.  Αν ολοκληρωθεί και αυτό, τότε η ερώτηση μετατρέπεται σε απαντίσιμη.</a:t>
            </a:r>
          </a:p>
          <a:p>
            <a:r>
              <a:rPr lang="en-US" sz="1400" dirty="0">
                <a:solidFill>
                  <a:schemeClr val="tx1">
                    <a:lumMod val="85000"/>
                    <a:lumOff val="15000"/>
                  </a:schemeClr>
                </a:solidFill>
              </a:rPr>
              <a:t>H</a:t>
            </a:r>
            <a:r>
              <a:rPr lang="el-GR" sz="1400" dirty="0">
                <a:solidFill>
                  <a:schemeClr val="tx1">
                    <a:lumMod val="85000"/>
                    <a:lumOff val="15000"/>
                  </a:schemeClr>
                </a:solidFill>
              </a:rPr>
              <a:t> διαδικασία αυτή ανακτά μερικές απαντήσεις που μπορεί να χάθηκαν λόγω του πρώτου σταδίου της ανάκτησης, διατηρώντας παράλληλα την εγκυρότητα.</a:t>
            </a:r>
          </a:p>
          <a:p>
            <a:r>
              <a:rPr lang="el-GR" sz="1400" dirty="0">
                <a:solidFill>
                  <a:schemeClr val="tx1">
                    <a:lumMod val="85000"/>
                    <a:lumOff val="15000"/>
                  </a:schemeClr>
                </a:solidFill>
              </a:rPr>
              <a:t>Πλέον απαντούνται ικανοποιητικά και οι ερωτήσεις που η απάντησή τους βρίσκεται σε άλλο κείμενο ή απαντώται καλύτερα από άλλο κείμενο, αλλά και αυτές που η σωστή απάντηση βρισκόταν εξαρχής στο </a:t>
            </a:r>
            <a:r>
              <a:rPr lang="en-US" sz="1400" dirty="0">
                <a:solidFill>
                  <a:schemeClr val="tx1">
                    <a:lumMod val="85000"/>
                    <a:lumOff val="15000"/>
                  </a:schemeClr>
                </a:solidFill>
              </a:rPr>
              <a:t>original </a:t>
            </a:r>
            <a:r>
              <a:rPr lang="el-GR" sz="1400" dirty="0">
                <a:solidFill>
                  <a:schemeClr val="tx1">
                    <a:lumMod val="85000"/>
                    <a:lumOff val="15000"/>
                  </a:schemeClr>
                </a:solidFill>
              </a:rPr>
              <a:t>κείμενο. </a:t>
            </a:r>
          </a:p>
          <a:p>
            <a:r>
              <a:rPr lang="el-GR" sz="1400" dirty="0">
                <a:solidFill>
                  <a:schemeClr val="tx1">
                    <a:lumMod val="85000"/>
                    <a:lumOff val="15000"/>
                  </a:schemeClr>
                </a:solidFill>
              </a:rPr>
              <a:t>Τα σετ που παραμένουν ως απαντήσιμα είναι επικυρωμένα, απαλλαγμένα απο παραισθήσεις και είναι έτοιμα για χρήση για οποιονδήποτε σκοπό.</a:t>
            </a:r>
          </a:p>
          <a:p>
            <a:r>
              <a:rPr lang="el-GR" sz="1400" dirty="0">
                <a:solidFill>
                  <a:schemeClr val="tx1">
                    <a:lumMod val="85000"/>
                    <a:lumOff val="15000"/>
                  </a:schemeClr>
                </a:solidFill>
              </a:rPr>
              <a:t>Από τα 86 μη απαντήσιμα σετ στο προηγούμενο στάδιο, τώρα έχουμε 36 (50 διασώθηκαν).</a:t>
            </a:r>
          </a:p>
        </p:txBody>
      </p:sp>
      <p:sp>
        <p:nvSpPr>
          <p:cNvPr id="6" name="Slide Number Placeholder 5">
            <a:extLst>
              <a:ext uri="{FF2B5EF4-FFF2-40B4-BE49-F238E27FC236}">
                <a16:creationId xmlns:a16="http://schemas.microsoft.com/office/drawing/2014/main" id="{B8B222ED-1A29-26A2-0ECA-37A5E02B4DD8}"/>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3014473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45CA-3B2E-A105-4AE1-6085D9BD29FA}"/>
              </a:ext>
            </a:extLst>
          </p:cNvPr>
          <p:cNvSpPr>
            <a:spLocks noGrp="1"/>
          </p:cNvSpPr>
          <p:nvPr>
            <p:ph type="title"/>
          </p:nvPr>
        </p:nvSpPr>
        <p:spPr>
          <a:xfrm>
            <a:off x="2209800" y="457199"/>
            <a:ext cx="7920826" cy="706049"/>
          </a:xfrm>
        </p:spPr>
        <p:txBody>
          <a:bodyPr/>
          <a:lstStyle/>
          <a:p>
            <a:r>
              <a:rPr lang="el-GR" dirty="0">
                <a:solidFill>
                  <a:schemeClr val="tx1">
                    <a:lumMod val="85000"/>
                    <a:lumOff val="15000"/>
                  </a:schemeClr>
                </a:solidFill>
              </a:rPr>
              <a:t>ΕΚΠΑΙΔΕΥΤΙΚΗ ΕΦΑΡΜΟΓΗ</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1C94F329-DC7D-8FC3-9395-41E1F3AA8381}"/>
              </a:ext>
            </a:extLst>
          </p:cNvPr>
          <p:cNvSpPr>
            <a:spLocks noGrp="1"/>
          </p:cNvSpPr>
          <p:nvPr>
            <p:ph sz="quarter" idx="4"/>
          </p:nvPr>
        </p:nvSpPr>
        <p:spPr>
          <a:xfrm>
            <a:off x="585216" y="1246219"/>
            <a:ext cx="11091672" cy="5328317"/>
          </a:xfrm>
        </p:spPr>
        <p:txBody>
          <a:bodyPr>
            <a:normAutofit fontScale="92500" lnSpcReduction="20000"/>
          </a:bodyPr>
          <a:lstStyle/>
          <a:p>
            <a:r>
              <a:rPr lang="el-GR" sz="1600" dirty="0">
                <a:solidFill>
                  <a:schemeClr val="tx1">
                    <a:lumMod val="85000"/>
                    <a:lumOff val="15000"/>
                  </a:schemeClr>
                </a:solidFill>
              </a:rPr>
              <a:t>Στο σημείο αυτό, η κύρια ροή του pipeline έχει τελειώσει. Το τελικό αρχείο που παράγεται μετά και απο το στάδιο της επανεξέτασης των μη απαντήσιμων περιπτώσεων, είναι ανθεκτικό σε σετ ερωταπαντήσεων που αποτελούν παραισθήσεις ή δεν έχουν ξεκάθαρη απάντηση στα κείμενα.</a:t>
            </a:r>
            <a:endParaRPr lang="en-US" sz="1600" dirty="0">
              <a:solidFill>
                <a:schemeClr val="tx1">
                  <a:lumMod val="85000"/>
                  <a:lumOff val="15000"/>
                </a:schemeClr>
              </a:solidFill>
            </a:endParaRPr>
          </a:p>
          <a:p>
            <a:endParaRPr lang="en-US" sz="1600" dirty="0">
              <a:solidFill>
                <a:schemeClr val="tx1">
                  <a:lumMod val="85000"/>
                  <a:lumOff val="15000"/>
                </a:schemeClr>
              </a:solidFill>
            </a:endParaRPr>
          </a:p>
          <a:p>
            <a:r>
              <a:rPr lang="el-GR" sz="1600" dirty="0">
                <a:solidFill>
                  <a:schemeClr val="tx1">
                    <a:lumMod val="85000"/>
                    <a:lumOff val="15000"/>
                  </a:schemeClr>
                </a:solidFill>
              </a:rPr>
              <a:t>Με βάση το τελικό σετ δεδομένων, υλοποιήσαμε την εκπαιδευτική εφαρμογή </a:t>
            </a:r>
            <a:r>
              <a:rPr lang="en-US" sz="1600" dirty="0">
                <a:solidFill>
                  <a:schemeClr val="tx1">
                    <a:lumMod val="85000"/>
                    <a:lumOff val="15000"/>
                  </a:schemeClr>
                </a:solidFill>
              </a:rPr>
              <a:t>quiz generator. </a:t>
            </a:r>
            <a:r>
              <a:rPr lang="el-GR" sz="1600" dirty="0">
                <a:solidFill>
                  <a:schemeClr val="tx1">
                    <a:lumMod val="85000"/>
                    <a:lumOff val="15000"/>
                  </a:schemeClr>
                </a:solidFill>
              </a:rPr>
              <a:t>Η εφαρμογή φορτώνει το τελικό σύνολο δεδομένων και δίνει την δυνατότητα στον χρήστη να απαντήσει σε ένα τυχαίο σύνολο ερωτήσεων απο αυτές που έχουν σημανθεί ως απαντήσιμες (10 σε αριθμό)</a:t>
            </a:r>
            <a:r>
              <a:rPr lang="en-US" sz="1600" dirty="0">
                <a:solidFill>
                  <a:schemeClr val="tx1">
                    <a:lumMod val="85000"/>
                    <a:lumOff val="15000"/>
                  </a:schemeClr>
                </a:solidFill>
              </a:rPr>
              <a:t>.</a:t>
            </a:r>
          </a:p>
          <a:p>
            <a:endParaRPr lang="en-US" sz="1600" dirty="0">
              <a:solidFill>
                <a:schemeClr val="tx1">
                  <a:lumMod val="85000"/>
                  <a:lumOff val="15000"/>
                </a:schemeClr>
              </a:solidFill>
            </a:endParaRPr>
          </a:p>
          <a:p>
            <a:r>
              <a:rPr lang="el-GR" sz="1600" dirty="0">
                <a:solidFill>
                  <a:schemeClr val="tx1">
                    <a:lumMod val="85000"/>
                    <a:lumOff val="15000"/>
                  </a:schemeClr>
                </a:solidFill>
              </a:rPr>
              <a:t>Ο χρήστης γράφει την απάντηση του και πατάει </a:t>
            </a:r>
            <a:r>
              <a:rPr lang="en-US" sz="1600" dirty="0">
                <a:solidFill>
                  <a:schemeClr val="tx1">
                    <a:lumMod val="85000"/>
                    <a:lumOff val="15000"/>
                  </a:schemeClr>
                </a:solidFill>
              </a:rPr>
              <a:t>“Submit” </a:t>
            </a:r>
            <a:r>
              <a:rPr lang="el-GR" sz="1600" dirty="0">
                <a:solidFill>
                  <a:schemeClr val="tx1">
                    <a:lumMod val="85000"/>
                    <a:lumOff val="15000"/>
                  </a:schemeClr>
                </a:solidFill>
              </a:rPr>
              <a:t>κάθε φορά. Όταν απαντήσει σε όλες τις ερωτήσεις, μπορεί να δει τον βαθμό του πατώντας </a:t>
            </a:r>
            <a:r>
              <a:rPr lang="en-US" sz="1600" dirty="0">
                <a:solidFill>
                  <a:schemeClr val="tx1">
                    <a:lumMod val="85000"/>
                    <a:lumOff val="15000"/>
                  </a:schemeClr>
                </a:solidFill>
              </a:rPr>
              <a:t>“Show Grade”.</a:t>
            </a:r>
          </a:p>
          <a:p>
            <a:pPr marL="0" indent="0">
              <a:buNone/>
            </a:pPr>
            <a:endParaRPr lang="el-GR" sz="1600" dirty="0">
              <a:solidFill>
                <a:schemeClr val="tx1">
                  <a:lumMod val="85000"/>
                  <a:lumOff val="15000"/>
                </a:schemeClr>
              </a:solidFill>
            </a:endParaRPr>
          </a:p>
          <a:p>
            <a:r>
              <a:rPr lang="el-GR" sz="1600" dirty="0">
                <a:solidFill>
                  <a:schemeClr val="tx1">
                    <a:lumMod val="85000"/>
                    <a:lumOff val="15000"/>
                  </a:schemeClr>
                </a:solidFill>
              </a:rPr>
              <a:t>Η απόδοση του χρήστη αξιολογείται με βάση μετρικές ομοιότητας μεταξύ της απάντησης του μοντέλου και της απάντησης που έδωσε ο ίδιος. </a:t>
            </a:r>
          </a:p>
          <a:p>
            <a:endParaRPr lang="en-US" sz="1600" dirty="0">
              <a:solidFill>
                <a:schemeClr val="tx1">
                  <a:lumMod val="85000"/>
                  <a:lumOff val="15000"/>
                </a:schemeClr>
              </a:solidFill>
            </a:endParaRPr>
          </a:p>
          <a:p>
            <a:r>
              <a:rPr lang="el-GR" sz="1600" dirty="0">
                <a:solidFill>
                  <a:schemeClr val="tx1">
                    <a:lumMod val="85000"/>
                    <a:lumOff val="15000"/>
                  </a:schemeClr>
                </a:solidFill>
              </a:rPr>
              <a:t>Το σύνολο δεδομένων μετατρέπεται σε ένα εργαλείο αυτοαξιολόγησης, ή αξιολόγησης από κάποιον φορέα εκπαίδευσης, μέσω της εφαρμογής αυτής</a:t>
            </a:r>
            <a:r>
              <a:rPr lang="en-US" sz="1600" dirty="0">
                <a:solidFill>
                  <a:schemeClr val="tx1">
                    <a:lumMod val="85000"/>
                    <a:lumOff val="15000"/>
                  </a:schemeClr>
                </a:solidFill>
              </a:rPr>
              <a:t>.</a:t>
            </a:r>
          </a:p>
          <a:p>
            <a:endParaRPr lang="el-GR" sz="1600" dirty="0">
              <a:solidFill>
                <a:schemeClr val="tx1">
                  <a:lumMod val="85000"/>
                  <a:lumOff val="15000"/>
                </a:schemeClr>
              </a:solidFill>
            </a:endParaRPr>
          </a:p>
          <a:p>
            <a:r>
              <a:rPr lang="el-GR" sz="1600" dirty="0">
                <a:solidFill>
                  <a:schemeClr val="tx1">
                    <a:lumMod val="85000"/>
                    <a:lumOff val="15000"/>
                  </a:schemeClr>
                </a:solidFill>
              </a:rPr>
              <a:t>Συνεπώς, επιτυγχάνεται ο στόχος της διπλωματικής, δηλαδή ο περιορισμός παραισθήσεων σε  QA συστήματα μέσω επέκτασης ερωτημάτων και προσεκτικής εξαγωγής απαντήσεων, πάντα σύμφωνα με τεκμήρια.</a:t>
            </a:r>
            <a:endParaRPr lang="en-US" sz="1600" dirty="0">
              <a:solidFill>
                <a:schemeClr val="tx1">
                  <a:lumMod val="85000"/>
                  <a:lumOff val="15000"/>
                </a:schemeClr>
              </a:solidFill>
            </a:endParaRPr>
          </a:p>
          <a:p>
            <a:endParaRPr lang="en-US" sz="1600" dirty="0">
              <a:solidFill>
                <a:schemeClr val="tx1">
                  <a:lumMod val="85000"/>
                  <a:lumOff val="15000"/>
                </a:schemeClr>
              </a:solidFill>
            </a:endParaRPr>
          </a:p>
        </p:txBody>
      </p:sp>
      <p:sp>
        <p:nvSpPr>
          <p:cNvPr id="4" name="Slide Number Placeholder 3">
            <a:extLst>
              <a:ext uri="{FF2B5EF4-FFF2-40B4-BE49-F238E27FC236}">
                <a16:creationId xmlns:a16="http://schemas.microsoft.com/office/drawing/2014/main" id="{2C0C01B2-D657-E161-CA09-3BB7FA878DEB}"/>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655065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A82C-D5FE-456D-4B69-0BDD4CD39DF6}"/>
              </a:ext>
            </a:extLst>
          </p:cNvPr>
          <p:cNvSpPr>
            <a:spLocks noGrp="1"/>
          </p:cNvSpPr>
          <p:nvPr>
            <p:ph type="title"/>
          </p:nvPr>
        </p:nvSpPr>
        <p:spPr>
          <a:xfrm>
            <a:off x="1449979" y="169195"/>
            <a:ext cx="9879437" cy="980844"/>
          </a:xfrm>
        </p:spPr>
        <p:txBody>
          <a:bodyPr/>
          <a:lstStyle/>
          <a:p>
            <a:pPr algn="ctr"/>
            <a:r>
              <a:rPr lang="el-GR" dirty="0">
                <a:solidFill>
                  <a:schemeClr val="tx1">
                    <a:lumMod val="85000"/>
                    <a:lumOff val="15000"/>
                  </a:schemeClr>
                </a:solidFill>
              </a:rPr>
              <a:t>ΜΕΡΙΚΑ ΕΝΔΕΙΚΤΙΚΑ </a:t>
            </a:r>
            <a:r>
              <a:rPr lang="en-US" dirty="0">
                <a:solidFill>
                  <a:schemeClr val="tx1">
                    <a:lumMod val="85000"/>
                    <a:lumOff val="15000"/>
                  </a:schemeClr>
                </a:solidFill>
              </a:rPr>
              <a:t>SCREENSHOTS </a:t>
            </a:r>
            <a:r>
              <a:rPr lang="el-GR" dirty="0">
                <a:solidFill>
                  <a:schemeClr val="tx1">
                    <a:lumMod val="85000"/>
                    <a:lumOff val="15000"/>
                  </a:schemeClr>
                </a:solidFill>
              </a:rPr>
              <a:t>Της ΕΦΑΡΜΟΓΗΣ</a:t>
            </a:r>
            <a:endParaRPr lang="en-US" dirty="0">
              <a:solidFill>
                <a:schemeClr val="tx1">
                  <a:lumMod val="85000"/>
                  <a:lumOff val="15000"/>
                </a:schemeClr>
              </a:solidFill>
            </a:endParaRPr>
          </a:p>
        </p:txBody>
      </p:sp>
      <p:sp>
        <p:nvSpPr>
          <p:cNvPr id="5" name="Slide Number Placeholder 4">
            <a:extLst>
              <a:ext uri="{FF2B5EF4-FFF2-40B4-BE49-F238E27FC236}">
                <a16:creationId xmlns:a16="http://schemas.microsoft.com/office/drawing/2014/main" id="{01BF96F7-0E78-240E-1F83-E33EAD2C500E}"/>
              </a:ext>
            </a:extLst>
          </p:cNvPr>
          <p:cNvSpPr>
            <a:spLocks noGrp="1"/>
          </p:cNvSpPr>
          <p:nvPr>
            <p:ph type="sldNum" sz="quarter" idx="10"/>
          </p:nvPr>
        </p:nvSpPr>
        <p:spPr/>
        <p:txBody>
          <a:bodyPr/>
          <a:lstStyle/>
          <a:p>
            <a:fld id="{48F63A3B-78C7-47BE-AE5E-E10140E04643}" type="slidenum">
              <a:rPr lang="en-US" smtClean="0"/>
              <a:pPr/>
              <a:t>19</a:t>
            </a:fld>
            <a:endParaRPr lang="en-US" dirty="0"/>
          </a:p>
        </p:txBody>
      </p:sp>
      <p:pic>
        <p:nvPicPr>
          <p:cNvPr id="7" name="Picture 6">
            <a:extLst>
              <a:ext uri="{FF2B5EF4-FFF2-40B4-BE49-F238E27FC236}">
                <a16:creationId xmlns:a16="http://schemas.microsoft.com/office/drawing/2014/main" id="{9320D066-5A4D-E21D-8EAF-674B8F14255F}"/>
              </a:ext>
            </a:extLst>
          </p:cNvPr>
          <p:cNvPicPr>
            <a:picLocks noChangeAspect="1"/>
          </p:cNvPicPr>
          <p:nvPr/>
        </p:nvPicPr>
        <p:blipFill>
          <a:blip r:embed="rId2"/>
          <a:stretch>
            <a:fillRect/>
          </a:stretch>
        </p:blipFill>
        <p:spPr>
          <a:xfrm>
            <a:off x="1449979" y="1477871"/>
            <a:ext cx="4315427" cy="3134162"/>
          </a:xfrm>
          <a:prstGeom prst="rect">
            <a:avLst/>
          </a:prstGeom>
        </p:spPr>
      </p:pic>
      <p:pic>
        <p:nvPicPr>
          <p:cNvPr id="9" name="Picture 8">
            <a:extLst>
              <a:ext uri="{FF2B5EF4-FFF2-40B4-BE49-F238E27FC236}">
                <a16:creationId xmlns:a16="http://schemas.microsoft.com/office/drawing/2014/main" id="{CFCAF361-178D-4D0C-6193-FCE67C0C502B}"/>
              </a:ext>
            </a:extLst>
          </p:cNvPr>
          <p:cNvPicPr>
            <a:picLocks noChangeAspect="1"/>
          </p:cNvPicPr>
          <p:nvPr/>
        </p:nvPicPr>
        <p:blipFill>
          <a:blip r:embed="rId3"/>
          <a:stretch>
            <a:fillRect/>
          </a:stretch>
        </p:blipFill>
        <p:spPr>
          <a:xfrm>
            <a:off x="6586330" y="3291595"/>
            <a:ext cx="4296375" cy="1991003"/>
          </a:xfrm>
          <a:prstGeom prst="rect">
            <a:avLst/>
          </a:prstGeom>
        </p:spPr>
      </p:pic>
      <p:pic>
        <p:nvPicPr>
          <p:cNvPr id="11" name="Picture 10">
            <a:extLst>
              <a:ext uri="{FF2B5EF4-FFF2-40B4-BE49-F238E27FC236}">
                <a16:creationId xmlns:a16="http://schemas.microsoft.com/office/drawing/2014/main" id="{807CC4B8-51A0-C7D5-65D6-5F12B1C978D2}"/>
              </a:ext>
            </a:extLst>
          </p:cNvPr>
          <p:cNvPicPr>
            <a:picLocks noChangeAspect="1"/>
          </p:cNvPicPr>
          <p:nvPr/>
        </p:nvPicPr>
        <p:blipFill>
          <a:blip r:embed="rId4"/>
          <a:stretch>
            <a:fillRect/>
          </a:stretch>
        </p:blipFill>
        <p:spPr>
          <a:xfrm>
            <a:off x="6586330" y="1513481"/>
            <a:ext cx="4305901" cy="1057423"/>
          </a:xfrm>
          <a:prstGeom prst="rect">
            <a:avLst/>
          </a:prstGeom>
        </p:spPr>
      </p:pic>
    </p:spTree>
    <p:extLst>
      <p:ext uri="{BB962C8B-B14F-4D97-AF65-F5344CB8AC3E}">
        <p14:creationId xmlns:p14="http://schemas.microsoft.com/office/powerpoint/2010/main" val="2543629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2767-A5C5-5624-3E25-FEADD25544FF}"/>
              </a:ext>
            </a:extLst>
          </p:cNvPr>
          <p:cNvSpPr>
            <a:spLocks noGrp="1"/>
          </p:cNvSpPr>
          <p:nvPr>
            <p:ph type="title"/>
          </p:nvPr>
        </p:nvSpPr>
        <p:spPr>
          <a:xfrm>
            <a:off x="4364809" y="338329"/>
            <a:ext cx="6708575" cy="1097280"/>
          </a:xfrm>
        </p:spPr>
        <p:txBody>
          <a:bodyPr/>
          <a:lstStyle/>
          <a:p>
            <a:r>
              <a:rPr lang="el-GR" dirty="0">
                <a:solidFill>
                  <a:schemeClr val="tx1">
                    <a:lumMod val="85000"/>
                    <a:lumOff val="15000"/>
                  </a:schemeClr>
                </a:solidFill>
              </a:rPr>
              <a:t>ΔΙΑΓΡΑΜΜΑ ΡΟΗς ΤΟΥ ΣΥΣΤΗΜΑΤΟς /</a:t>
            </a:r>
            <a:r>
              <a:rPr lang="en-US" dirty="0">
                <a:solidFill>
                  <a:schemeClr val="tx1">
                    <a:lumMod val="85000"/>
                    <a:lumOff val="15000"/>
                  </a:schemeClr>
                </a:solidFill>
              </a:rPr>
              <a:t> PIPELINE</a:t>
            </a:r>
          </a:p>
        </p:txBody>
      </p:sp>
      <p:sp>
        <p:nvSpPr>
          <p:cNvPr id="3" name="Slide Number Placeholder 2">
            <a:extLst>
              <a:ext uri="{FF2B5EF4-FFF2-40B4-BE49-F238E27FC236}">
                <a16:creationId xmlns:a16="http://schemas.microsoft.com/office/drawing/2014/main" id="{5D8DB02A-7B3F-D402-7D3C-365790A4D541}"/>
              </a:ext>
            </a:extLst>
          </p:cNvPr>
          <p:cNvSpPr>
            <a:spLocks noGrp="1"/>
          </p:cNvSpPr>
          <p:nvPr>
            <p:ph type="sldNum" sz="quarter" idx="10"/>
          </p:nvPr>
        </p:nvSpPr>
        <p:spPr/>
        <p:txBody>
          <a:bodyPr/>
          <a:lstStyle/>
          <a:p>
            <a:fld id="{48F63A3B-78C7-47BE-AE5E-E10140E04643}" type="slidenum">
              <a:rPr lang="en-US" smtClean="0"/>
              <a:pPr/>
              <a:t>20</a:t>
            </a:fld>
            <a:endParaRPr lang="en-US" dirty="0"/>
          </a:p>
        </p:txBody>
      </p:sp>
      <p:pic>
        <p:nvPicPr>
          <p:cNvPr id="6" name="Picture 5">
            <a:extLst>
              <a:ext uri="{FF2B5EF4-FFF2-40B4-BE49-F238E27FC236}">
                <a16:creationId xmlns:a16="http://schemas.microsoft.com/office/drawing/2014/main" id="{9832D126-E695-118C-55FA-56ACEB314C08}"/>
              </a:ext>
            </a:extLst>
          </p:cNvPr>
          <p:cNvPicPr>
            <a:picLocks noChangeAspect="1"/>
          </p:cNvPicPr>
          <p:nvPr/>
        </p:nvPicPr>
        <p:blipFill>
          <a:blip r:embed="rId2"/>
          <a:stretch>
            <a:fillRect/>
          </a:stretch>
        </p:blipFill>
        <p:spPr>
          <a:xfrm>
            <a:off x="4526971" y="1719072"/>
            <a:ext cx="6456733" cy="4023360"/>
          </a:xfrm>
          <a:prstGeom prst="rect">
            <a:avLst/>
          </a:prstGeom>
        </p:spPr>
      </p:pic>
    </p:spTree>
    <p:extLst>
      <p:ext uri="{BB962C8B-B14F-4D97-AF65-F5344CB8AC3E}">
        <p14:creationId xmlns:p14="http://schemas.microsoft.com/office/powerpoint/2010/main" val="3746149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894E1-FF9D-7EA2-F0D3-5E5272C8B350}"/>
              </a:ext>
            </a:extLst>
          </p:cNvPr>
          <p:cNvSpPr>
            <a:spLocks noGrp="1"/>
          </p:cNvSpPr>
          <p:nvPr>
            <p:ph type="title"/>
          </p:nvPr>
        </p:nvSpPr>
        <p:spPr>
          <a:xfrm>
            <a:off x="1404259" y="169195"/>
            <a:ext cx="9879437" cy="980844"/>
          </a:xfrm>
        </p:spPr>
        <p:txBody>
          <a:bodyPr/>
          <a:lstStyle/>
          <a:p>
            <a:pPr algn="ctr"/>
            <a:r>
              <a:rPr lang="el-GR" dirty="0">
                <a:solidFill>
                  <a:schemeClr val="tx1">
                    <a:lumMod val="85000"/>
                    <a:lumOff val="15000"/>
                  </a:schemeClr>
                </a:solidFill>
              </a:rPr>
              <a:t>ΑΞΙΟΛΟΓΗΣΗ ΓΕΙΩΜΕΝΩΝ ΕΡΩΤΗΣΕΩΝ</a:t>
            </a:r>
            <a:endParaRPr lang="en-US" dirty="0">
              <a:solidFill>
                <a:schemeClr val="tx1">
                  <a:lumMod val="85000"/>
                  <a:lumOff val="15000"/>
                </a:schemeClr>
              </a:solidFill>
            </a:endParaRPr>
          </a:p>
        </p:txBody>
      </p:sp>
      <p:sp>
        <p:nvSpPr>
          <p:cNvPr id="4" name="Content Placeholder 3">
            <a:extLst>
              <a:ext uri="{FF2B5EF4-FFF2-40B4-BE49-F238E27FC236}">
                <a16:creationId xmlns:a16="http://schemas.microsoft.com/office/drawing/2014/main" id="{70841CC3-11E2-4EB5-5CB7-7418EA34E084}"/>
              </a:ext>
            </a:extLst>
          </p:cNvPr>
          <p:cNvSpPr>
            <a:spLocks noGrp="1"/>
          </p:cNvSpPr>
          <p:nvPr>
            <p:ph sz="half" idx="1"/>
          </p:nvPr>
        </p:nvSpPr>
        <p:spPr>
          <a:xfrm>
            <a:off x="8127116" y="1332919"/>
            <a:ext cx="4064884" cy="5516033"/>
          </a:xfrm>
        </p:spPr>
        <p:txBody>
          <a:bodyPr>
            <a:normAutofit/>
          </a:bodyPr>
          <a:lstStyle/>
          <a:p>
            <a:r>
              <a:rPr lang="el-GR" sz="1600" dirty="0">
                <a:solidFill>
                  <a:schemeClr val="tx1">
                    <a:lumMod val="85000"/>
                    <a:lumOff val="15000"/>
                  </a:schemeClr>
                </a:solidFill>
              </a:rPr>
              <a:t>Παρατηρώντας τις ερωτήσεις πριν και μετά την διαδικασία της γείωσης, βλέπουμε ενθαρρυντικά αποτελέσματα. Οι ερωτήσεις (όταν αλλάζουν) γίνονται περισσότερο σχετικές με τα κείμενα τα οποία αναγνώρισε το σύστημα ότι τις απαντούν. </a:t>
            </a:r>
          </a:p>
          <a:p>
            <a:endParaRPr lang="el-GR" sz="1600" dirty="0">
              <a:solidFill>
                <a:schemeClr val="tx1">
                  <a:lumMod val="85000"/>
                  <a:lumOff val="15000"/>
                </a:schemeClr>
              </a:solidFill>
            </a:endParaRPr>
          </a:p>
          <a:p>
            <a:r>
              <a:rPr lang="el-GR" sz="1600" dirty="0">
                <a:solidFill>
                  <a:schemeClr val="tx1">
                    <a:lumMod val="85000"/>
                    <a:lumOff val="15000"/>
                  </a:schemeClr>
                </a:solidFill>
              </a:rPr>
              <a:t>Παραμένουν παρόμοιες αλλά τροποποιούνται με βάση το αντίστοιχο κείμενο.</a:t>
            </a:r>
          </a:p>
          <a:p>
            <a:endParaRPr lang="el-GR" sz="1600" dirty="0">
              <a:solidFill>
                <a:schemeClr val="tx1">
                  <a:lumMod val="85000"/>
                  <a:lumOff val="15000"/>
                </a:schemeClr>
              </a:solidFill>
            </a:endParaRPr>
          </a:p>
          <a:p>
            <a:r>
              <a:rPr lang="el-GR" sz="1600" dirty="0">
                <a:solidFill>
                  <a:schemeClr val="tx1">
                    <a:lumMod val="85000"/>
                    <a:lumOff val="15000"/>
                  </a:schemeClr>
                </a:solidFill>
              </a:rPr>
              <a:t>Είχε ήδη γίνει (απο το </a:t>
            </a:r>
            <a:r>
              <a:rPr lang="en-US" sz="1600" dirty="0">
                <a:solidFill>
                  <a:schemeClr val="tx1">
                    <a:lumMod val="85000"/>
                    <a:lumOff val="15000"/>
                  </a:schemeClr>
                </a:solidFill>
              </a:rPr>
              <a:t>prompting)</a:t>
            </a:r>
            <a:r>
              <a:rPr lang="el-GR" sz="1600" dirty="0">
                <a:solidFill>
                  <a:schemeClr val="tx1">
                    <a:lumMod val="85000"/>
                    <a:lumOff val="15000"/>
                  </a:schemeClr>
                </a:solidFill>
              </a:rPr>
              <a:t> μια προσπάθεια οι ερωτήσεις να είναι σύμφωνες με τα κείμενα, και για αυτό οι διαφορές δεν είναι τρομερές.</a:t>
            </a:r>
          </a:p>
          <a:p>
            <a:endParaRPr lang="el-GR" sz="1600" dirty="0">
              <a:solidFill>
                <a:schemeClr val="tx1">
                  <a:lumMod val="85000"/>
                  <a:lumOff val="15000"/>
                </a:schemeClr>
              </a:solidFill>
            </a:endParaRPr>
          </a:p>
          <a:p>
            <a:r>
              <a:rPr lang="el-GR" sz="1600" dirty="0">
                <a:solidFill>
                  <a:schemeClr val="tx1">
                    <a:lumMod val="85000"/>
                    <a:lumOff val="15000"/>
                  </a:schemeClr>
                </a:solidFill>
              </a:rPr>
              <a:t>Η επέκταση ερωτήσεων λειτουργεί ακριβώς όπως θέλουμε.</a:t>
            </a:r>
            <a:endParaRPr lang="en-US" sz="1600" dirty="0">
              <a:solidFill>
                <a:schemeClr val="tx1">
                  <a:lumMod val="85000"/>
                  <a:lumOff val="15000"/>
                </a:schemeClr>
              </a:solidFill>
            </a:endParaRPr>
          </a:p>
        </p:txBody>
      </p:sp>
      <p:sp>
        <p:nvSpPr>
          <p:cNvPr id="5" name="Slide Number Placeholder 4">
            <a:extLst>
              <a:ext uri="{FF2B5EF4-FFF2-40B4-BE49-F238E27FC236}">
                <a16:creationId xmlns:a16="http://schemas.microsoft.com/office/drawing/2014/main" id="{FEC07CD0-ABF9-049C-70B8-79880CFF0A99}"/>
              </a:ext>
            </a:extLst>
          </p:cNvPr>
          <p:cNvSpPr>
            <a:spLocks noGrp="1"/>
          </p:cNvSpPr>
          <p:nvPr>
            <p:ph type="sldNum" sz="quarter" idx="10"/>
          </p:nvPr>
        </p:nvSpPr>
        <p:spPr/>
        <p:txBody>
          <a:bodyPr/>
          <a:lstStyle/>
          <a:p>
            <a:fld id="{48F63A3B-78C7-47BE-AE5E-E10140E04643}" type="slidenum">
              <a:rPr lang="en-US" smtClean="0"/>
              <a:pPr/>
              <a:t>21</a:t>
            </a:fld>
            <a:endParaRPr lang="en-US" dirty="0"/>
          </a:p>
        </p:txBody>
      </p:sp>
      <p:pic>
        <p:nvPicPr>
          <p:cNvPr id="6" name="Picture 5">
            <a:extLst>
              <a:ext uri="{FF2B5EF4-FFF2-40B4-BE49-F238E27FC236}">
                <a16:creationId xmlns:a16="http://schemas.microsoft.com/office/drawing/2014/main" id="{805A23AB-ECFF-385D-01FB-21DD85968A4D}"/>
              </a:ext>
            </a:extLst>
          </p:cNvPr>
          <p:cNvPicPr>
            <a:picLocks noChangeAspect="1"/>
          </p:cNvPicPr>
          <p:nvPr/>
        </p:nvPicPr>
        <p:blipFill>
          <a:blip r:embed="rId2"/>
          <a:stretch>
            <a:fillRect/>
          </a:stretch>
        </p:blipFill>
        <p:spPr>
          <a:xfrm>
            <a:off x="0" y="1923245"/>
            <a:ext cx="3958402" cy="4925707"/>
          </a:xfrm>
          <a:prstGeom prst="rect">
            <a:avLst/>
          </a:prstGeom>
        </p:spPr>
      </p:pic>
      <p:pic>
        <p:nvPicPr>
          <p:cNvPr id="8" name="Picture 7">
            <a:extLst>
              <a:ext uri="{FF2B5EF4-FFF2-40B4-BE49-F238E27FC236}">
                <a16:creationId xmlns:a16="http://schemas.microsoft.com/office/drawing/2014/main" id="{EE5101B9-AB33-2918-B1B6-A913366F1D45}"/>
              </a:ext>
            </a:extLst>
          </p:cNvPr>
          <p:cNvPicPr>
            <a:picLocks noChangeAspect="1"/>
          </p:cNvPicPr>
          <p:nvPr/>
        </p:nvPicPr>
        <p:blipFill>
          <a:blip r:embed="rId3"/>
          <a:stretch>
            <a:fillRect/>
          </a:stretch>
        </p:blipFill>
        <p:spPr>
          <a:xfrm>
            <a:off x="3958402" y="1935298"/>
            <a:ext cx="4168714" cy="4925707"/>
          </a:xfrm>
          <a:prstGeom prst="rect">
            <a:avLst/>
          </a:prstGeom>
        </p:spPr>
      </p:pic>
    </p:spTree>
    <p:extLst>
      <p:ext uri="{BB962C8B-B14F-4D97-AF65-F5344CB8AC3E}">
        <p14:creationId xmlns:p14="http://schemas.microsoft.com/office/powerpoint/2010/main" val="900248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6304-742E-15DB-1C82-FD37A314F7A4}"/>
              </a:ext>
            </a:extLst>
          </p:cNvPr>
          <p:cNvSpPr>
            <a:spLocks noGrp="1"/>
          </p:cNvSpPr>
          <p:nvPr>
            <p:ph type="title"/>
          </p:nvPr>
        </p:nvSpPr>
        <p:spPr>
          <a:xfrm>
            <a:off x="2994221" y="65192"/>
            <a:ext cx="7965461" cy="994164"/>
          </a:xfrm>
        </p:spPr>
        <p:txBody>
          <a:bodyPr/>
          <a:lstStyle/>
          <a:p>
            <a:pPr algn="ctr"/>
            <a:r>
              <a:rPr lang="el-GR" sz="3200" dirty="0">
                <a:solidFill>
                  <a:schemeClr val="tx1">
                    <a:lumMod val="85000"/>
                    <a:lumOff val="15000"/>
                  </a:schemeClr>
                </a:solidFill>
              </a:rPr>
              <a:t>ΑΞΙΟΛΟΓΗΣΗ ΑΠΑΝΤΗΣΕΩΝ ΚΑΙ ΟΜΟΙΟΤΗΤΑ ΜΕ ΠΕΡΙΛΗΨΕΙς</a:t>
            </a:r>
            <a:endParaRPr lang="en-US" sz="32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2C9A39EE-0597-95C0-E4DC-5E2CDA9719C8}"/>
              </a:ext>
            </a:extLst>
          </p:cNvPr>
          <p:cNvSpPr>
            <a:spLocks noGrp="1"/>
          </p:cNvSpPr>
          <p:nvPr>
            <p:ph sz="half" idx="2"/>
          </p:nvPr>
        </p:nvSpPr>
        <p:spPr>
          <a:xfrm>
            <a:off x="2587752" y="1190024"/>
            <a:ext cx="9281160" cy="5602784"/>
          </a:xfrm>
        </p:spPr>
        <p:txBody>
          <a:bodyPr>
            <a:normAutofit/>
          </a:bodyPr>
          <a:lstStyle/>
          <a:p>
            <a:r>
              <a:rPr lang="el-GR" sz="1600" dirty="0">
                <a:solidFill>
                  <a:schemeClr val="tx1">
                    <a:lumMod val="85000"/>
                    <a:lumOff val="15000"/>
                  </a:schemeClr>
                </a:solidFill>
              </a:rPr>
              <a:t>Πέρα απο την αξιολόγηση των ερωτήσεων, έχει ιδιαίτερη σημασία και η αξιολόγηση των αντίστοιχων απαντήσεων.</a:t>
            </a:r>
            <a:endParaRPr lang="en-US" sz="1600" dirty="0">
              <a:solidFill>
                <a:schemeClr val="tx1">
                  <a:lumMod val="85000"/>
                  <a:lumOff val="15000"/>
                </a:schemeClr>
              </a:solidFill>
            </a:endParaRPr>
          </a:p>
          <a:p>
            <a:r>
              <a:rPr lang="el-GR" sz="1600" dirty="0">
                <a:solidFill>
                  <a:schemeClr val="tx1">
                    <a:lumMod val="85000"/>
                    <a:lumOff val="15000"/>
                  </a:schemeClr>
                </a:solidFill>
              </a:rPr>
              <a:t>Μας απασχόλησε ιδιαίτερα αυτό το κομμάτι, καθώς η καθολική αξιολόγηση από κάποιο μοντέλο και η ανθρώπινη αξιολόγηση όλων των σετ δεν θα είχε ιδιαίτερο νόημα. Το πρόβλημα ήταν το πώς γίνεται να ποσοτικοποιηθεί και να εξεταστεί η ακρίβεια και η εγκυρότητα κάθε ερώτησης</a:t>
            </a:r>
            <a:r>
              <a:rPr lang="el-GR" sz="1600" dirty="0"/>
              <a:t>.</a:t>
            </a:r>
            <a:endParaRPr lang="el-GR" sz="1600" dirty="0">
              <a:solidFill>
                <a:schemeClr val="tx1">
                  <a:lumMod val="85000"/>
                  <a:lumOff val="15000"/>
                </a:schemeClr>
              </a:solidFill>
            </a:endParaRPr>
          </a:p>
          <a:p>
            <a:r>
              <a:rPr lang="el-GR" sz="1600" dirty="0">
                <a:solidFill>
                  <a:schemeClr val="tx1">
                    <a:lumMod val="85000"/>
                    <a:lumOff val="15000"/>
                  </a:schemeClr>
                </a:solidFill>
              </a:rPr>
              <a:t>Μέθοδοι όπως </a:t>
            </a:r>
            <a:r>
              <a:rPr lang="en-US" sz="1600" dirty="0">
                <a:solidFill>
                  <a:schemeClr val="tx1">
                    <a:lumMod val="85000"/>
                    <a:lumOff val="15000"/>
                  </a:schemeClr>
                </a:solidFill>
              </a:rPr>
              <a:t>exact match</a:t>
            </a:r>
            <a:r>
              <a:rPr lang="el-GR" sz="1600" dirty="0">
                <a:solidFill>
                  <a:schemeClr val="tx1">
                    <a:lumMod val="85000"/>
                    <a:lumOff val="15000"/>
                  </a:schemeClr>
                </a:solidFill>
              </a:rPr>
              <a:t> και </a:t>
            </a:r>
            <a:r>
              <a:rPr lang="en-US" sz="1600" dirty="0">
                <a:solidFill>
                  <a:schemeClr val="tx1">
                    <a:lumMod val="85000"/>
                    <a:lumOff val="15000"/>
                  </a:schemeClr>
                </a:solidFill>
              </a:rPr>
              <a:t>rule</a:t>
            </a:r>
            <a:r>
              <a:rPr lang="el-GR" sz="1600" dirty="0">
                <a:solidFill>
                  <a:schemeClr val="tx1">
                    <a:lumMod val="85000"/>
                    <a:lumOff val="15000"/>
                  </a:schemeClr>
                </a:solidFill>
              </a:rPr>
              <a:t>-</a:t>
            </a:r>
            <a:r>
              <a:rPr lang="en-US" sz="1600" dirty="0">
                <a:solidFill>
                  <a:schemeClr val="tx1">
                    <a:lumMod val="85000"/>
                    <a:lumOff val="15000"/>
                  </a:schemeClr>
                </a:solidFill>
              </a:rPr>
              <a:t>based evaluation </a:t>
            </a:r>
            <a:r>
              <a:rPr lang="el-GR" sz="1600" dirty="0">
                <a:solidFill>
                  <a:schemeClr val="tx1">
                    <a:lumMod val="85000"/>
                    <a:lumOff val="15000"/>
                  </a:schemeClr>
                </a:solidFill>
              </a:rPr>
              <a:t>δεν εξυπηρετούν το συγκεκριμένο σύστημα.</a:t>
            </a:r>
          </a:p>
          <a:p>
            <a:r>
              <a:rPr lang="el-GR" sz="1600" dirty="0">
                <a:solidFill>
                  <a:schemeClr val="tx1">
                    <a:lumMod val="85000"/>
                    <a:lumOff val="15000"/>
                  </a:schemeClr>
                </a:solidFill>
              </a:rPr>
              <a:t>Επιλέχθηκε κάτι διαφορετικό. Οι απαντήσεις αντιμετωπίζονται ως περιλήψεις των αντίστοιχων κειμένων και, συνεπώς, γίνεται χρήση μετρικών </a:t>
            </a:r>
            <a:r>
              <a:rPr lang="en-US" sz="1600" dirty="0">
                <a:solidFill>
                  <a:schemeClr val="tx1">
                    <a:lumMod val="85000"/>
                    <a:lumOff val="15000"/>
                  </a:schemeClr>
                </a:solidFill>
              </a:rPr>
              <a:t>text summarization.</a:t>
            </a:r>
          </a:p>
          <a:p>
            <a:r>
              <a:rPr lang="el-GR" sz="1600" dirty="0">
                <a:solidFill>
                  <a:schemeClr val="tx1">
                    <a:lumMod val="85000"/>
                    <a:lumOff val="15000"/>
                  </a:schemeClr>
                </a:solidFill>
              </a:rPr>
              <a:t>Η προσέγγιση αυτή βασίζεται στην παρατήρηση ότι, στο πλαίσιο ενός συστήματος ερωταπαντήσεων, η απάντηση που παράγει το μοντέλο μπορεί να θεωρηθεί ως μια σύνοψη του σχετικού αποσπάσματος της βάσης γνώσης, επικεντρωμένη γύρω από την πληροφορία που ζητά η ερώτηση</a:t>
            </a:r>
            <a:r>
              <a:rPr lang="en-US" sz="1600" dirty="0">
                <a:solidFill>
                  <a:schemeClr val="tx1">
                    <a:lumMod val="85000"/>
                    <a:lumOff val="15000"/>
                  </a:schemeClr>
                </a:solidFill>
              </a:rPr>
              <a:t> (</a:t>
            </a:r>
            <a:r>
              <a:rPr lang="el-GR" sz="1600" dirty="0">
                <a:solidFill>
                  <a:schemeClr val="tx1">
                    <a:lumMod val="85000"/>
                    <a:lumOff val="15000"/>
                  </a:schemeClr>
                </a:solidFill>
              </a:rPr>
              <a:t>υπάρχουν παρόμοιες προσεγγίσεις και συνδέσεις </a:t>
            </a:r>
            <a:r>
              <a:rPr lang="en-US" sz="1600" dirty="0">
                <a:solidFill>
                  <a:schemeClr val="tx1">
                    <a:lumMod val="85000"/>
                    <a:lumOff val="15000"/>
                  </a:schemeClr>
                </a:solidFill>
              </a:rPr>
              <a:t>QA-Summarization </a:t>
            </a:r>
            <a:r>
              <a:rPr lang="el-GR" sz="1600" dirty="0">
                <a:solidFill>
                  <a:schemeClr val="tx1">
                    <a:lumMod val="85000"/>
                    <a:lumOff val="15000"/>
                  </a:schemeClr>
                </a:solidFill>
              </a:rPr>
              <a:t>στην βιβλιογραφία)</a:t>
            </a:r>
            <a:r>
              <a:rPr lang="el-GR" sz="1600" dirty="0"/>
              <a:t>.</a:t>
            </a:r>
          </a:p>
          <a:p>
            <a:r>
              <a:rPr lang="el-GR" sz="1600" dirty="0">
                <a:solidFill>
                  <a:schemeClr val="tx1">
                    <a:lumMod val="85000"/>
                    <a:lumOff val="15000"/>
                  </a:schemeClr>
                </a:solidFill>
              </a:rPr>
              <a:t>Κάθε απάντηση του συστήματος αντιμετωπίστηκε ως μια σύνοψη της πληροφορίας που βρίσκεται στο σχετικό κείμενο, και συγκρίθηκε με μια αντίστοιχη απάντηση αναφοράς, δηλαδή με την περίληψη/απάντηση που θα παρήγαγε ένας άνθρωπος για την ίδια ερώτηση. Με αυτή την σύγκριση εκτιμούμε σε ποιο βαθμό η απάντηση του μοντέλου παρέχει τις ίδιες βασικές πληροφορίες που αναγνωρίσαμε εμείς, απαντώντας τις ερωτήσεις.</a:t>
            </a:r>
            <a:endParaRPr lang="en-US" sz="1600" dirty="0">
              <a:solidFill>
                <a:schemeClr val="tx1">
                  <a:lumMod val="85000"/>
                  <a:lumOff val="15000"/>
                </a:schemeClr>
              </a:solidFill>
            </a:endParaRPr>
          </a:p>
        </p:txBody>
      </p:sp>
      <p:sp>
        <p:nvSpPr>
          <p:cNvPr id="4" name="Slide Number Placeholder 3">
            <a:extLst>
              <a:ext uri="{FF2B5EF4-FFF2-40B4-BE49-F238E27FC236}">
                <a16:creationId xmlns:a16="http://schemas.microsoft.com/office/drawing/2014/main" id="{F8B4F10D-7987-DEB7-8771-5D8321B7D6F7}"/>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332723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28EC-B923-9A41-26EC-E3AA94156C3A}"/>
              </a:ext>
            </a:extLst>
          </p:cNvPr>
          <p:cNvSpPr>
            <a:spLocks noGrp="1"/>
          </p:cNvSpPr>
          <p:nvPr>
            <p:ph type="title"/>
          </p:nvPr>
        </p:nvSpPr>
        <p:spPr>
          <a:xfrm>
            <a:off x="840186" y="580232"/>
            <a:ext cx="10511627" cy="541296"/>
          </a:xfrm>
        </p:spPr>
        <p:txBody>
          <a:bodyPr/>
          <a:lstStyle/>
          <a:p>
            <a:r>
              <a:rPr lang="el-GR" dirty="0">
                <a:solidFill>
                  <a:schemeClr val="tx1">
                    <a:lumMod val="85000"/>
                    <a:lumOff val="15000"/>
                  </a:schemeClr>
                </a:solidFill>
              </a:rPr>
              <a:t>Διαδικασια αξιολογησης</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74CBB63F-A997-ED89-460C-837F1DFEC824}"/>
              </a:ext>
            </a:extLst>
          </p:cNvPr>
          <p:cNvSpPr>
            <a:spLocks noGrp="1"/>
          </p:cNvSpPr>
          <p:nvPr>
            <p:ph sz="quarter" idx="4"/>
          </p:nvPr>
        </p:nvSpPr>
        <p:spPr>
          <a:xfrm>
            <a:off x="521208" y="1121529"/>
            <a:ext cx="11073384" cy="5416431"/>
          </a:xfrm>
        </p:spPr>
        <p:txBody>
          <a:bodyPr>
            <a:normAutofit lnSpcReduction="10000"/>
          </a:bodyPr>
          <a:lstStyle/>
          <a:p>
            <a:r>
              <a:rPr lang="el-GR" sz="1600" dirty="0">
                <a:solidFill>
                  <a:schemeClr val="tx1">
                    <a:lumMod val="85000"/>
                    <a:lumOff val="15000"/>
                  </a:schemeClr>
                </a:solidFill>
              </a:rPr>
              <a:t>Επιλέξαμε τυχαία μερικές ερωτήσεις και τις απαντήσαμε με βάση το αντίστοιχο κείμενο που αντλήθηκε η απάντηση.</a:t>
            </a:r>
          </a:p>
          <a:p>
            <a:pPr marL="0" indent="0">
              <a:buNone/>
            </a:pPr>
            <a:endParaRPr lang="el-GR" sz="1600" dirty="0">
              <a:solidFill>
                <a:schemeClr val="tx1">
                  <a:lumMod val="85000"/>
                  <a:lumOff val="15000"/>
                </a:schemeClr>
              </a:solidFill>
            </a:endParaRPr>
          </a:p>
          <a:p>
            <a:r>
              <a:rPr lang="el-GR" sz="1600" dirty="0">
                <a:solidFill>
                  <a:schemeClr val="tx1">
                    <a:lumMod val="85000"/>
                    <a:lumOff val="15000"/>
                  </a:schemeClr>
                </a:solidFill>
              </a:rPr>
              <a:t>Να σημειώσουμε ότι ελέγξαμε και το </a:t>
            </a:r>
            <a:r>
              <a:rPr lang="en-US" sz="1600" dirty="0">
                <a:solidFill>
                  <a:schemeClr val="tx1">
                    <a:lumMod val="85000"/>
                    <a:lumOff val="15000"/>
                  </a:schemeClr>
                </a:solidFill>
              </a:rPr>
              <a:t>original </a:t>
            </a:r>
            <a:r>
              <a:rPr lang="el-GR" sz="1600" dirty="0">
                <a:solidFill>
                  <a:schemeClr val="tx1">
                    <a:lumMod val="85000"/>
                    <a:lumOff val="15000"/>
                  </a:schemeClr>
                </a:solidFill>
              </a:rPr>
              <a:t>κείμενο απο το οποίο προήλθαν οι ερωτήσεις, όταν το κείμενο που αντλήθηκε η απάντηση ήταν διαφορετικό από αυτό. Σε κάποιες περιπτώσεις υπήρχε απάντηση και στο </a:t>
            </a:r>
            <a:r>
              <a:rPr lang="en-US" sz="1600" dirty="0">
                <a:solidFill>
                  <a:schemeClr val="tx1">
                    <a:lumMod val="85000"/>
                    <a:lumOff val="15000"/>
                  </a:schemeClr>
                </a:solidFill>
              </a:rPr>
              <a:t>original</a:t>
            </a:r>
            <a:r>
              <a:rPr lang="el-GR" sz="1600" dirty="0">
                <a:solidFill>
                  <a:schemeClr val="tx1">
                    <a:lumMod val="85000"/>
                    <a:lumOff val="15000"/>
                  </a:schemeClr>
                </a:solidFill>
              </a:rPr>
              <a:t>(σε άλλες όχι)</a:t>
            </a:r>
            <a:r>
              <a:rPr lang="en-US" sz="1600" dirty="0">
                <a:solidFill>
                  <a:schemeClr val="tx1">
                    <a:lumMod val="85000"/>
                    <a:lumOff val="15000"/>
                  </a:schemeClr>
                </a:solidFill>
              </a:rPr>
              <a:t>, </a:t>
            </a:r>
            <a:r>
              <a:rPr lang="el-GR" sz="1600" dirty="0">
                <a:solidFill>
                  <a:schemeClr val="tx1">
                    <a:lumMod val="85000"/>
                    <a:lumOff val="15000"/>
                  </a:schemeClr>
                </a:solidFill>
              </a:rPr>
              <a:t>αλλά πάντα ήταν πιο ξεκάθαρη η απάντηση στο  κείμενο που επιλέχθηκε τελικά.</a:t>
            </a:r>
          </a:p>
          <a:p>
            <a:pPr marL="0" indent="0">
              <a:buNone/>
            </a:pPr>
            <a:endParaRPr lang="el-GR" sz="1600" dirty="0">
              <a:solidFill>
                <a:schemeClr val="tx1">
                  <a:lumMod val="85000"/>
                  <a:lumOff val="15000"/>
                </a:schemeClr>
              </a:solidFill>
            </a:endParaRPr>
          </a:p>
          <a:p>
            <a:r>
              <a:rPr lang="el-GR" sz="1600" dirty="0">
                <a:solidFill>
                  <a:schemeClr val="tx1">
                    <a:lumMod val="85000"/>
                    <a:lumOff val="15000"/>
                  </a:schemeClr>
                </a:solidFill>
              </a:rPr>
              <a:t>Κρατήσαμε τις απαντήσεις που δώσαμε σε ένα αρχείο με κατάλληλο </a:t>
            </a:r>
            <a:r>
              <a:rPr lang="en-US" sz="1600" dirty="0">
                <a:solidFill>
                  <a:schemeClr val="tx1">
                    <a:lumMod val="85000"/>
                    <a:lumOff val="15000"/>
                  </a:schemeClr>
                </a:solidFill>
              </a:rPr>
              <a:t>formatting, </a:t>
            </a:r>
            <a:r>
              <a:rPr lang="el-GR" sz="1600" dirty="0">
                <a:solidFill>
                  <a:schemeClr val="tx1">
                    <a:lumMod val="85000"/>
                    <a:lumOff val="15000"/>
                  </a:schemeClr>
                </a:solidFill>
              </a:rPr>
              <a:t>και υλοποιήσαμε κώδικα που τις συγκρίνει με χρήση μετρικών </a:t>
            </a:r>
            <a:r>
              <a:rPr lang="en-US" sz="1600" dirty="0">
                <a:solidFill>
                  <a:schemeClr val="tx1">
                    <a:lumMod val="85000"/>
                    <a:lumOff val="15000"/>
                  </a:schemeClr>
                </a:solidFill>
              </a:rPr>
              <a:t>text summarization, </a:t>
            </a:r>
            <a:r>
              <a:rPr lang="el-GR" sz="1600" dirty="0">
                <a:solidFill>
                  <a:schemeClr val="tx1">
                    <a:lumMod val="85000"/>
                    <a:lumOff val="15000"/>
                  </a:schemeClr>
                </a:solidFill>
              </a:rPr>
              <a:t>με τις αντίστοιχες απαντήσεις του μοντέλου.</a:t>
            </a:r>
          </a:p>
          <a:p>
            <a:endParaRPr lang="el-GR" sz="1600" dirty="0">
              <a:solidFill>
                <a:schemeClr val="tx1">
                  <a:lumMod val="85000"/>
                  <a:lumOff val="15000"/>
                </a:schemeClr>
              </a:solidFill>
            </a:endParaRPr>
          </a:p>
          <a:p>
            <a:r>
              <a:rPr lang="el-GR" sz="1600" dirty="0">
                <a:solidFill>
                  <a:schemeClr val="tx1">
                    <a:lumMod val="85000"/>
                    <a:lumOff val="15000"/>
                  </a:schemeClr>
                </a:solidFill>
              </a:rPr>
              <a:t>Έχουμε, λοιπόν, μια γενική εικόνα για την απόδοση του συστήματος, μέσω αυτής της δειγματοληψίας.</a:t>
            </a:r>
          </a:p>
          <a:p>
            <a:endParaRPr lang="el-GR" sz="1600" dirty="0">
              <a:solidFill>
                <a:schemeClr val="tx1">
                  <a:lumMod val="85000"/>
                  <a:lumOff val="15000"/>
                </a:schemeClr>
              </a:solidFill>
            </a:endParaRPr>
          </a:p>
          <a:p>
            <a:r>
              <a:rPr lang="el-GR" sz="1600" dirty="0">
                <a:solidFill>
                  <a:schemeClr val="tx1">
                    <a:lumMod val="85000"/>
                    <a:lumOff val="15000"/>
                  </a:schemeClr>
                </a:solidFill>
              </a:rPr>
              <a:t>Να σημειώσουμε ότι ελέγξαμε και άλλα σετ ερωταπαντήσεων για σιγουριά, και δεν παρατηρήθηκε κάτι ανησυχητικό.  Ελάχιστες περιπτώσεις είχαν λανθασμένα αποτελέσματα.</a:t>
            </a:r>
          </a:p>
          <a:p>
            <a:endParaRPr lang="el-GR" sz="1600" dirty="0">
              <a:solidFill>
                <a:schemeClr val="tx1">
                  <a:lumMod val="85000"/>
                  <a:lumOff val="15000"/>
                </a:schemeClr>
              </a:solidFill>
            </a:endParaRPr>
          </a:p>
          <a:p>
            <a:r>
              <a:rPr lang="el-GR" sz="1600" dirty="0">
                <a:solidFill>
                  <a:schemeClr val="tx1">
                    <a:lumMod val="85000"/>
                    <a:lumOff val="15000"/>
                  </a:schemeClr>
                </a:solidFill>
              </a:rPr>
              <a:t>Οι ερωτήσεις με απάντηση </a:t>
            </a:r>
            <a:r>
              <a:rPr lang="en-US" sz="1600" dirty="0">
                <a:solidFill>
                  <a:schemeClr val="tx1">
                    <a:lumMod val="85000"/>
                    <a:lumOff val="15000"/>
                  </a:schemeClr>
                </a:solidFill>
              </a:rPr>
              <a:t>Yes/No,</a:t>
            </a:r>
            <a:r>
              <a:rPr lang="el-GR" sz="1600" dirty="0">
                <a:solidFill>
                  <a:schemeClr val="tx1">
                    <a:lumMod val="85000"/>
                    <a:lumOff val="15000"/>
                  </a:schemeClr>
                </a:solidFill>
              </a:rPr>
              <a:t> αξιολογήθηκαν ξεχωριστά.  Ήταν 9 στο σύνολο και μονάχα η μια ήταν λανθασμένη (</a:t>
            </a:r>
            <a:r>
              <a:rPr lang="en-US" sz="1600" dirty="0">
                <a:solidFill>
                  <a:schemeClr val="tx1">
                    <a:lumMod val="85000"/>
                    <a:lumOff val="15000"/>
                  </a:schemeClr>
                </a:solidFill>
              </a:rPr>
              <a:t>No </a:t>
            </a:r>
            <a:r>
              <a:rPr lang="el-GR" sz="1600" dirty="0">
                <a:solidFill>
                  <a:schemeClr val="tx1">
                    <a:lumMod val="85000"/>
                    <a:lumOff val="15000"/>
                  </a:schemeClr>
                </a:solidFill>
              </a:rPr>
              <a:t>αντί για </a:t>
            </a:r>
            <a:r>
              <a:rPr lang="en-US" sz="1600" dirty="0">
                <a:solidFill>
                  <a:schemeClr val="tx1">
                    <a:lumMod val="85000"/>
                    <a:lumOff val="15000"/>
                  </a:schemeClr>
                </a:solidFill>
              </a:rPr>
              <a:t>Yes).</a:t>
            </a:r>
            <a:r>
              <a:rPr lang="el-GR" sz="1600" dirty="0">
                <a:solidFill>
                  <a:schemeClr val="tx1">
                    <a:lumMod val="85000"/>
                    <a:lumOff val="15000"/>
                  </a:schemeClr>
                </a:solidFill>
              </a:rPr>
              <a:t> Αυτό δεν μας ανησύχησε καθώς ήταν μόνο μια περίπτωση και πιθανόν να προέκυψε λόγω αδυναμίας του μοντέλου να αναγνωρίσει την απάντηση (πιθανότατα κάποια άρνηση στο κείμενο, το οδήγησε στο </a:t>
            </a:r>
            <a:r>
              <a:rPr lang="en-US" sz="1600" dirty="0">
                <a:solidFill>
                  <a:schemeClr val="tx1">
                    <a:lumMod val="85000"/>
                    <a:lumOff val="15000"/>
                  </a:schemeClr>
                </a:solidFill>
              </a:rPr>
              <a:t>No).</a:t>
            </a:r>
          </a:p>
        </p:txBody>
      </p:sp>
      <p:sp>
        <p:nvSpPr>
          <p:cNvPr id="4" name="Slide Number Placeholder 3">
            <a:extLst>
              <a:ext uri="{FF2B5EF4-FFF2-40B4-BE49-F238E27FC236}">
                <a16:creationId xmlns:a16="http://schemas.microsoft.com/office/drawing/2014/main" id="{8EFE8886-AC6A-2347-9937-B81A24FE5125}"/>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2749042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874C-4234-D0A7-3049-9BD2DC459B2C}"/>
              </a:ext>
            </a:extLst>
          </p:cNvPr>
          <p:cNvSpPr>
            <a:spLocks noGrp="1"/>
          </p:cNvSpPr>
          <p:nvPr>
            <p:ph type="title"/>
          </p:nvPr>
        </p:nvSpPr>
        <p:spPr>
          <a:xfrm>
            <a:off x="3323405" y="195861"/>
            <a:ext cx="7965461" cy="994164"/>
          </a:xfrm>
        </p:spPr>
        <p:txBody>
          <a:bodyPr/>
          <a:lstStyle/>
          <a:p>
            <a:pPr algn="ctr"/>
            <a:r>
              <a:rPr lang="el-GR" dirty="0">
                <a:solidFill>
                  <a:schemeClr val="tx1">
                    <a:lumMod val="85000"/>
                    <a:lumOff val="15000"/>
                  </a:schemeClr>
                </a:solidFill>
              </a:rPr>
              <a:t>Μετρικες που χρησιμοποιηθηκαν</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ABD37D7A-53F5-4485-9B24-542402367832}"/>
              </a:ext>
            </a:extLst>
          </p:cNvPr>
          <p:cNvSpPr>
            <a:spLocks noGrp="1"/>
          </p:cNvSpPr>
          <p:nvPr>
            <p:ph sz="half" idx="2"/>
          </p:nvPr>
        </p:nvSpPr>
        <p:spPr>
          <a:xfrm>
            <a:off x="2660904" y="1190025"/>
            <a:ext cx="9290304" cy="5472114"/>
          </a:xfrm>
        </p:spPr>
        <p:txBody>
          <a:bodyPr>
            <a:normAutofit/>
          </a:bodyPr>
          <a:lstStyle/>
          <a:p>
            <a:r>
              <a:rPr lang="en-US" b="1" dirty="0">
                <a:solidFill>
                  <a:schemeClr val="tx1">
                    <a:lumMod val="85000"/>
                    <a:lumOff val="15000"/>
                  </a:schemeClr>
                </a:solidFill>
              </a:rPr>
              <a:t>ROUGE: </a:t>
            </a:r>
            <a:r>
              <a:rPr lang="el-GR" dirty="0">
                <a:solidFill>
                  <a:schemeClr val="tx1">
                    <a:lumMod val="85000"/>
                    <a:lumOff val="15000"/>
                  </a:schemeClr>
                </a:solidFill>
              </a:rPr>
              <a:t>Μετρά την επικάλυψη</a:t>
            </a:r>
            <a:r>
              <a:rPr lang="en-US" dirty="0">
                <a:solidFill>
                  <a:schemeClr val="tx1">
                    <a:lumMod val="85000"/>
                    <a:lumOff val="15000"/>
                  </a:schemeClr>
                </a:solidFill>
              </a:rPr>
              <a:t> n-grams </a:t>
            </a:r>
            <a:r>
              <a:rPr lang="el-GR" dirty="0">
                <a:solidFill>
                  <a:schemeClr val="tx1">
                    <a:lumMod val="85000"/>
                    <a:lumOff val="15000"/>
                  </a:schemeClr>
                </a:solidFill>
              </a:rPr>
              <a:t>μεταξύ της παραγόμενης απάντησης και της απάντησης αναφοράς. Διακρίνεται σε παραλλαγές </a:t>
            </a:r>
            <a:r>
              <a:rPr lang="en-US" dirty="0">
                <a:solidFill>
                  <a:schemeClr val="tx1">
                    <a:lumMod val="85000"/>
                    <a:lumOff val="15000"/>
                  </a:schemeClr>
                </a:solidFill>
              </a:rPr>
              <a:t>ROUGE-1 (</a:t>
            </a:r>
            <a:r>
              <a:rPr lang="el-GR" dirty="0">
                <a:solidFill>
                  <a:schemeClr val="tx1">
                    <a:lumMod val="85000"/>
                    <a:lumOff val="15000"/>
                  </a:schemeClr>
                </a:solidFill>
              </a:rPr>
              <a:t>επικάλυψη </a:t>
            </a:r>
            <a:r>
              <a:rPr lang="en-US" dirty="0">
                <a:solidFill>
                  <a:schemeClr val="tx1">
                    <a:lumMod val="85000"/>
                    <a:lumOff val="15000"/>
                  </a:schemeClr>
                </a:solidFill>
              </a:rPr>
              <a:t>unigrams), ROUGE-2(</a:t>
            </a:r>
            <a:r>
              <a:rPr lang="el-GR" dirty="0">
                <a:solidFill>
                  <a:schemeClr val="tx1">
                    <a:lumMod val="85000"/>
                    <a:lumOff val="15000"/>
                  </a:schemeClr>
                </a:solidFill>
              </a:rPr>
              <a:t>επικάλυψη </a:t>
            </a:r>
            <a:r>
              <a:rPr lang="en-US" dirty="0">
                <a:solidFill>
                  <a:schemeClr val="tx1">
                    <a:lumMod val="85000"/>
                    <a:lumOff val="15000"/>
                  </a:schemeClr>
                </a:solidFill>
              </a:rPr>
              <a:t>bigrams), ROUGE-L(</a:t>
            </a:r>
            <a:r>
              <a:rPr lang="el-GR" dirty="0">
                <a:solidFill>
                  <a:schemeClr val="tx1">
                    <a:lumMod val="85000"/>
                    <a:lumOff val="15000"/>
                  </a:schemeClr>
                </a:solidFill>
              </a:rPr>
              <a:t>βασίζεται σε </a:t>
            </a:r>
            <a:r>
              <a:rPr lang="en-US" dirty="0">
                <a:solidFill>
                  <a:schemeClr val="tx1">
                    <a:lumMod val="85000"/>
                    <a:lumOff val="15000"/>
                  </a:schemeClr>
                </a:solidFill>
              </a:rPr>
              <a:t>LCS) </a:t>
            </a:r>
            <a:r>
              <a:rPr lang="el-GR" dirty="0">
                <a:solidFill>
                  <a:schemeClr val="tx1">
                    <a:lumMod val="85000"/>
                    <a:lumOff val="15000"/>
                  </a:schemeClr>
                </a:solidFill>
              </a:rPr>
              <a:t>και </a:t>
            </a:r>
            <a:r>
              <a:rPr lang="en-US" dirty="0">
                <a:solidFill>
                  <a:schemeClr val="tx1">
                    <a:lumMod val="85000"/>
                    <a:lumOff val="15000"/>
                  </a:schemeClr>
                </a:solidFill>
              </a:rPr>
              <a:t>ROUGE-</a:t>
            </a:r>
            <a:r>
              <a:rPr lang="en-US" dirty="0" err="1">
                <a:solidFill>
                  <a:schemeClr val="tx1">
                    <a:lumMod val="85000"/>
                    <a:lumOff val="15000"/>
                  </a:schemeClr>
                </a:solidFill>
              </a:rPr>
              <a:t>Lsum</a:t>
            </a:r>
            <a:r>
              <a:rPr lang="en-US" dirty="0">
                <a:solidFill>
                  <a:schemeClr val="tx1">
                    <a:lumMod val="85000"/>
                    <a:lumOff val="15000"/>
                  </a:schemeClr>
                </a:solidFill>
              </a:rPr>
              <a:t> (</a:t>
            </a:r>
            <a:r>
              <a:rPr lang="el-GR" dirty="0">
                <a:solidFill>
                  <a:schemeClr val="tx1">
                    <a:lumMod val="85000"/>
                    <a:lumOff val="15000"/>
                  </a:schemeClr>
                </a:solidFill>
              </a:rPr>
              <a:t>συγκρίνει σε επίπεδο προτάσεων). </a:t>
            </a:r>
          </a:p>
          <a:p>
            <a:r>
              <a:rPr lang="el-GR" dirty="0">
                <a:solidFill>
                  <a:schemeClr val="tx1">
                    <a:lumMod val="85000"/>
                    <a:lumOff val="15000"/>
                  </a:schemeClr>
                </a:solidFill>
              </a:rPr>
              <a:t>Η μετρική αυτή δείχνει πόσο η παραγόμενη σύνοψη μοιάζει λεκτικά με την απάντηση αναφοράς.</a:t>
            </a:r>
          </a:p>
          <a:p>
            <a:r>
              <a:rPr lang="el-GR" dirty="0">
                <a:solidFill>
                  <a:schemeClr val="tx1">
                    <a:lumMod val="85000"/>
                    <a:lumOff val="15000"/>
                  </a:schemeClr>
                </a:solidFill>
              </a:rPr>
              <a:t>Για την αξιολόγηση των απαντήσεων, επιλέχθηκαν οι μετρικές </a:t>
            </a:r>
            <a:r>
              <a:rPr lang="en-US" dirty="0">
                <a:solidFill>
                  <a:schemeClr val="tx1">
                    <a:lumMod val="85000"/>
                    <a:lumOff val="15000"/>
                  </a:schemeClr>
                </a:solidFill>
              </a:rPr>
              <a:t>ROUGE-1 </a:t>
            </a:r>
            <a:r>
              <a:rPr lang="el-GR" dirty="0">
                <a:solidFill>
                  <a:schemeClr val="tx1">
                    <a:lumMod val="85000"/>
                    <a:lumOff val="15000"/>
                  </a:schemeClr>
                </a:solidFill>
              </a:rPr>
              <a:t>και (λιγότερο σημαντική) η </a:t>
            </a:r>
            <a:r>
              <a:rPr lang="en-US" dirty="0">
                <a:solidFill>
                  <a:schemeClr val="tx1">
                    <a:lumMod val="85000"/>
                    <a:lumOff val="15000"/>
                  </a:schemeClr>
                </a:solidFill>
              </a:rPr>
              <a:t>ROUGE-L. H ROUGE-1 </a:t>
            </a:r>
            <a:r>
              <a:rPr lang="el-GR" dirty="0">
                <a:solidFill>
                  <a:schemeClr val="tx1">
                    <a:lumMod val="85000"/>
                    <a:lumOff val="15000"/>
                  </a:schemeClr>
                </a:solidFill>
              </a:rPr>
              <a:t>(και ειδικά το τμήμα </a:t>
            </a:r>
            <a:r>
              <a:rPr lang="en-US" dirty="0">
                <a:solidFill>
                  <a:schemeClr val="tx1">
                    <a:lumMod val="85000"/>
                    <a:lumOff val="15000"/>
                  </a:schemeClr>
                </a:solidFill>
              </a:rPr>
              <a:t>precision), </a:t>
            </a:r>
            <a:r>
              <a:rPr lang="el-GR" dirty="0">
                <a:solidFill>
                  <a:schemeClr val="tx1">
                    <a:lumMod val="85000"/>
                    <a:lumOff val="15000"/>
                  </a:schemeClr>
                </a:solidFill>
              </a:rPr>
              <a:t>δείχνουν αν η απάντησή μας περιέχει τα σημαντικά στοιχεία της απάντησης του μοντέλου, γεγονός που βοηθάει στην αξιολόγηση αυτών των σύντομων απαντήσεων. Δεν χρειάζεται να είναι ολόιδιες για καλό </a:t>
            </a:r>
            <a:r>
              <a:rPr lang="en-US" dirty="0">
                <a:solidFill>
                  <a:schemeClr val="tx1">
                    <a:lumMod val="85000"/>
                    <a:lumOff val="15000"/>
                  </a:schemeClr>
                </a:solidFill>
              </a:rPr>
              <a:t>score, </a:t>
            </a:r>
            <a:r>
              <a:rPr lang="el-GR" dirty="0">
                <a:solidFill>
                  <a:schemeClr val="tx1">
                    <a:lumMod val="85000"/>
                    <a:lumOff val="15000"/>
                  </a:schemeClr>
                </a:solidFill>
              </a:rPr>
              <a:t>απλά να έχουν ίδιες «λέξεις-κλειδιά».</a:t>
            </a:r>
          </a:p>
          <a:p>
            <a:r>
              <a:rPr lang="en-US" b="1" dirty="0">
                <a:solidFill>
                  <a:schemeClr val="tx1">
                    <a:lumMod val="85000"/>
                    <a:lumOff val="15000"/>
                  </a:schemeClr>
                </a:solidFill>
              </a:rPr>
              <a:t>BERTSCORE: </a:t>
            </a:r>
            <a:r>
              <a:rPr lang="el-GR" dirty="0">
                <a:solidFill>
                  <a:schemeClr val="tx1">
                    <a:lumMod val="85000"/>
                    <a:lumOff val="15000"/>
                  </a:schemeClr>
                </a:solidFill>
              </a:rPr>
              <a:t>Βασίζεται σε μοντέλα BERT και μετρά σημασιολογική ομοιότητα μεταξύ παραγόμενης απάντησης και αναφοράς. Ο υπολογισμός γίνεται</a:t>
            </a:r>
            <a:r>
              <a:rPr lang="en-US" dirty="0">
                <a:solidFill>
                  <a:schemeClr val="tx1">
                    <a:lumMod val="85000"/>
                    <a:lumOff val="15000"/>
                  </a:schemeClr>
                </a:solidFill>
              </a:rPr>
              <a:t> </a:t>
            </a:r>
            <a:r>
              <a:rPr lang="el-GR" dirty="0">
                <a:solidFill>
                  <a:schemeClr val="tx1">
                    <a:lumMod val="85000"/>
                    <a:lumOff val="15000"/>
                  </a:schemeClr>
                </a:solidFill>
              </a:rPr>
              <a:t>συγκρίνοντας embeddings κάθε λέξης. Προσφέρει την δυνατότητα διαχείρησης συνώνυμων και γενικά σημασιολογικής κάλυψης</a:t>
            </a:r>
            <a:r>
              <a:rPr lang="en-US" dirty="0">
                <a:solidFill>
                  <a:schemeClr val="tx1">
                    <a:lumMod val="85000"/>
                    <a:lumOff val="15000"/>
                  </a:schemeClr>
                </a:solidFill>
              </a:rPr>
              <a:t>.</a:t>
            </a:r>
          </a:p>
          <a:p>
            <a:r>
              <a:rPr lang="el-GR" dirty="0">
                <a:solidFill>
                  <a:schemeClr val="tx1">
                    <a:lumMod val="85000"/>
                    <a:lumOff val="15000"/>
                  </a:schemeClr>
                </a:solidFill>
              </a:rPr>
              <a:t>Θεωρήθηκε σημαντικό να υπάρχει και μια μετρική με σημασιολογική κάλυψη, έτσι ώστε να υπάρχει ευελιξία στην έκφραση των απαντήσεων.  Και εκεί εστιάσαμε στο τμήμα </a:t>
            </a:r>
            <a:r>
              <a:rPr lang="en-US" dirty="0">
                <a:solidFill>
                  <a:schemeClr val="tx1">
                    <a:lumMod val="85000"/>
                    <a:lumOff val="15000"/>
                  </a:schemeClr>
                </a:solidFill>
              </a:rPr>
              <a:t>precision</a:t>
            </a:r>
            <a:endParaRPr lang="el-GR" dirty="0">
              <a:solidFill>
                <a:schemeClr val="tx1">
                  <a:lumMod val="85000"/>
                  <a:lumOff val="15000"/>
                </a:schemeClr>
              </a:solidFill>
            </a:endParaRPr>
          </a:p>
          <a:p>
            <a:pPr marL="0" indent="0">
              <a:buNone/>
            </a:pPr>
            <a:endParaRPr lang="en-US" sz="1600" dirty="0"/>
          </a:p>
          <a:p>
            <a:endParaRPr lang="en-US" sz="1600" dirty="0"/>
          </a:p>
          <a:p>
            <a:pPr marL="0" indent="0">
              <a:buNone/>
            </a:pPr>
            <a:endParaRPr lang="en-US" sz="1600" dirty="0"/>
          </a:p>
        </p:txBody>
      </p:sp>
      <p:sp>
        <p:nvSpPr>
          <p:cNvPr id="4" name="Slide Number Placeholder 3">
            <a:extLst>
              <a:ext uri="{FF2B5EF4-FFF2-40B4-BE49-F238E27FC236}">
                <a16:creationId xmlns:a16="http://schemas.microsoft.com/office/drawing/2014/main" id="{54CEFC27-B8F2-B0FE-14CB-25DB76971DD0}"/>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1301224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C788-F6FB-94B8-3365-5C402B552E20}"/>
              </a:ext>
            </a:extLst>
          </p:cNvPr>
          <p:cNvSpPr>
            <a:spLocks noGrp="1"/>
          </p:cNvSpPr>
          <p:nvPr>
            <p:ph type="title"/>
          </p:nvPr>
        </p:nvSpPr>
        <p:spPr>
          <a:xfrm>
            <a:off x="914399" y="44344"/>
            <a:ext cx="10511627" cy="1012785"/>
          </a:xfrm>
        </p:spPr>
        <p:txBody>
          <a:bodyPr/>
          <a:lstStyle/>
          <a:p>
            <a:r>
              <a:rPr lang="el-GR" dirty="0">
                <a:solidFill>
                  <a:schemeClr val="tx1">
                    <a:lumMod val="85000"/>
                    <a:lumOff val="15000"/>
                  </a:schemeClr>
                </a:solidFill>
              </a:rPr>
              <a:t>Αποτελεσματα αξιολογησης απαντησεων</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2E7AADD4-0EF8-FA74-8077-D4B4325832EC}"/>
              </a:ext>
            </a:extLst>
          </p:cNvPr>
          <p:cNvSpPr>
            <a:spLocks noGrp="1"/>
          </p:cNvSpPr>
          <p:nvPr>
            <p:ph sz="quarter" idx="4"/>
          </p:nvPr>
        </p:nvSpPr>
        <p:spPr>
          <a:xfrm>
            <a:off x="4484539" y="1057129"/>
            <a:ext cx="7707461" cy="5800871"/>
          </a:xfrm>
        </p:spPr>
        <p:txBody>
          <a:bodyPr>
            <a:normAutofit fontScale="62500" lnSpcReduction="20000"/>
          </a:bodyPr>
          <a:lstStyle/>
          <a:p>
            <a:r>
              <a:rPr lang="el-GR" sz="2600" dirty="0">
                <a:solidFill>
                  <a:schemeClr val="tx1">
                    <a:lumMod val="85000"/>
                    <a:lumOff val="15000"/>
                  </a:schemeClr>
                </a:solidFill>
              </a:rPr>
              <a:t>Οι τιμές των μετρικών είναι αρκετά καλές, ειδικά όσο αφορά το τμήμα </a:t>
            </a:r>
            <a:r>
              <a:rPr lang="en-US" sz="2600" dirty="0">
                <a:solidFill>
                  <a:schemeClr val="tx1">
                    <a:lumMod val="85000"/>
                    <a:lumOff val="15000"/>
                  </a:schemeClr>
                </a:solidFill>
              </a:rPr>
              <a:t>PRECISION </a:t>
            </a:r>
            <a:r>
              <a:rPr lang="el-GR" sz="2600" dirty="0">
                <a:solidFill>
                  <a:schemeClr val="tx1">
                    <a:lumMod val="85000"/>
                    <a:lumOff val="15000"/>
                  </a:schemeClr>
                </a:solidFill>
              </a:rPr>
              <a:t>που έχει αξία στην αξιολόγηση σύντομων απαντήσεων.</a:t>
            </a:r>
          </a:p>
          <a:p>
            <a:r>
              <a:rPr lang="el-GR" sz="2600" dirty="0">
                <a:solidFill>
                  <a:schemeClr val="tx1">
                    <a:lumMod val="85000"/>
                    <a:lumOff val="15000"/>
                  </a:schemeClr>
                </a:solidFill>
              </a:rPr>
              <a:t>Το </a:t>
            </a:r>
            <a:r>
              <a:rPr lang="en-US" sz="2600" dirty="0">
                <a:solidFill>
                  <a:schemeClr val="tx1">
                    <a:lumMod val="85000"/>
                    <a:lumOff val="15000"/>
                  </a:schemeClr>
                </a:solidFill>
              </a:rPr>
              <a:t>ROUGE-1 PRECISION </a:t>
            </a:r>
            <a:r>
              <a:rPr lang="el-GR" sz="2600" dirty="0">
                <a:solidFill>
                  <a:schemeClr val="tx1">
                    <a:lumMod val="85000"/>
                    <a:lumOff val="15000"/>
                  </a:schemeClr>
                </a:solidFill>
              </a:rPr>
              <a:t>έχει κατά μέσο όρο τιμή κοντά στο 0.91 γεγονός που αποδεικνύει την ακρίβεια των απαντήσεων του μοντέλου.</a:t>
            </a:r>
          </a:p>
          <a:p>
            <a:r>
              <a:rPr lang="el-GR" sz="2600" dirty="0">
                <a:solidFill>
                  <a:schemeClr val="tx1">
                    <a:lumMod val="85000"/>
                    <a:lumOff val="15000"/>
                  </a:schemeClr>
                </a:solidFill>
              </a:rPr>
              <a:t>Η υψηλή αυτή τιμή σημαίνει πως οι ίδιες λέξεις-κλειδιά που περιέχονται στην ανθρώπινη απάντηση, υπάρχουν και στην απάντηση του μοντέλου. Διαβάζοντας το κείμενο άνθρωπος και μοντέλο εντόπισαν τα ίδια ή πολύ συναφή κομμάτια, ως απάντηση.</a:t>
            </a:r>
          </a:p>
          <a:p>
            <a:r>
              <a:rPr lang="el-GR" sz="2600" dirty="0">
                <a:solidFill>
                  <a:schemeClr val="tx1">
                    <a:lumMod val="85000"/>
                    <a:lumOff val="15000"/>
                  </a:schemeClr>
                </a:solidFill>
              </a:rPr>
              <a:t>Η τιμή του </a:t>
            </a:r>
            <a:r>
              <a:rPr lang="en-US" sz="2600" dirty="0">
                <a:solidFill>
                  <a:schemeClr val="tx1">
                    <a:lumMod val="85000"/>
                    <a:lumOff val="15000"/>
                  </a:schemeClr>
                </a:solidFill>
              </a:rPr>
              <a:t>RECALL </a:t>
            </a:r>
            <a:r>
              <a:rPr lang="el-GR" sz="2600" dirty="0">
                <a:solidFill>
                  <a:schemeClr val="tx1">
                    <a:lumMod val="85000"/>
                    <a:lumOff val="15000"/>
                  </a:schemeClr>
                </a:solidFill>
              </a:rPr>
              <a:t>τμήματος είναι μικρότερη, κάτι που είναι φυσιολογικό αφού η απάντησή μας μπορεί να περιέχει παραπάνω λέξεις, διαφορετικές προτάσεις και διαφορετική σύνταξη απο το κομμάτι του κειμένου που εντόπισε το μοντέλο ως απάντηση, και ας είναι ίδιο το νόημα.</a:t>
            </a:r>
          </a:p>
          <a:p>
            <a:r>
              <a:rPr lang="el-GR" sz="2600" dirty="0">
                <a:solidFill>
                  <a:schemeClr val="tx1">
                    <a:lumMod val="85000"/>
                    <a:lumOff val="15000"/>
                  </a:schemeClr>
                </a:solidFill>
              </a:rPr>
              <a:t>Επίσης, η τιμή της BERTScore PRECISION είναι μικρότερη απο την αντίστοιχη  της ROUGE-1 PRECISION. Αυτό δεν σημαίνει πως οι απαντήσεις δεν έχουν σημασιολογική κάλυψη, αλλά προκύπτει απο τον τρόπο που λειτουργεί η μετρική BERTSCORE.</a:t>
            </a:r>
          </a:p>
          <a:p>
            <a:r>
              <a:rPr lang="el-GR" sz="2600" dirty="0">
                <a:solidFill>
                  <a:schemeClr val="tx1">
                    <a:lumMod val="85000"/>
                    <a:lumOff val="15000"/>
                  </a:schemeClr>
                </a:solidFill>
              </a:rPr>
              <a:t>Ε</a:t>
            </a:r>
            <a:r>
              <a:rPr lang="en-US" sz="2600" dirty="0" err="1">
                <a:solidFill>
                  <a:schemeClr val="tx1">
                    <a:lumMod val="85000"/>
                    <a:lumOff val="15000"/>
                  </a:schemeClr>
                </a:solidFill>
              </a:rPr>
              <a:t>ntry</a:t>
            </a:r>
            <a:r>
              <a:rPr lang="en-US" sz="2600" dirty="0">
                <a:solidFill>
                  <a:schemeClr val="tx1">
                    <a:lumMod val="85000"/>
                    <a:lumOff val="15000"/>
                  </a:schemeClr>
                </a:solidFill>
              </a:rPr>
              <a:t> 1 -&gt; Q:”What relationship exists between the number of Ps aeruginosa precipitins and total T cells in cystic fibrosis patients?” </a:t>
            </a:r>
            <a:r>
              <a:rPr lang="el-GR" sz="2600" dirty="0">
                <a:solidFill>
                  <a:schemeClr val="tx1">
                    <a:lumMod val="85000"/>
                    <a:lumOff val="15000"/>
                  </a:schemeClr>
                </a:solidFill>
              </a:rPr>
              <a:t>Α</a:t>
            </a:r>
            <a:r>
              <a:rPr lang="en-US" sz="2600" dirty="0">
                <a:solidFill>
                  <a:schemeClr val="tx1">
                    <a:lumMod val="85000"/>
                    <a:lumOff val="15000"/>
                  </a:schemeClr>
                </a:solidFill>
              </a:rPr>
              <a:t>(model):”Significantly positively correlated”.</a:t>
            </a:r>
            <a:r>
              <a:rPr lang="el-GR" sz="2600" dirty="0">
                <a:solidFill>
                  <a:schemeClr val="tx1">
                    <a:lumMod val="85000"/>
                    <a:lumOff val="15000"/>
                  </a:schemeClr>
                </a:solidFill>
              </a:rPr>
              <a:t> </a:t>
            </a:r>
            <a:br>
              <a:rPr lang="el-GR" sz="2600" dirty="0">
                <a:solidFill>
                  <a:schemeClr val="tx1">
                    <a:lumMod val="85000"/>
                    <a:lumOff val="15000"/>
                  </a:schemeClr>
                </a:solidFill>
              </a:rPr>
            </a:br>
            <a:r>
              <a:rPr lang="en-US" sz="2600" dirty="0">
                <a:solidFill>
                  <a:schemeClr val="tx1">
                    <a:lumMod val="85000"/>
                    <a:lumOff val="15000"/>
                  </a:schemeClr>
                </a:solidFill>
              </a:rPr>
              <a:t>A(human): :”the number was significantly positively correlated”</a:t>
            </a:r>
            <a:endParaRPr lang="el-GR" sz="2600" dirty="0">
              <a:solidFill>
                <a:schemeClr val="tx1">
                  <a:lumMod val="85000"/>
                  <a:lumOff val="15000"/>
                </a:schemeClr>
              </a:solidFill>
            </a:endParaRPr>
          </a:p>
          <a:p>
            <a:r>
              <a:rPr lang="el-GR" sz="2600" dirty="0">
                <a:solidFill>
                  <a:schemeClr val="tx1">
                    <a:lumMod val="85000"/>
                    <a:lumOff val="15000"/>
                  </a:schemeClr>
                </a:solidFill>
              </a:rPr>
              <a:t>Η προσθήκη της λέξης </a:t>
            </a:r>
            <a:r>
              <a:rPr lang="en-US" sz="2600" dirty="0">
                <a:solidFill>
                  <a:schemeClr val="tx1">
                    <a:lumMod val="85000"/>
                    <a:lumOff val="15000"/>
                  </a:schemeClr>
                </a:solidFill>
              </a:rPr>
              <a:t>number </a:t>
            </a:r>
            <a:r>
              <a:rPr lang="el-GR" sz="2600" dirty="0">
                <a:solidFill>
                  <a:schemeClr val="tx1">
                    <a:lumMod val="85000"/>
                    <a:lumOff val="15000"/>
                  </a:schemeClr>
                </a:solidFill>
              </a:rPr>
              <a:t>στην απάντηση μας, έκανε το </a:t>
            </a:r>
            <a:r>
              <a:rPr lang="en-US" sz="2600" dirty="0">
                <a:solidFill>
                  <a:schemeClr val="tx1">
                    <a:lumMod val="85000"/>
                    <a:lumOff val="15000"/>
                  </a:schemeClr>
                </a:solidFill>
              </a:rPr>
              <a:t>BERT </a:t>
            </a:r>
            <a:r>
              <a:rPr lang="el-GR" sz="2600" dirty="0">
                <a:solidFill>
                  <a:schemeClr val="tx1">
                    <a:lumMod val="85000"/>
                    <a:lumOff val="15000"/>
                  </a:schemeClr>
                </a:solidFill>
              </a:rPr>
              <a:t>να πιστεύει πως έχει κάποιο ιδιαίτερο σημασιολογικό πλαίσιο (αφού η απάντηση του μοντέλου δεν το είχε). Το νόημα των δύο απαντήσεων είναι ίδιο</a:t>
            </a:r>
            <a:r>
              <a:rPr lang="el-GR" sz="2600" dirty="0"/>
              <a:t>.</a:t>
            </a:r>
          </a:p>
          <a:p>
            <a:pPr marL="0" indent="0">
              <a:buNone/>
            </a:pPr>
            <a:br>
              <a:rPr lang="en-US" sz="1400" dirty="0"/>
            </a:br>
            <a:endParaRPr lang="en-US" sz="1400" dirty="0"/>
          </a:p>
          <a:p>
            <a:endParaRPr lang="en-US" sz="1600" dirty="0"/>
          </a:p>
        </p:txBody>
      </p:sp>
      <p:sp>
        <p:nvSpPr>
          <p:cNvPr id="4" name="Slide Number Placeholder 3">
            <a:extLst>
              <a:ext uri="{FF2B5EF4-FFF2-40B4-BE49-F238E27FC236}">
                <a16:creationId xmlns:a16="http://schemas.microsoft.com/office/drawing/2014/main" id="{7718F0AF-3186-9D61-7123-B7655594386B}"/>
              </a:ext>
            </a:extLst>
          </p:cNvPr>
          <p:cNvSpPr>
            <a:spLocks noGrp="1"/>
          </p:cNvSpPr>
          <p:nvPr>
            <p:ph type="sldNum" sz="quarter" idx="10"/>
          </p:nvPr>
        </p:nvSpPr>
        <p:spPr/>
        <p:txBody>
          <a:bodyPr/>
          <a:lstStyle/>
          <a:p>
            <a:fld id="{48F63A3B-78C7-47BE-AE5E-E10140E04643}" type="slidenum">
              <a:rPr lang="en-US" smtClean="0"/>
              <a:pPr/>
              <a:t>25</a:t>
            </a:fld>
            <a:endParaRPr lang="en-US" dirty="0"/>
          </a:p>
        </p:txBody>
      </p:sp>
      <p:pic>
        <p:nvPicPr>
          <p:cNvPr id="6" name="Picture 5">
            <a:extLst>
              <a:ext uri="{FF2B5EF4-FFF2-40B4-BE49-F238E27FC236}">
                <a16:creationId xmlns:a16="http://schemas.microsoft.com/office/drawing/2014/main" id="{4A94AE1C-38DE-DD6B-3C4A-586DA68D4F53}"/>
              </a:ext>
            </a:extLst>
          </p:cNvPr>
          <p:cNvPicPr>
            <a:picLocks noChangeAspect="1"/>
          </p:cNvPicPr>
          <p:nvPr/>
        </p:nvPicPr>
        <p:blipFill>
          <a:blip r:embed="rId2"/>
          <a:stretch>
            <a:fillRect/>
          </a:stretch>
        </p:blipFill>
        <p:spPr>
          <a:xfrm>
            <a:off x="0" y="1472121"/>
            <a:ext cx="4484539" cy="5371104"/>
          </a:xfrm>
          <a:prstGeom prst="rect">
            <a:avLst/>
          </a:prstGeom>
        </p:spPr>
      </p:pic>
    </p:spTree>
    <p:extLst>
      <p:ext uri="{BB962C8B-B14F-4D97-AF65-F5344CB8AC3E}">
        <p14:creationId xmlns:p14="http://schemas.microsoft.com/office/powerpoint/2010/main" val="2142398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5759B-689B-9E0E-48AF-34A68EAFA05A}"/>
              </a:ext>
            </a:extLst>
          </p:cNvPr>
          <p:cNvSpPr>
            <a:spLocks noGrp="1"/>
          </p:cNvSpPr>
          <p:nvPr>
            <p:ph type="title"/>
          </p:nvPr>
        </p:nvSpPr>
        <p:spPr>
          <a:xfrm>
            <a:off x="3460564" y="788098"/>
            <a:ext cx="7965461" cy="994164"/>
          </a:xfrm>
        </p:spPr>
        <p:txBody>
          <a:bodyPr/>
          <a:lstStyle/>
          <a:p>
            <a:pPr algn="ctr"/>
            <a:r>
              <a:rPr lang="el-GR" dirty="0">
                <a:solidFill>
                  <a:schemeClr val="tx1">
                    <a:lumMod val="85000"/>
                    <a:lumOff val="15000"/>
                  </a:schemeClr>
                </a:solidFill>
              </a:rPr>
              <a:t>Αποτελεσματα αξιολογησησ χρηστη στην εφαρμογη</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B465F44B-60C8-BCE2-D755-94572257968F}"/>
              </a:ext>
            </a:extLst>
          </p:cNvPr>
          <p:cNvSpPr>
            <a:spLocks noGrp="1"/>
          </p:cNvSpPr>
          <p:nvPr>
            <p:ph sz="half" idx="2"/>
          </p:nvPr>
        </p:nvSpPr>
        <p:spPr>
          <a:xfrm>
            <a:off x="2615184" y="1782262"/>
            <a:ext cx="9418320" cy="3649274"/>
          </a:xfrm>
        </p:spPr>
        <p:txBody>
          <a:bodyPr/>
          <a:lstStyle/>
          <a:p>
            <a:r>
              <a:rPr lang="el-GR" dirty="0">
                <a:solidFill>
                  <a:schemeClr val="tx1">
                    <a:lumMod val="85000"/>
                    <a:lumOff val="15000"/>
                  </a:schemeClr>
                </a:solidFill>
              </a:rPr>
              <a:t>Για την αξιολόγηση που θα δει ο χρήστης, χρησιμοποιήσαμε την μετρική </a:t>
            </a:r>
            <a:r>
              <a:rPr lang="en-US" dirty="0">
                <a:solidFill>
                  <a:schemeClr val="tx1">
                    <a:lumMod val="85000"/>
                    <a:lumOff val="15000"/>
                  </a:schemeClr>
                </a:solidFill>
              </a:rPr>
              <a:t>ROUGE-1 P</a:t>
            </a:r>
            <a:r>
              <a:rPr lang="el-GR" dirty="0">
                <a:solidFill>
                  <a:schemeClr val="tx1">
                    <a:lumMod val="85000"/>
                    <a:lumOff val="15000"/>
                  </a:schemeClr>
                </a:solidFill>
              </a:rPr>
              <a:t>.</a:t>
            </a:r>
          </a:p>
          <a:p>
            <a:pPr marL="0" indent="0">
              <a:buNone/>
            </a:pPr>
            <a:endParaRPr lang="el-GR" dirty="0">
              <a:solidFill>
                <a:schemeClr val="tx1">
                  <a:lumMod val="85000"/>
                  <a:lumOff val="15000"/>
                </a:schemeClr>
              </a:solidFill>
            </a:endParaRPr>
          </a:p>
          <a:p>
            <a:r>
              <a:rPr lang="el-GR" dirty="0">
                <a:solidFill>
                  <a:schemeClr val="tx1">
                    <a:lumMod val="85000"/>
                    <a:lumOff val="15000"/>
                  </a:schemeClr>
                </a:solidFill>
              </a:rPr>
              <a:t>Θεωρήσαμε πως ποσοτικοποιεί καλύτερα την βαθμολογία ενός χρήστη που απαντά σε ερωτήσεις.</a:t>
            </a:r>
          </a:p>
          <a:p>
            <a:pPr marL="0" indent="0">
              <a:buNone/>
            </a:pPr>
            <a:endParaRPr lang="el-GR" dirty="0">
              <a:solidFill>
                <a:schemeClr val="tx1">
                  <a:lumMod val="85000"/>
                  <a:lumOff val="15000"/>
                </a:schemeClr>
              </a:solidFill>
            </a:endParaRPr>
          </a:p>
          <a:p>
            <a:r>
              <a:rPr lang="el-GR" dirty="0">
                <a:solidFill>
                  <a:schemeClr val="tx1">
                    <a:lumMod val="85000"/>
                    <a:lumOff val="15000"/>
                  </a:schemeClr>
                </a:solidFill>
              </a:rPr>
              <a:t>Συγκεκριμένα, υπολογίζεται ο μέσος όρος της </a:t>
            </a:r>
            <a:r>
              <a:rPr lang="en-US" dirty="0">
                <a:solidFill>
                  <a:schemeClr val="tx1">
                    <a:lumMod val="85000"/>
                    <a:lumOff val="15000"/>
                  </a:schemeClr>
                </a:solidFill>
              </a:rPr>
              <a:t>ROUGE-1 P</a:t>
            </a:r>
            <a:r>
              <a:rPr lang="el-GR" dirty="0">
                <a:solidFill>
                  <a:schemeClr val="tx1">
                    <a:lumMod val="85000"/>
                    <a:lumOff val="15000"/>
                  </a:schemeClr>
                </a:solidFill>
              </a:rPr>
              <a:t> στις 10 απαντήσεις του χρήστη και όταν πατήσει «</a:t>
            </a:r>
            <a:r>
              <a:rPr lang="en-US" dirty="0">
                <a:solidFill>
                  <a:schemeClr val="tx1">
                    <a:lumMod val="85000"/>
                    <a:lumOff val="15000"/>
                  </a:schemeClr>
                </a:solidFill>
              </a:rPr>
              <a:t>Show Grade</a:t>
            </a:r>
            <a:r>
              <a:rPr lang="el-GR" dirty="0">
                <a:solidFill>
                  <a:schemeClr val="tx1">
                    <a:lumMod val="85000"/>
                    <a:lumOff val="15000"/>
                  </a:schemeClr>
                </a:solidFill>
              </a:rPr>
              <a:t>», εμφανίζεται.</a:t>
            </a:r>
          </a:p>
          <a:p>
            <a:pPr marL="0" indent="0">
              <a:buNone/>
            </a:pPr>
            <a:endParaRPr lang="el-GR" dirty="0">
              <a:solidFill>
                <a:schemeClr val="tx1">
                  <a:lumMod val="85000"/>
                  <a:lumOff val="15000"/>
                </a:schemeClr>
              </a:solidFill>
            </a:endParaRPr>
          </a:p>
          <a:p>
            <a:r>
              <a:rPr lang="el-GR" dirty="0">
                <a:solidFill>
                  <a:schemeClr val="tx1">
                    <a:lumMod val="85000"/>
                    <a:lumOff val="15000"/>
                  </a:schemeClr>
                </a:solidFill>
              </a:rPr>
              <a:t>Υπολογίζεται και η τιμή </a:t>
            </a:r>
            <a:r>
              <a:rPr lang="en-US" dirty="0" err="1">
                <a:solidFill>
                  <a:schemeClr val="tx1">
                    <a:lumMod val="85000"/>
                    <a:lumOff val="15000"/>
                  </a:schemeClr>
                </a:solidFill>
              </a:rPr>
              <a:t>BERTScore</a:t>
            </a:r>
            <a:r>
              <a:rPr lang="en-US" dirty="0">
                <a:solidFill>
                  <a:schemeClr val="tx1">
                    <a:lumMod val="85000"/>
                    <a:lumOff val="15000"/>
                  </a:schemeClr>
                </a:solidFill>
              </a:rPr>
              <a:t>, </a:t>
            </a:r>
            <a:r>
              <a:rPr lang="el-GR" dirty="0">
                <a:solidFill>
                  <a:schemeClr val="tx1">
                    <a:lumMod val="85000"/>
                    <a:lumOff val="15000"/>
                  </a:schemeClr>
                </a:solidFill>
              </a:rPr>
              <a:t>αλλά δεν την εμφανίζουμε στον χρήστη.</a:t>
            </a:r>
            <a:endParaRPr lang="en-US" dirty="0">
              <a:solidFill>
                <a:schemeClr val="tx1">
                  <a:lumMod val="85000"/>
                  <a:lumOff val="15000"/>
                </a:schemeClr>
              </a:solidFill>
            </a:endParaRPr>
          </a:p>
        </p:txBody>
      </p:sp>
      <p:sp>
        <p:nvSpPr>
          <p:cNvPr id="4" name="Slide Number Placeholder 3">
            <a:extLst>
              <a:ext uri="{FF2B5EF4-FFF2-40B4-BE49-F238E27FC236}">
                <a16:creationId xmlns:a16="http://schemas.microsoft.com/office/drawing/2014/main" id="{18CD7D61-9072-646C-5338-31E9A4134B07}"/>
              </a:ext>
            </a:extLst>
          </p:cNvPr>
          <p:cNvSpPr>
            <a:spLocks noGrp="1"/>
          </p:cNvSpPr>
          <p:nvPr>
            <p:ph type="sldNum" sz="quarter" idx="10"/>
          </p:nvPr>
        </p:nvSpPr>
        <p:spPr>
          <a:xfrm>
            <a:off x="10892230" y="457199"/>
            <a:ext cx="1067589" cy="471489"/>
          </a:xfrm>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1499031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0065-06BC-3E1F-4B48-7B132B6F951A}"/>
              </a:ext>
            </a:extLst>
          </p:cNvPr>
          <p:cNvSpPr>
            <a:spLocks noGrp="1"/>
          </p:cNvSpPr>
          <p:nvPr>
            <p:ph type="title"/>
          </p:nvPr>
        </p:nvSpPr>
        <p:spPr>
          <a:xfrm>
            <a:off x="1553610" y="228600"/>
            <a:ext cx="9879437" cy="770250"/>
          </a:xfrm>
        </p:spPr>
        <p:txBody>
          <a:bodyPr/>
          <a:lstStyle/>
          <a:p>
            <a:pPr algn="ctr"/>
            <a:r>
              <a:rPr lang="el-GR" dirty="0">
                <a:solidFill>
                  <a:schemeClr val="tx1">
                    <a:lumMod val="85000"/>
                    <a:lumOff val="15000"/>
                  </a:schemeClr>
                </a:solidFill>
              </a:rPr>
              <a:t>ΣΥΝΟΛΙΚΑ ΣΥΜΠΕΡΑΣΜΑΤΑ</a:t>
            </a:r>
            <a:endParaRPr lang="en-US" dirty="0">
              <a:solidFill>
                <a:schemeClr val="tx1">
                  <a:lumMod val="85000"/>
                  <a:lumOff val="15000"/>
                </a:schemeClr>
              </a:solidFill>
            </a:endParaRPr>
          </a:p>
        </p:txBody>
      </p:sp>
      <p:sp>
        <p:nvSpPr>
          <p:cNvPr id="4" name="Content Placeholder 3">
            <a:extLst>
              <a:ext uri="{FF2B5EF4-FFF2-40B4-BE49-F238E27FC236}">
                <a16:creationId xmlns:a16="http://schemas.microsoft.com/office/drawing/2014/main" id="{C6645174-BCD7-A2FE-8BD0-CE0EF823E57D}"/>
              </a:ext>
            </a:extLst>
          </p:cNvPr>
          <p:cNvSpPr>
            <a:spLocks noGrp="1"/>
          </p:cNvSpPr>
          <p:nvPr>
            <p:ph sz="half" idx="1"/>
          </p:nvPr>
        </p:nvSpPr>
        <p:spPr>
          <a:xfrm>
            <a:off x="1356402" y="1207079"/>
            <a:ext cx="10667958" cy="5504617"/>
          </a:xfrm>
        </p:spPr>
        <p:txBody>
          <a:bodyPr/>
          <a:lstStyle/>
          <a:p>
            <a:r>
              <a:rPr lang="el-GR" sz="1600" dirty="0">
                <a:solidFill>
                  <a:schemeClr val="tx1">
                    <a:lumMod val="85000"/>
                    <a:lumOff val="15000"/>
                  </a:schemeClr>
                </a:solidFill>
              </a:rPr>
              <a:t>Στόχος ήταν η δημιουργία ενός αυτόνομου συστήματος παραγωγής και επικύρωσης ερωταπαντήσεων βασισμένου σε Μεγάλα Γλωσσικά Μοντέλα, ενισχυμένα με RAG.</a:t>
            </a:r>
          </a:p>
          <a:p>
            <a:r>
              <a:rPr lang="el-GR" sz="1600" dirty="0">
                <a:solidFill>
                  <a:schemeClr val="tx1">
                    <a:lumMod val="85000"/>
                    <a:lumOff val="15000"/>
                  </a:schemeClr>
                </a:solidFill>
              </a:rPr>
              <a:t>Αναδείχθηκε η σημασία της ακρίβειας σε εκπαιδευτικές εφαρμογές, αφού σε ένα αυτόματο εκπαιδευτικό πλαίσιο είναι σημαντικότερη η εξασφάλιση της ακρίβειας και εγκυρότητας του συστήματος από την ποσότητα της πληροφορίας που παράγει.</a:t>
            </a:r>
          </a:p>
          <a:p>
            <a:r>
              <a:rPr lang="el-GR" sz="1600" dirty="0">
                <a:solidFill>
                  <a:schemeClr val="tx1">
                    <a:lumMod val="85000"/>
                    <a:lumOff val="15000"/>
                  </a:schemeClr>
                </a:solidFill>
              </a:rPr>
              <a:t>Αναδείχθηκε η αξία των </a:t>
            </a:r>
            <a:r>
              <a:rPr lang="en-US" sz="1600" dirty="0">
                <a:solidFill>
                  <a:schemeClr val="tx1">
                    <a:lumMod val="85000"/>
                    <a:lumOff val="15000"/>
                  </a:schemeClr>
                </a:solidFill>
              </a:rPr>
              <a:t>LLMs, </a:t>
            </a:r>
            <a:r>
              <a:rPr lang="el-GR" sz="1600" dirty="0">
                <a:solidFill>
                  <a:schemeClr val="tx1">
                    <a:lumMod val="85000"/>
                    <a:lumOff val="15000"/>
                  </a:schemeClr>
                </a:solidFill>
              </a:rPr>
              <a:t>όταν αυτά συνδυαστούν με τεχνικές όπως</a:t>
            </a:r>
            <a:r>
              <a:rPr lang="en-US" sz="1600" dirty="0">
                <a:solidFill>
                  <a:schemeClr val="tx1">
                    <a:lumMod val="85000"/>
                    <a:lumOff val="15000"/>
                  </a:schemeClr>
                </a:solidFill>
              </a:rPr>
              <a:t> RAG, Query Expansion </a:t>
            </a:r>
            <a:r>
              <a:rPr lang="el-GR" sz="1600" dirty="0">
                <a:solidFill>
                  <a:schemeClr val="tx1">
                    <a:lumMod val="85000"/>
                    <a:lumOff val="15000"/>
                  </a:schemeClr>
                </a:solidFill>
              </a:rPr>
              <a:t>που βασίζονται σε πραγματικά δεδομένα και όχι σε γλωσσική παραγωγή.</a:t>
            </a:r>
          </a:p>
          <a:p>
            <a:r>
              <a:rPr lang="el-GR" sz="1600" dirty="0">
                <a:solidFill>
                  <a:schemeClr val="tx1">
                    <a:lumMod val="85000"/>
                    <a:lumOff val="15000"/>
                  </a:schemeClr>
                </a:solidFill>
              </a:rPr>
              <a:t>Περιορίζεται σημαντικά το φαινόμενο των παραισθήσεων.</a:t>
            </a:r>
          </a:p>
          <a:p>
            <a:r>
              <a:rPr lang="el-GR" sz="1600" dirty="0">
                <a:solidFill>
                  <a:schemeClr val="tx1">
                    <a:lumMod val="85000"/>
                    <a:lumOff val="15000"/>
                  </a:schemeClr>
                </a:solidFill>
              </a:rPr>
              <a:t>Η εργασία αποδεικνύει στην πράξη ότι</a:t>
            </a:r>
            <a:r>
              <a:rPr lang="en-US" sz="1600" dirty="0">
                <a:solidFill>
                  <a:schemeClr val="tx1">
                    <a:lumMod val="85000"/>
                    <a:lumOff val="15000"/>
                  </a:schemeClr>
                </a:solidFill>
              </a:rPr>
              <a:t>:</a:t>
            </a:r>
          </a:p>
          <a:p>
            <a:pPr marL="342900" indent="-342900">
              <a:buAutoNum type="arabicParenR"/>
            </a:pPr>
            <a:r>
              <a:rPr lang="el-GR" sz="1600" dirty="0">
                <a:solidFill>
                  <a:schemeClr val="tx1">
                    <a:lumMod val="85000"/>
                    <a:lumOff val="15000"/>
                  </a:schemeClr>
                </a:solidFill>
              </a:rPr>
              <a:t>Η συνδυαστική χρήση LLMs και RAG μπορεί να παράγει αξιόπιστο υλικό και συγκεκριμένα εκπαιδευτικό.</a:t>
            </a:r>
          </a:p>
          <a:p>
            <a:pPr marL="342900" indent="-342900">
              <a:buAutoNum type="arabicParenR"/>
            </a:pPr>
            <a:r>
              <a:rPr lang="el-GR" sz="1600" dirty="0">
                <a:solidFill>
                  <a:schemeClr val="tx1">
                    <a:lumMod val="85000"/>
                    <a:lumOff val="15000"/>
                  </a:schemeClr>
                </a:solidFill>
              </a:rPr>
              <a:t>Η αυτοματοποίηση της επικύρωσης των απαντήσεων βελτιώνει την ποιότητά τους και περιορίζει τα σφάλματα και τις παραισθήσεις που μπορεί να προέκυψαν(ακόμη και αν στοιχίζει σε μικρό βαθμό, στην ποσότητά τους).</a:t>
            </a:r>
          </a:p>
          <a:p>
            <a:pPr marL="342900" indent="-342900">
              <a:buAutoNum type="arabicParenR"/>
            </a:pPr>
            <a:r>
              <a:rPr lang="el-GR" sz="1600" dirty="0">
                <a:solidFill>
                  <a:schemeClr val="tx1">
                    <a:lumMod val="85000"/>
                    <a:lumOff val="15000"/>
                  </a:schemeClr>
                </a:solidFill>
              </a:rPr>
              <a:t>Η παρουσίαση των αποτελεσμάτων μέσω εύχρηστης και απλής εφαρμογής καθιστά την τεχνολογία προσιτή και λειτουργική για εκπαιδευτικά ιδρύματα και απλούς χρήστες.</a:t>
            </a:r>
          </a:p>
          <a:p>
            <a:r>
              <a:rPr lang="el-GR" sz="1600" dirty="0">
                <a:solidFill>
                  <a:schemeClr val="tx1">
                    <a:lumMod val="85000"/>
                    <a:lumOff val="15000"/>
                  </a:schemeClr>
                </a:solidFill>
              </a:rPr>
              <a:t>Η ανάπτυξη και δοκιμή της μεθοδολογίας σε ιατρικά κείμενα, δείχνει τον </a:t>
            </a:r>
            <a:r>
              <a:rPr lang="en-US" sz="1600" dirty="0">
                <a:solidFill>
                  <a:schemeClr val="tx1">
                    <a:lumMod val="85000"/>
                    <a:lumOff val="15000"/>
                  </a:schemeClr>
                </a:solidFill>
              </a:rPr>
              <a:t>domain-specific </a:t>
            </a:r>
            <a:r>
              <a:rPr lang="el-GR" sz="1600" dirty="0">
                <a:solidFill>
                  <a:schemeClr val="tx1">
                    <a:lumMod val="85000"/>
                    <a:lumOff val="15000"/>
                  </a:schemeClr>
                </a:solidFill>
              </a:rPr>
              <a:t>χαρακτήρα του </a:t>
            </a:r>
            <a:r>
              <a:rPr lang="en-US" sz="1600" dirty="0">
                <a:solidFill>
                  <a:schemeClr val="tx1">
                    <a:lumMod val="85000"/>
                    <a:lumOff val="15000"/>
                  </a:schemeClr>
                </a:solidFill>
              </a:rPr>
              <a:t>RAG, </a:t>
            </a:r>
            <a:r>
              <a:rPr lang="el-GR" sz="1600" dirty="0">
                <a:solidFill>
                  <a:schemeClr val="tx1">
                    <a:lumMod val="85000"/>
                    <a:lumOff val="15000"/>
                  </a:schemeClr>
                </a:solidFill>
              </a:rPr>
              <a:t>αλλά δείχνει και το πώς μπορούν να ενισχυθούν οι γνώσεις κάποιου πάνω σε τέτοια κρίσιμα </a:t>
            </a:r>
            <a:r>
              <a:rPr lang="en-US" sz="1600" dirty="0">
                <a:solidFill>
                  <a:schemeClr val="tx1">
                    <a:lumMod val="85000"/>
                    <a:lumOff val="15000"/>
                  </a:schemeClr>
                </a:solidFill>
              </a:rPr>
              <a:t>domains, </a:t>
            </a:r>
            <a:r>
              <a:rPr lang="el-GR" sz="1600" dirty="0">
                <a:solidFill>
                  <a:schemeClr val="tx1">
                    <a:lumMod val="85000"/>
                    <a:lumOff val="15000"/>
                  </a:schemeClr>
                </a:solidFill>
              </a:rPr>
              <a:t>που κάθε λάθος πληροφορία, στοιχίζει.</a:t>
            </a:r>
          </a:p>
          <a:p>
            <a:r>
              <a:rPr lang="el-GR" sz="1600" dirty="0">
                <a:solidFill>
                  <a:schemeClr val="tx1">
                    <a:lumMod val="85000"/>
                    <a:lumOff val="15000"/>
                  </a:schemeClr>
                </a:solidFill>
              </a:rPr>
              <a:t>Τα αποτελέσματα ήταν πολύ ενθαρρυντικά.</a:t>
            </a:r>
          </a:p>
          <a:p>
            <a:endParaRPr lang="en-US" dirty="0"/>
          </a:p>
        </p:txBody>
      </p:sp>
      <p:sp>
        <p:nvSpPr>
          <p:cNvPr id="5" name="Slide Number Placeholder 4">
            <a:extLst>
              <a:ext uri="{FF2B5EF4-FFF2-40B4-BE49-F238E27FC236}">
                <a16:creationId xmlns:a16="http://schemas.microsoft.com/office/drawing/2014/main" id="{113570AD-178E-5A3B-1DE5-A605EC39D49E}"/>
              </a:ext>
            </a:extLst>
          </p:cNvPr>
          <p:cNvSpPr>
            <a:spLocks noGrp="1"/>
          </p:cNvSpPr>
          <p:nvPr>
            <p:ph type="sldNum" sz="quarter" idx="10"/>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3491272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FAD1-033B-07F5-28B5-0B976722458A}"/>
              </a:ext>
            </a:extLst>
          </p:cNvPr>
          <p:cNvSpPr>
            <a:spLocks noGrp="1"/>
          </p:cNvSpPr>
          <p:nvPr>
            <p:ph type="title"/>
          </p:nvPr>
        </p:nvSpPr>
        <p:spPr>
          <a:xfrm>
            <a:off x="765973" y="250725"/>
            <a:ext cx="7843837" cy="632406"/>
          </a:xfrm>
        </p:spPr>
        <p:txBody>
          <a:bodyPr/>
          <a:lstStyle/>
          <a:p>
            <a:r>
              <a:rPr lang="el-GR" dirty="0">
                <a:solidFill>
                  <a:schemeClr val="tx1">
                    <a:lumMod val="85000"/>
                    <a:lumOff val="15000"/>
                  </a:schemeClr>
                </a:solidFill>
              </a:rPr>
              <a:t>ΜΕΛΛΟΝΤΙΚΕΣ ΕΠΕΚΤΑΣΕΙς</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298FF2DB-2F2E-41C3-7C36-231DA06EE101}"/>
              </a:ext>
            </a:extLst>
          </p:cNvPr>
          <p:cNvSpPr>
            <a:spLocks noGrp="1"/>
          </p:cNvSpPr>
          <p:nvPr>
            <p:ph idx="13"/>
          </p:nvPr>
        </p:nvSpPr>
        <p:spPr>
          <a:xfrm>
            <a:off x="283464" y="1261872"/>
            <a:ext cx="8668512" cy="5495543"/>
          </a:xfrm>
        </p:spPr>
        <p:txBody>
          <a:bodyPr/>
          <a:lstStyle/>
          <a:p>
            <a:pPr marL="342900" indent="-342900">
              <a:buFont typeface="Arial" panose="020B0604020202020204" pitchFamily="34" charset="0"/>
              <a:buChar char="•"/>
            </a:pPr>
            <a:r>
              <a:rPr lang="el-GR" sz="1800" b="1" dirty="0">
                <a:solidFill>
                  <a:schemeClr val="tx1">
                    <a:lumMod val="85000"/>
                    <a:lumOff val="15000"/>
                  </a:schemeClr>
                </a:solidFill>
              </a:rPr>
              <a:t>Ενσωμάτωση μοντέλου εκτίμησης δυσκολίας ερώτησης</a:t>
            </a:r>
            <a:r>
              <a:rPr lang="en-US" sz="1800" b="1" dirty="0">
                <a:solidFill>
                  <a:schemeClr val="tx1">
                    <a:lumMod val="85000"/>
                    <a:lumOff val="15000"/>
                  </a:schemeClr>
                </a:solidFill>
              </a:rPr>
              <a:t>: </a:t>
            </a:r>
            <a:r>
              <a:rPr lang="el-GR" sz="1800" dirty="0">
                <a:solidFill>
                  <a:schemeClr val="tx1">
                    <a:lumMod val="85000"/>
                    <a:lumOff val="15000"/>
                  </a:schemeClr>
                </a:solidFill>
              </a:rPr>
              <a:t>Εξετάστηκε, αλλά δεν υλοποιήθηκε εν τέλει(σε αυτή την φάση θεωρήθηκε πως ίσως επηρεάσει αρνητικά την αξιοπιστία και την εγκυρότητα)</a:t>
            </a:r>
          </a:p>
          <a:p>
            <a:pPr marL="342900" indent="-342900">
              <a:buFont typeface="Arial" panose="020B0604020202020204" pitchFamily="34" charset="0"/>
              <a:buChar char="•"/>
            </a:pPr>
            <a:endParaRPr lang="el-GR" sz="1800" dirty="0">
              <a:solidFill>
                <a:schemeClr val="tx1">
                  <a:lumMod val="85000"/>
                  <a:lumOff val="15000"/>
                </a:schemeClr>
              </a:solidFill>
            </a:endParaRPr>
          </a:p>
          <a:p>
            <a:pPr marL="342900" indent="-342900">
              <a:buFont typeface="Arial" panose="020B0604020202020204" pitchFamily="34" charset="0"/>
              <a:buChar char="•"/>
            </a:pPr>
            <a:r>
              <a:rPr lang="el-GR" sz="1800" b="1" dirty="0">
                <a:solidFill>
                  <a:schemeClr val="tx1">
                    <a:lumMod val="85000"/>
                    <a:lumOff val="15000"/>
                  </a:schemeClr>
                </a:solidFill>
              </a:rPr>
              <a:t>Δημιουργία πλατφόρμας αυτόματης διεξαγωγής εξετάσεων και βαθμολογιών</a:t>
            </a:r>
          </a:p>
          <a:p>
            <a:pPr marL="342900" indent="-342900">
              <a:buFont typeface="Arial" panose="020B0604020202020204" pitchFamily="34" charset="0"/>
              <a:buChar char="•"/>
            </a:pPr>
            <a:endParaRPr lang="el-GR" sz="1800" dirty="0">
              <a:solidFill>
                <a:schemeClr val="tx1">
                  <a:lumMod val="85000"/>
                  <a:lumOff val="15000"/>
                </a:schemeClr>
              </a:solidFill>
            </a:endParaRPr>
          </a:p>
          <a:p>
            <a:pPr marL="342900" indent="-342900">
              <a:buFont typeface="Arial" panose="020B0604020202020204" pitchFamily="34" charset="0"/>
              <a:buChar char="•"/>
            </a:pPr>
            <a:r>
              <a:rPr lang="el-GR" sz="1800" b="1" dirty="0">
                <a:solidFill>
                  <a:schemeClr val="tx1">
                    <a:lumMod val="85000"/>
                    <a:lumOff val="15000"/>
                  </a:schemeClr>
                </a:solidFill>
              </a:rPr>
              <a:t>Εμπλουτισμός συλλογών κειμένων με νέες πηγές</a:t>
            </a:r>
            <a:r>
              <a:rPr lang="en-US" sz="1800" dirty="0">
                <a:solidFill>
                  <a:schemeClr val="tx1">
                    <a:lumMod val="85000"/>
                    <a:lumOff val="15000"/>
                  </a:schemeClr>
                </a:solidFill>
              </a:rPr>
              <a:t>: </a:t>
            </a:r>
            <a:r>
              <a:rPr lang="el-GR" sz="1800" dirty="0">
                <a:solidFill>
                  <a:schemeClr val="tx1">
                    <a:lumMod val="85000"/>
                    <a:lumOff val="15000"/>
                  </a:schemeClr>
                </a:solidFill>
              </a:rPr>
              <a:t>Όπως βιβλία, </a:t>
            </a:r>
            <a:r>
              <a:rPr lang="en-US" sz="1800" dirty="0">
                <a:solidFill>
                  <a:schemeClr val="tx1">
                    <a:lumMod val="85000"/>
                    <a:lumOff val="15000"/>
                  </a:schemeClr>
                </a:solidFill>
              </a:rPr>
              <a:t>papers, </a:t>
            </a:r>
            <a:r>
              <a:rPr lang="el-GR" sz="1800" dirty="0">
                <a:solidFill>
                  <a:schemeClr val="tx1">
                    <a:lumMod val="85000"/>
                    <a:lumOff val="15000"/>
                  </a:schemeClr>
                </a:solidFill>
              </a:rPr>
              <a:t>διαφάνειες (με κατάλληλο </a:t>
            </a:r>
            <a:r>
              <a:rPr lang="en-US" sz="1800" dirty="0">
                <a:solidFill>
                  <a:schemeClr val="tx1">
                    <a:lumMod val="85000"/>
                    <a:lumOff val="15000"/>
                  </a:schemeClr>
                </a:solidFill>
              </a:rPr>
              <a:t>formatting)</a:t>
            </a:r>
            <a:r>
              <a:rPr lang="el-GR" sz="1800" dirty="0">
                <a:solidFill>
                  <a:schemeClr val="tx1">
                    <a:lumMod val="85000"/>
                    <a:lumOff val="15000"/>
                  </a:schemeClr>
                </a:solidFill>
              </a:rPr>
              <a:t>.</a:t>
            </a:r>
          </a:p>
          <a:p>
            <a:pPr marL="342900" indent="-342900">
              <a:buFont typeface="Arial" panose="020B0604020202020204" pitchFamily="34" charset="0"/>
              <a:buChar char="•"/>
            </a:pPr>
            <a:endParaRPr lang="el-GR" sz="1800" dirty="0">
              <a:solidFill>
                <a:schemeClr val="tx1">
                  <a:lumMod val="85000"/>
                  <a:lumOff val="15000"/>
                </a:schemeClr>
              </a:solidFill>
            </a:endParaRPr>
          </a:p>
          <a:p>
            <a:pPr marL="342900" indent="-342900">
              <a:buFont typeface="Arial" panose="020B0604020202020204" pitchFamily="34" charset="0"/>
              <a:buChar char="•"/>
            </a:pPr>
            <a:r>
              <a:rPr lang="el-GR" sz="1800" b="1" dirty="0">
                <a:solidFill>
                  <a:schemeClr val="tx1">
                    <a:lumMod val="85000"/>
                    <a:lumOff val="15000"/>
                  </a:schemeClr>
                </a:solidFill>
              </a:rPr>
              <a:t>Αλλαγές στην διαδικασία επικύρωσης απαντήσεων</a:t>
            </a:r>
            <a:r>
              <a:rPr lang="en-US" sz="1800" b="1" dirty="0">
                <a:solidFill>
                  <a:schemeClr val="tx1">
                    <a:lumMod val="85000"/>
                    <a:lumOff val="15000"/>
                  </a:schemeClr>
                </a:solidFill>
              </a:rPr>
              <a:t>: </a:t>
            </a:r>
            <a:r>
              <a:rPr lang="el-GR" sz="1800" dirty="0">
                <a:solidFill>
                  <a:schemeClr val="tx1">
                    <a:lumMod val="85000"/>
                    <a:lumOff val="15000"/>
                  </a:schemeClr>
                </a:solidFill>
              </a:rPr>
              <a:t>Αντί για αυτολεξεί, κάτι διαφορετικό που δεν επηρεάζει αρνητικά την ακρίβεια.</a:t>
            </a:r>
            <a:endParaRPr lang="el-GR" sz="1800" b="1" dirty="0">
              <a:solidFill>
                <a:schemeClr val="tx1">
                  <a:lumMod val="85000"/>
                  <a:lumOff val="15000"/>
                </a:schemeClr>
              </a:solidFill>
            </a:endParaRPr>
          </a:p>
          <a:p>
            <a:pPr marL="342900" indent="-342900">
              <a:buFont typeface="Arial" panose="020B0604020202020204" pitchFamily="34" charset="0"/>
              <a:buChar char="•"/>
            </a:pPr>
            <a:endParaRPr lang="el-GR" sz="1800" dirty="0">
              <a:solidFill>
                <a:schemeClr val="tx1">
                  <a:lumMod val="85000"/>
                  <a:lumOff val="15000"/>
                </a:schemeClr>
              </a:solidFill>
            </a:endParaRPr>
          </a:p>
          <a:p>
            <a:pPr marL="342900" indent="-342900">
              <a:buFont typeface="Arial" panose="020B0604020202020204" pitchFamily="34" charset="0"/>
              <a:buChar char="•"/>
            </a:pPr>
            <a:r>
              <a:rPr lang="el-GR" sz="1800" b="1" dirty="0">
                <a:solidFill>
                  <a:schemeClr val="tx1">
                    <a:lumMod val="85000"/>
                    <a:lumOff val="15000"/>
                  </a:schemeClr>
                </a:solidFill>
              </a:rPr>
              <a:t>Αυτοματοποίηση αξιολόγησης απαντήσεων</a:t>
            </a:r>
            <a:r>
              <a:rPr lang="en-US" sz="1800" b="1" dirty="0">
                <a:solidFill>
                  <a:schemeClr val="tx1">
                    <a:lumMod val="85000"/>
                    <a:lumOff val="15000"/>
                  </a:schemeClr>
                </a:solidFill>
              </a:rPr>
              <a:t>: </a:t>
            </a:r>
            <a:r>
              <a:rPr lang="el-GR" sz="1800" dirty="0">
                <a:solidFill>
                  <a:schemeClr val="tx1">
                    <a:lumMod val="85000"/>
                    <a:lumOff val="15000"/>
                  </a:schemeClr>
                </a:solidFill>
              </a:rPr>
              <a:t>Σε μεγαλύτερα πειράματα και μεγαλύτερες συλλογές κειμένων, η αξιολόγηση που επιλέξαμε ίσως να μην είναι αντιπροσωπευτική. Κάποιο </a:t>
            </a:r>
            <a:r>
              <a:rPr lang="en-US" sz="1800" dirty="0">
                <a:solidFill>
                  <a:schemeClr val="tx1">
                    <a:lumMod val="85000"/>
                    <a:lumOff val="15000"/>
                  </a:schemeClr>
                </a:solidFill>
              </a:rPr>
              <a:t>LLM</a:t>
            </a:r>
            <a:r>
              <a:rPr lang="el-GR" sz="1800" dirty="0">
                <a:solidFill>
                  <a:schemeClr val="tx1">
                    <a:lumMod val="85000"/>
                    <a:lumOff val="15000"/>
                  </a:schemeClr>
                </a:solidFill>
              </a:rPr>
              <a:t>-κριτής με κατάλληλο </a:t>
            </a:r>
            <a:r>
              <a:rPr lang="en-US" sz="1800" dirty="0">
                <a:solidFill>
                  <a:schemeClr val="tx1">
                    <a:lumMod val="85000"/>
                    <a:lumOff val="15000"/>
                  </a:schemeClr>
                </a:solidFill>
              </a:rPr>
              <a:t>fine-tuning </a:t>
            </a:r>
            <a:r>
              <a:rPr lang="el-GR" sz="1800" dirty="0">
                <a:solidFill>
                  <a:schemeClr val="tx1">
                    <a:lumMod val="85000"/>
                    <a:lumOff val="15000"/>
                  </a:schemeClr>
                </a:solidFill>
              </a:rPr>
              <a:t>ίσως αποδώσει καλά</a:t>
            </a:r>
            <a:r>
              <a:rPr lang="el-GR" sz="1800" dirty="0"/>
              <a:t>.</a:t>
            </a:r>
            <a:endParaRPr lang="el-GR" sz="1800" b="1" dirty="0"/>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B0195496-1880-F47D-4F69-C2FDEC8B36FE}"/>
              </a:ext>
            </a:extLst>
          </p:cNvPr>
          <p:cNvSpPr>
            <a:spLocks noGrp="1"/>
          </p:cNvSpPr>
          <p:nvPr>
            <p:ph type="sldNum" sz="quarter" idx="10"/>
          </p:nvPr>
        </p:nvSpPr>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2717679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24715-4AF3-D78C-D863-60CC096EF1CB}"/>
              </a:ext>
            </a:extLst>
          </p:cNvPr>
          <p:cNvSpPr>
            <a:spLocks noGrp="1"/>
          </p:cNvSpPr>
          <p:nvPr>
            <p:ph type="title"/>
          </p:nvPr>
        </p:nvSpPr>
        <p:spPr>
          <a:xfrm>
            <a:off x="4255081" y="124921"/>
            <a:ext cx="7043617" cy="1136043"/>
          </a:xfrm>
        </p:spPr>
        <p:txBody>
          <a:bodyPr/>
          <a:lstStyle/>
          <a:p>
            <a:pPr algn="ctr"/>
            <a:r>
              <a:rPr lang="el-GR" dirty="0">
                <a:solidFill>
                  <a:schemeClr val="tx1">
                    <a:lumMod val="85000"/>
                    <a:lumOff val="15000"/>
                  </a:schemeClr>
                </a:solidFill>
              </a:rPr>
              <a:t>ΠΕΡΙΟΡΙΣΜΟΙ ΤΗΣ ΥΛΟΠΟΙΗΣΗς</a:t>
            </a:r>
            <a:endParaRPr lang="en-US"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0D568D9C-DE63-B219-32AC-3588BBE7B7FA}"/>
              </a:ext>
            </a:extLst>
          </p:cNvPr>
          <p:cNvSpPr>
            <a:spLocks noGrp="1"/>
          </p:cNvSpPr>
          <p:nvPr>
            <p:ph type="sldNum" sz="quarter" idx="10"/>
          </p:nvPr>
        </p:nvSpPr>
        <p:spPr/>
        <p:txBody>
          <a:bodyPr/>
          <a:lstStyle/>
          <a:p>
            <a:fld id="{48F63A3B-78C7-47BE-AE5E-E10140E04643}" type="slidenum">
              <a:rPr lang="en-US" smtClean="0"/>
              <a:pPr/>
              <a:t>29</a:t>
            </a:fld>
            <a:endParaRPr lang="en-US" dirty="0"/>
          </a:p>
        </p:txBody>
      </p:sp>
      <p:sp>
        <p:nvSpPr>
          <p:cNvPr id="4" name="Content Placeholder 3">
            <a:extLst>
              <a:ext uri="{FF2B5EF4-FFF2-40B4-BE49-F238E27FC236}">
                <a16:creationId xmlns:a16="http://schemas.microsoft.com/office/drawing/2014/main" id="{5DF1F7A6-8587-8C55-9291-F43D8D4DF3A7}"/>
              </a:ext>
            </a:extLst>
          </p:cNvPr>
          <p:cNvSpPr>
            <a:spLocks noGrp="1"/>
          </p:cNvSpPr>
          <p:nvPr>
            <p:ph idx="11"/>
          </p:nvPr>
        </p:nvSpPr>
        <p:spPr>
          <a:xfrm>
            <a:off x="3648456" y="1260964"/>
            <a:ext cx="8247888" cy="5304428"/>
          </a:xfrm>
        </p:spPr>
        <p:txBody>
          <a:bodyPr>
            <a:normAutofit/>
          </a:bodyPr>
          <a:lstStyle/>
          <a:p>
            <a:pPr marL="342900" indent="-342900">
              <a:buFont typeface="Arial" panose="020B0604020202020204" pitchFamily="34" charset="0"/>
              <a:buChar char="•"/>
            </a:pPr>
            <a:r>
              <a:rPr lang="el-GR" sz="1600" b="1" dirty="0">
                <a:solidFill>
                  <a:schemeClr val="tx1">
                    <a:lumMod val="85000"/>
                    <a:lumOff val="15000"/>
                  </a:schemeClr>
                </a:solidFill>
              </a:rPr>
              <a:t>Αυστηρή λογική περικοπής και επικύρωσης: </a:t>
            </a:r>
            <a:r>
              <a:rPr lang="el-GR" sz="1600" dirty="0">
                <a:solidFill>
                  <a:schemeClr val="tx1">
                    <a:lumMod val="85000"/>
                    <a:lumOff val="15000"/>
                  </a:schemeClr>
                </a:solidFill>
              </a:rPr>
              <a:t>Λόγω της αυστηρής συνθήκης ότι η απάντηση πρέπει να υπάρχει αυτούσια μέσα στο κείμενο, ορισμένα έγκυρα ζεύγη μπορεί να απορρίφθηκαν.  Αυξάνεται η αξιοπιστία του τελικού συνόλου αλλά μειώνεται εν μέρει η κάλυψη.</a:t>
            </a:r>
          </a:p>
          <a:p>
            <a:pPr marL="342900" indent="-342900">
              <a:buFont typeface="Arial" panose="020B0604020202020204" pitchFamily="34" charset="0"/>
              <a:buChar char="•"/>
            </a:pPr>
            <a:r>
              <a:rPr lang="el-GR" sz="1600" b="1" dirty="0">
                <a:solidFill>
                  <a:schemeClr val="tx1">
                    <a:lumMod val="85000"/>
                    <a:lumOff val="15000"/>
                  </a:schemeClr>
                </a:solidFill>
              </a:rPr>
              <a:t>Μερικές λανθασμένες απαντήσεις: </a:t>
            </a:r>
            <a:r>
              <a:rPr lang="el-GR" sz="1600" dirty="0">
                <a:solidFill>
                  <a:schemeClr val="tx1">
                    <a:lumMod val="85000"/>
                    <a:lumOff val="15000"/>
                  </a:schemeClr>
                </a:solidFill>
              </a:rPr>
              <a:t>Το μοντέλο μερικές φορές απέτυχε να κατανοήσει ότι ένα απόσπασμα(παρότι εμφανίζεται μέσα στο κείμενο)δεν απαντά πραγματικά την ερώτηση.</a:t>
            </a:r>
            <a:r>
              <a:rPr lang="en-US" sz="1600" dirty="0">
                <a:solidFill>
                  <a:schemeClr val="tx1">
                    <a:lumMod val="85000"/>
                    <a:lumOff val="15000"/>
                  </a:schemeClr>
                </a:solidFill>
              </a:rPr>
              <a:t> </a:t>
            </a:r>
            <a:r>
              <a:rPr lang="el-GR" sz="1600" dirty="0">
                <a:solidFill>
                  <a:schemeClr val="tx1">
                    <a:lumMod val="85000"/>
                    <a:lumOff val="15000"/>
                  </a:schemeClr>
                </a:solidFill>
              </a:rPr>
              <a:t>Συγκεκριμένα στο σετ </a:t>
            </a:r>
            <a:r>
              <a:rPr lang="en-US" sz="1600" dirty="0">
                <a:solidFill>
                  <a:schemeClr val="tx1">
                    <a:lumMod val="85000"/>
                    <a:lumOff val="15000"/>
                  </a:schemeClr>
                </a:solidFill>
              </a:rPr>
              <a:t>Q: “Why is measuring labelled ethacrynic acid binding recommended over ouabain?,” A:”labelled ethacrynic acid”</a:t>
            </a:r>
            <a:r>
              <a:rPr lang="el-GR" sz="1600" dirty="0">
                <a:solidFill>
                  <a:schemeClr val="tx1">
                    <a:lumMod val="85000"/>
                    <a:lumOff val="15000"/>
                  </a:schemeClr>
                </a:solidFill>
              </a:rPr>
              <a:t> φαίνεται ότι απλά επαναλαμβάνεται ένα μέρος της ερώτησης που βρέθηκε αυτούσιο στο κείμενο, και αναγνωρίστηκε ως το σχετικότερο, απο το μοντέλο.</a:t>
            </a:r>
          </a:p>
          <a:p>
            <a:pPr marL="342900" indent="-342900">
              <a:buFont typeface="Arial" panose="020B0604020202020204" pitchFamily="34" charset="0"/>
              <a:buChar char="•"/>
            </a:pPr>
            <a:r>
              <a:rPr lang="el-GR" sz="1600" b="1" dirty="0">
                <a:solidFill>
                  <a:schemeClr val="tx1">
                    <a:lumMod val="85000"/>
                    <a:lumOff val="15000"/>
                  </a:schemeClr>
                </a:solidFill>
              </a:rPr>
              <a:t>Μορφολογικοί περιορισμοί της συλλογής κειμένων: </a:t>
            </a:r>
            <a:r>
              <a:rPr lang="el-GR" sz="1600" dirty="0">
                <a:solidFill>
                  <a:schemeClr val="tx1">
                    <a:lumMod val="85000"/>
                    <a:lumOff val="15000"/>
                  </a:schemeClr>
                </a:solidFill>
              </a:rPr>
              <a:t>Η απουσία στίξης και η μη φυσική διαίρεση σε προτάσεις δυσκολεύει κάποιες λειτουργίες (όπως η περικοπή ή η αναγνώριση “best sentence”).</a:t>
            </a:r>
          </a:p>
          <a:p>
            <a:pPr marL="342900" indent="-342900">
              <a:buFont typeface="Arial" panose="020B0604020202020204" pitchFamily="34" charset="0"/>
              <a:buChar char="•"/>
            </a:pPr>
            <a:r>
              <a:rPr lang="el-GR" sz="1600" b="1" dirty="0">
                <a:solidFill>
                  <a:schemeClr val="tx1">
                    <a:lumMod val="85000"/>
                    <a:lumOff val="15000"/>
                  </a:schemeClr>
                </a:solidFill>
              </a:rPr>
              <a:t>Υπολογιστικό κόστος: </a:t>
            </a:r>
            <a:r>
              <a:rPr lang="el-GR" sz="1600" dirty="0">
                <a:solidFill>
                  <a:schemeClr val="tx1">
                    <a:lumMod val="85000"/>
                    <a:lumOff val="15000"/>
                  </a:schemeClr>
                </a:solidFill>
              </a:rPr>
              <a:t>Η χρήση Μεγάλων Γλωσσικών Μοντέλων, ακόμη και σε τοπικό περιβάλλον όπως το Ollama που επιλέξαμε, απαιτεί σημαντικούς υπολογιστικούς πόρους. Η παραγωγή, γείωση και περικοπή ερωτήσεων και απαντήσεων πήρε πολλές ώρες για να γίνει και συνεπώς το δείγμα είναι μικρότερο.</a:t>
            </a:r>
          </a:p>
          <a:p>
            <a:pPr marL="342900" indent="-342900">
              <a:buFont typeface="Arial" panose="020B0604020202020204" pitchFamily="34" charset="0"/>
              <a:buChar char="•"/>
            </a:pPr>
            <a:endParaRPr lang="el-GR" sz="1600" dirty="0">
              <a:solidFill>
                <a:schemeClr val="tx1">
                  <a:lumMod val="85000"/>
                  <a:lumOff val="15000"/>
                </a:schemeClr>
              </a:solidFill>
            </a:endParaRPr>
          </a:p>
          <a:p>
            <a:endParaRPr lang="el-GR" sz="1600" dirty="0">
              <a:solidFill>
                <a:schemeClr val="tx1">
                  <a:lumMod val="85000"/>
                  <a:lumOff val="15000"/>
                </a:schemeClr>
              </a:solidFill>
            </a:endParaRPr>
          </a:p>
          <a:p>
            <a:pPr marL="342900" indent="-342900">
              <a:buFont typeface="Arial" panose="020B0604020202020204" pitchFamily="34" charset="0"/>
              <a:buChar char="•"/>
            </a:pPr>
            <a:r>
              <a:rPr lang="el-GR" sz="1600" dirty="0">
                <a:solidFill>
                  <a:schemeClr val="tx1">
                    <a:lumMod val="85000"/>
                    <a:lumOff val="15000"/>
                  </a:schemeClr>
                </a:solidFill>
              </a:rPr>
              <a:t>Παρά τους περιορισμούς το σύστημα είναι λειτουργικό αξιόπιστο και επεκτάσιμο.</a:t>
            </a:r>
            <a:endParaRPr lang="en-US" sz="1600" dirty="0">
              <a:solidFill>
                <a:schemeClr val="tx1">
                  <a:lumMod val="85000"/>
                  <a:lumOff val="15000"/>
                </a:schemeClr>
              </a:solidFill>
            </a:endParaRPr>
          </a:p>
        </p:txBody>
      </p:sp>
    </p:spTree>
    <p:extLst>
      <p:ext uri="{BB962C8B-B14F-4D97-AF65-F5344CB8AC3E}">
        <p14:creationId xmlns:p14="http://schemas.microsoft.com/office/powerpoint/2010/main" val="3738960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64010" y="2212238"/>
            <a:ext cx="5715001" cy="572617"/>
          </a:xfrm>
        </p:spPr>
        <p:txBody>
          <a:bodyPr/>
          <a:lstStyle/>
          <a:p>
            <a:pPr algn="ctr"/>
            <a:r>
              <a:rPr lang="el-GR" dirty="0">
                <a:solidFill>
                  <a:schemeClr val="tx1">
                    <a:lumMod val="85000"/>
                    <a:lumOff val="15000"/>
                  </a:schemeClr>
                </a:solidFill>
              </a:rPr>
              <a:t>Σας ευχαριστω πολυ!</a:t>
            </a:r>
            <a:r>
              <a:rPr lang="en-US" dirty="0">
                <a:solidFill>
                  <a:schemeClr val="tx1">
                    <a:lumMod val="85000"/>
                    <a:lumOff val="15000"/>
                  </a:schemeClr>
                </a:solidFill>
              </a:rPr>
              <a:t> </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l-GR" dirty="0">
                <a:solidFill>
                  <a:schemeClr val="tx1">
                    <a:lumMod val="85000"/>
                    <a:lumOff val="15000"/>
                  </a:schemeClr>
                </a:solidFill>
              </a:rPr>
              <a:t>Βαμβακάς Δημήτριος</a:t>
            </a:r>
            <a:endParaRPr lang="en-US" dirty="0">
              <a:solidFill>
                <a:schemeClr val="tx1">
                  <a:lumMod val="85000"/>
                  <a:lumOff val="15000"/>
                </a:schemeClr>
              </a:solidFill>
            </a:endParaRPr>
          </a:p>
          <a:p>
            <a:r>
              <a:rPr lang="en-US" dirty="0">
                <a:solidFill>
                  <a:schemeClr val="tx1">
                    <a:lumMod val="85000"/>
                    <a:lumOff val="15000"/>
                  </a:schemeClr>
                </a:solidFill>
              </a:rPr>
              <a:t>AM: </a:t>
            </a:r>
            <a:r>
              <a:rPr lang="el-GR" dirty="0">
                <a:solidFill>
                  <a:schemeClr val="tx1">
                    <a:lumMod val="85000"/>
                    <a:lumOff val="15000"/>
                  </a:schemeClr>
                </a:solidFill>
              </a:rPr>
              <a:t>1084635</a:t>
            </a:r>
            <a:br>
              <a:rPr lang="el-GR" dirty="0">
                <a:solidFill>
                  <a:schemeClr val="tx1">
                    <a:lumMod val="85000"/>
                    <a:lumOff val="15000"/>
                  </a:schemeClr>
                </a:solidFill>
              </a:rPr>
            </a:br>
            <a:r>
              <a:rPr lang="el-GR" dirty="0">
                <a:solidFill>
                  <a:schemeClr val="tx1">
                    <a:lumMod val="85000"/>
                    <a:lumOff val="15000"/>
                  </a:schemeClr>
                </a:solidFill>
              </a:rPr>
              <a:t>Έτος Εισαγωγής</a:t>
            </a:r>
            <a:r>
              <a:rPr lang="en-US" dirty="0">
                <a:solidFill>
                  <a:schemeClr val="tx1">
                    <a:lumMod val="85000"/>
                    <a:lumOff val="15000"/>
                  </a:schemeClr>
                </a:solidFill>
              </a:rPr>
              <a:t>: 2020</a:t>
            </a:r>
          </a:p>
          <a:p>
            <a:r>
              <a:rPr lang="en-US" dirty="0">
                <a:solidFill>
                  <a:schemeClr val="tx1">
                    <a:lumMod val="85000"/>
                    <a:lumOff val="15000"/>
                  </a:schemeClr>
                </a:solidFill>
              </a:rPr>
              <a:t>Email: up1084635@ac.upatras.gr</a:t>
            </a:r>
          </a:p>
        </p:txBody>
      </p:sp>
      <p:pic>
        <p:nvPicPr>
          <p:cNvPr id="1036" name="Picture 12">
            <a:extLst>
              <a:ext uri="{FF2B5EF4-FFF2-40B4-BE49-F238E27FC236}">
                <a16:creationId xmlns:a16="http://schemas.microsoft.com/office/drawing/2014/main" id="{13A972BC-E6ED-39D9-FEC0-2CCC1B9E2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3654" y="2411520"/>
            <a:ext cx="1265747" cy="1265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{2679E519-11AF-472C-BA33-69D7B7F5DBBF}tf78438558_win32</Template>
  <TotalTime>534</TotalTime>
  <Words>5989</Words>
  <Application>Microsoft Office PowerPoint</Application>
  <PresentationFormat>Widescreen</PresentationFormat>
  <Paragraphs>283</Paragraphs>
  <Slides>30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Calibri</vt:lpstr>
      <vt:lpstr>Sabon Next LT</vt:lpstr>
      <vt:lpstr>Wingdings</vt:lpstr>
      <vt:lpstr>Custom</vt:lpstr>
      <vt:lpstr>ΚαθοδηγοΥμενη απο ΤεκμΗρια ΕπΕκταση ΕρωτημΑτων για ΜεΙωση ΠαραισθΗσεων σε ΣυστΗματα ΕρωταπαντΗσεων με ΜεγΑλα ΓλωσσικΑ ΜοντΕλα    ΒΑΜΒΑΚΑΣ ΔΗΜΗΤΡΙΟΣ  Αριθμοσ μητρωου: 1084635 ΕΠΙΒΛΕΠΩΝ ΚΑΘΗΓΗΤΗΣ: Χ. ΜΑΚΡΗΣ νοεμβριοσ 2025 </vt:lpstr>
      <vt:lpstr>ενοτητεσ παρουσιασησ</vt:lpstr>
      <vt:lpstr>ΤΟ ΠΡΟΒΛΗΜΑ</vt:lpstr>
      <vt:lpstr>Που εστιασαμε</vt:lpstr>
      <vt:lpstr>ΣΤΟΧΟς,γενικη εικονα και συνεισφορα</vt:lpstr>
      <vt:lpstr>ΜΕΓΑΛΑ ΓΛΩΣΣΙΚΑ ΜΟΝΤΕΛΑ</vt:lpstr>
      <vt:lpstr>Retrieval-augmented generation (rag)</vt:lpstr>
      <vt:lpstr>Μερικα συγχρονα συστηματα RAG</vt:lpstr>
      <vt:lpstr>Επεκταση ερωτηματων</vt:lpstr>
      <vt:lpstr>Η Τεχνητη νοΗμοσΥνη στην εκπαιδευση</vt:lpstr>
      <vt:lpstr>Generate-then-ground και σχεση με την εργασια μας</vt:lpstr>
      <vt:lpstr>ΓΕΝΙΚΗ ΠΕΡΙΓΡΑΦΗ ΣΥΣΤΗΜΑΤΟς</vt:lpstr>
      <vt:lpstr>ΣΤΑΔΙΟ 1: παραγωγη ερωτησεων και απαντησεων</vt:lpstr>
      <vt:lpstr>ΣΤΑΔΙΟ 2: ανακτηση σχετικων κειμενων</vt:lpstr>
      <vt:lpstr>ΣΤΑΔΙΟ 3: ΓΕΙΩΣΗ/ΕΠΕΚΤΑΣΗ ΕΡΩΤΗΣΕΩΝ ΚΑΙ ΑΡΧΙΚΗ ΕΠΙΚΥΡΩΣΗ</vt:lpstr>
      <vt:lpstr>Σταδιο 4: περικοπη και επικυρωση απαντησεων</vt:lpstr>
      <vt:lpstr>ΣΤΑΔΙΟ 5: ΕΠΑΝΕΞΕΤΑΣΗ  μη-απαντησιμων περιπτωσεων</vt:lpstr>
      <vt:lpstr>ΕΚΠΑΙΔΕΥΤΙΚΗ ΕΦΑΡΜΟΓΗ</vt:lpstr>
      <vt:lpstr>ΜΕΡΙΚΑ ΕΝΔΕΙΚΤΙΚΑ SCREENSHOTS Της ΕΦΑΡΜΟΓΗΣ</vt:lpstr>
      <vt:lpstr>ΔΙΑΓΡΑΜΜΑ ΡΟΗς ΤΟΥ ΣΥΣΤΗΜΑΤΟς / PIPELINE</vt:lpstr>
      <vt:lpstr>ΑΞΙΟΛΟΓΗΣΗ ΓΕΙΩΜΕΝΩΝ ΕΡΩΤΗΣΕΩΝ</vt:lpstr>
      <vt:lpstr>ΑΞΙΟΛΟΓΗΣΗ ΑΠΑΝΤΗΣΕΩΝ ΚΑΙ ΟΜΟΙΟΤΗΤΑ ΜΕ ΠΕΡΙΛΗΨΕΙς</vt:lpstr>
      <vt:lpstr>Διαδικασια αξιολογησης</vt:lpstr>
      <vt:lpstr>Μετρικες που χρησιμοποιηθηκαν</vt:lpstr>
      <vt:lpstr>Αποτελεσματα αξιολογησης απαντησεων</vt:lpstr>
      <vt:lpstr>Αποτελεσματα αξιολογησησ χρηστη στην εφαρμογη</vt:lpstr>
      <vt:lpstr>ΣΥΝΟΛΙΚΑ ΣΥΜΠΕΡΑΣΜΑΤΑ</vt:lpstr>
      <vt:lpstr>ΜΕΛΛΟΝΤΙΚΕΣ ΕΠΕΚΤΑΣΕΙς</vt:lpstr>
      <vt:lpstr>ΠΕΡΙΟΡΙΣΜΟΙ ΤΗΣ ΥΛΟΠΟΙΗΣΗς</vt:lpstr>
      <vt:lpstr>Σας ευχαριστω πολυ!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ΒΑΜΒΑΚΑΣ ΔΗΜΗΤΡΙΟΣ</dc:creator>
  <cp:lastModifiedBy>ΒΑΜΒΑΚΑΣ ΔΗΜΗΤΡΙΟΣ</cp:lastModifiedBy>
  <cp:revision>236</cp:revision>
  <dcterms:created xsi:type="dcterms:W3CDTF">2025-11-09T23:15:35Z</dcterms:created>
  <dcterms:modified xsi:type="dcterms:W3CDTF">2025-11-21T14:57:04Z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